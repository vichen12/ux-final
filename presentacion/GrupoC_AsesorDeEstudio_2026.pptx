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3be73abd-e976-a730-d730-d183cdfb8f41}">
          <p14:sldIdLst>
            <p14:sldId id="256"/>
          </p14:sldIdLst>
        </p14:section>
        <p14:section name="La idea" id="{49190b96-980c-f58b-a1ce-559403305370}">
          <p14:sldIdLst>
            <p14:sldId id="257"/>
          </p14:sldIdLst>
        </p14:section>
        <p14:section name="01 · Planteamiento y research" id="{cebaf421-2dac-44ad-f3ca-253ee764359e}">
          <p14:sldIdLst>
            <p14:sldId id="258"/>
            <p14:sldId id="259"/>
            <p14:sldId id="260"/>
            <p14:sldId id="261"/>
          </p14:sldIdLst>
        </p14:section>
        <p14:section name="02 · Benchmarking" id="{e0d2741e-9261-8771-f74a-19855a420aac}">
          <p14:sldIdLst>
            <p14:sldId id="262"/>
            <p14:sldId id="263"/>
            <p14:sldId id="264"/>
          </p14:sldIdLst>
        </p14:section>
        <p14:section name="03 · Mapa de empatía" id="{65d39ff4-e764-25cf-d634-e93a95f51058}">
          <p14:sldIdLst>
            <p14:sldId id="265"/>
          </p14:sldIdLst>
        </p14:section>
        <p14:section name="04 · User persona" id="{5965667c-34ba-d1eb-fc63-d7e8f92cc82f}">
          <p14:sldIdLst>
            <p14:sldId id="266"/>
            <p14:sldId id="267"/>
            <p14:sldId id="268"/>
          </p14:sldIdLst>
        </p14:section>
        <p14:section name="05 · POV, storytelling y storyboard" id="{c9d0e798-fd6c-9bda-c5d3-4c154fe5de9f}">
          <p14:sldIdLst>
            <p14:sldId id="269"/>
            <p14:sldId id="270"/>
          </p14:sldIdLst>
        </p14:section>
        <p14:section name="06 · MVP" id="{91d0d028-df16-461f-9d21-aa99e32f6acb}">
          <p14:sldIdLst>
            <p14:sldId id="271"/>
          </p14:sldIdLst>
        </p14:section>
        <p14:section name="07 · Arquitectura de la información" id="{f040574d-23bf-9373-b617-5dd09b16950c}">
          <p14:sldIdLst>
            <p14:sldId id="272"/>
            <p14:sldId id="273"/>
            <p14:sldId id="274"/>
          </p14:sldIdLst>
        </p14:section>
        <p14:section name="08 · Mapa de sitio" id="{885223b4-66a8-98df-c0d4-69bf209beae1}">
          <p14:sldIdLst>
            <p14:sldId id="275"/>
          </p14:sldIdLst>
        </p14:section>
        <p14:section name="09 · Wireframes" id="{4d6e2d1b-cf7e-f89a-0180-f51aed0db598}">
          <p14:sldIdLst>
            <p14:sldId id="276"/>
            <p14:sldId id="277"/>
          </p14:sldIdLst>
        </p14:section>
        <p14:section name="10 · Patrones de diseño" id="{a8eeface-8b5e-6905-c62c-d31c3b3f8c66}">
          <p14:sldIdLst>
            <p14:sldId id="278"/>
          </p14:sldIdLst>
        </p14:section>
        <p14:section name="11 · Wireflow" id="{8ac90a3d-8f5c-65f8-2f51-3f49591b9cb1}">
          <p14:sldIdLst>
            <p14:sldId id="279"/>
          </p14:sldIdLst>
        </p14:section>
        <p14:section name="12 · Prototipo funcional" id="{ecd5a964-13cc-83bd-8c86-b2ce0c0dcb00}">
          <p14:sldIdLst>
            <p14:sldId id="280"/>
            <p14:sldId id="281"/>
          </p14:sldIdLst>
        </p14:section>
        <p14:section name="13 · Pruebas de usabilidad" id="{15612ca8-a757-0dcc-16eb-841119cbdae1}">
          <p14:sldIdLst>
            <p14:sldId id="282"/>
            <p14:sldId id="283"/>
            <p14:sldId id="284"/>
          </p14:sldIdLst>
        </p14:section>
        <p14:section name="Cierre" id="{63efe68b-029c-b7b6-78e6-ba85c13df225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1B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1B2E"/>
                </a:solidFill>
                <a:latin typeface="+mn-lt"/>
              </a:rPr>
              <a:t>¿Qué hacés cuando estudiás para un parcial? (opción múltiple, n = 34)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Estudiantes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3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Releer el apunte</c:v>
                  </c:pt>
                  <c:pt idx="1">
                    <c:v>Subrayar</c:v>
                  </c:pt>
                  <c:pt idx="2">
                    <c:v>Hacer resúmenes</c:v>
                  </c:pt>
                  <c:pt idx="3">
                    <c:v>Resolver ejercicios</c:v>
                  </c:pt>
                  <c:pt idx="4">
                    <c:v>Ver videos</c:v>
                  </c:pt>
                  <c:pt idx="5">
                    <c:v>Explicárselo a otro</c:v>
                  </c:pt>
                  <c:pt idx="6">
                    <c:v>Autoevaluarse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</c:v>
                </c:pt>
                <c:pt idx="1">
                  <c:v>71</c:v>
                </c:pt>
                <c:pt idx="2">
                  <c:v>62</c:v>
                </c:pt>
                <c:pt idx="3">
                  <c:v>38</c:v>
                </c:pt>
                <c:pt idx="4">
                  <c:v>32</c:v>
                </c:pt>
                <c:pt idx="5">
                  <c:v>24</c:v>
                </c:pt>
                <c:pt idx="6">
                  <c:v>18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31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0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1B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1B2E"/>
                </a:solidFill>
                <a:latin typeface="+mn-lt"/>
              </a:rPr>
              <a:t>Satisfacción (Google Forms): % que respondió 4 o 5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Satisfacción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3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Diseño claro y agradable</c:v>
                  </c:pt>
                  <c:pt idx="1">
                    <c:v>Fue fácil crear la cuenta</c:v>
                  </c:pt>
                  <c:pt idx="2">
                    <c:v>Diagnóstico corto y claro</c:v>
                  </c:pt>
                  <c:pt idx="3">
                    <c:v>Recomendaría la app</c:v>
                  </c:pt>
                  <c:pt idx="4">
                    <c:v>Entendí por qué cada técnica</c:v>
                  </c:pt>
                  <c:pt idx="5">
                    <c:v>Escribir preguntas fue fácil</c:v>
                  </c:pt>
                  <c:pt idx="6">
                    <c:v>Encontré mi progreso</c:v>
                  </c:pt>
                  <c:pt idx="7">
                    <c:v>Entendí leído vs. dominado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</c:v>
                </c:pt>
                <c:pt idx="1">
                  <c:v>100</c:v>
                </c:pt>
                <c:pt idx="2">
                  <c:v>80</c:v>
                </c:pt>
                <c:pt idx="3">
                  <c:v>80</c:v>
                </c:pt>
                <c:pt idx="4">
                  <c:v>80</c:v>
                </c:pt>
                <c:pt idx="5">
                  <c:v>60</c:v>
                </c:pt>
                <c:pt idx="6">
                  <c:v>40</c:v>
                </c:pt>
                <c:pt idx="7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31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A50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Asesor de Estudio: una app que le dice al estudiante de primer año cómo estudiar cada tema y le muestra si de verdad aprendió antes del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Mostramos primero el producto terminado. Después recorremos las 13 etapas que nos llevaron hasta acá.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Escalas: vocabulario óptimo / error menor / error mayor; diseño óptimo / básico / malo. Pasos contados desde la pantalla principal, Google Play, septiembre de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Justificación: es el perfil que concentra el problema central (primer año, sin método) y define el MVP. Encuesta P2, P3, P4, P6 y P7, 4 observaciones y entrevistas E1 a E4.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Justificación: representa al estudiante que trabaja, perfil asociado a la deserción (Musso et al., 2021) y al 32 % de la encuesta. Entrevistas E5 y E6; encuesta P5, P9 y P10.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6422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189"/>
                </a:solidFill>
              </a:rPr>
              <a:t>Asesor de Estudio · Grupo C «Figma locos» · Diseño UX-UI 2026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rgbClr val="1D4ED8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31B2E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">
    <p:bg>
      <p:bgPr>
        <a:solidFill>
          <a:srgbClr val="0037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29400" y="0"/>
            <a:ext cx="5562295" cy="6858000"/>
          </a:xfrm>
          <a:prstGeom prst="rect">
            <a:avLst/>
          </a:prstGeom>
          <a:solidFill>
            <a:srgbClr val="002A8A"/>
          </a:solidFill>
          <a:ln/>
        </p:spPr>
      </p:sp>
      <p:sp>
        <p:nvSpPr>
          <p:cNvPr id="3" name="Text 1"/>
          <p:cNvSpPr/>
          <p:nvPr/>
        </p:nvSpPr>
        <p:spPr>
          <a:xfrm>
            <a:off x="7178040" y="960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9BBFF"/>
                </a:solidFill>
              </a:rPr>
              <a:t>QUÉ PIDE LA CONSIGNA  ·  DÓNDE ESTÁ</a:t>
            </a:r>
            <a:endParaRPr lang="en-US" sz="1200" dirty="0"/>
          </a:p>
        </p:txBody>
      </p:sp>
      <p:sp>
        <p:nvSpPr>
          <p:cNvPr id="4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rgbClr val="A9BBFF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0" b="1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15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EEF1FF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037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6" Type="http://schemas.openxmlformats.org/officeDocument/2006/relationships/hyperlink" Target="https://ux-final-lemon.vercel.app" TargetMode="External"/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ux-final-lemon.vercel.app" TargetMode="External"/><Relationship Id="rId1" Type="http://schemas.openxmlformats.org/officeDocument/2006/relationships/image" Target="../media/image-30-1.png"/><Relationship Id="rId3" Type="http://schemas.openxmlformats.org/officeDocument/2006/relationships/image" Target="../media/image-30-2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002A8A"/>
          </a:solidFill>
          <a:ln w="12700">
            <a:solidFill>
              <a:srgbClr val="002A8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40080"/>
            <a:ext cx="640080" cy="640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63040" y="74980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9BBFF"/>
                </a:solidFill>
              </a:rPr>
              <a:t>PROYECTO FINAL · DISEÑO UX-UI · 2026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Asesor de Estudio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60604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DCE1FF"/>
                </a:solidFill>
              </a:rPr>
              <a:t>Una app que le enseña al estudiante de primer año cómo estudiar, no solo cuándo.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611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CF8BB"/>
                </a:solidFill>
              </a:rPr>
              <a:t>GRUPO C · «FIGMA LOCOS»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93192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Alvarez, Joaquín</a:t>
            </a:r>
            <a:pPr indent="0" marL="0">
              <a:buNone/>
            </a:pPr>
            <a:r>
              <a:rPr lang="en-US" sz="1200" dirty="0">
                <a:solidFill>
                  <a:srgbClr val="A9BBFF"/>
                </a:solidFill>
              </a:rPr>
              <a:t>   Legajo 49930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77640" y="393192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Dallape, Vincenzo</a:t>
            </a:r>
            <a:pPr indent="0" marL="0">
              <a:buNone/>
            </a:pPr>
            <a:r>
              <a:rPr lang="en-US" sz="1200" dirty="0">
                <a:solidFill>
                  <a:srgbClr val="A9BBFF"/>
                </a:solidFill>
              </a:rPr>
              <a:t>   Legajo 49996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429768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Flores, Martín</a:t>
            </a:r>
            <a:pPr indent="0" marL="0">
              <a:buNone/>
            </a:pPr>
            <a:r>
              <a:rPr lang="en-US" sz="1200" dirty="0">
                <a:solidFill>
                  <a:srgbClr val="A9BBFF"/>
                </a:solidFill>
              </a:rPr>
              <a:t>   Legajo 48985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977640" y="429768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Lovos, David</a:t>
            </a:r>
            <a:pPr indent="0" marL="0">
              <a:buNone/>
            </a:pPr>
            <a:r>
              <a:rPr lang="en-US" sz="1200" dirty="0">
                <a:solidFill>
                  <a:srgbClr val="A9BBFF"/>
                </a:solidFill>
              </a:rPr>
              <a:t>   Legajo 50072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466344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Ortiz, Renzo</a:t>
            </a:r>
            <a:pPr indent="0" marL="0">
              <a:buNone/>
            </a:pPr>
            <a:r>
              <a:rPr lang="en-US" sz="1200" dirty="0">
                <a:solidFill>
                  <a:srgbClr val="A9BBFF"/>
                </a:solidFill>
              </a:rPr>
              <a:t>   Legajo 49067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977640" y="466344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Podesta, Isidro</a:t>
            </a:r>
            <a:pPr indent="0" marL="0">
              <a:buNone/>
            </a:pPr>
            <a:r>
              <a:rPr lang="en-US" sz="1200" dirty="0">
                <a:solidFill>
                  <a:srgbClr val="A9BBFF"/>
                </a:solidFill>
              </a:rPr>
              <a:t>   Legajo 50223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0292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Saini, Alejo</a:t>
            </a:r>
            <a:pPr indent="0" marL="0">
              <a:buNone/>
            </a:pPr>
            <a:r>
              <a:rPr lang="en-US" sz="1200" dirty="0">
                <a:solidFill>
                  <a:srgbClr val="A9BBFF"/>
                </a:solidFill>
              </a:rPr>
              <a:t>   Legajo 50161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5468112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1FF"/>
                </a:solidFill>
              </a:rPr>
              <a:t>Profesoras: Andrea Rotella y Carina Rotella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5779008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BFF"/>
                </a:solidFill>
              </a:rPr>
              <a:t>Universidad Tecnológica Nacional · Facultad Regional Mendoza · Departamento de Sistemas de Información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403336" y="630936"/>
            <a:ext cx="2644913" cy="5596128"/>
          </a:xfrm>
          <a:prstGeom prst="roundRect">
            <a:avLst>
              <a:gd name="adj" fmla="val 5532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8" name="Image 1" descr="/home/claude/deck/assets/img/11_inic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685800"/>
            <a:ext cx="2535185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LA IDEA EN UN MINUTO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Cómo funciona Asesor de Estudio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060704" y="1636776"/>
            <a:ext cx="1546333" cy="3218688"/>
          </a:xfrm>
          <a:prstGeom prst="roundRect">
            <a:avLst>
              <a:gd name="adj" fmla="val 9461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6" name="Image 0" descr="/home/claude/deck/assets/img/06_diagnosti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1691640"/>
            <a:ext cx="1436605" cy="3108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9834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1. Diagnóstico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21808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Seis preguntas sobre cómo estudia hoy, cuánto tiempo tiene y cuándo rinde mejor.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3877056" y="1636776"/>
            <a:ext cx="1546333" cy="3218688"/>
          </a:xfrm>
          <a:prstGeom prst="roundRect">
            <a:avLst>
              <a:gd name="adj" fmla="val 9461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0" name="Image 1" descr="/home/claude/deck/assets/img/10_plan_lis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91640"/>
            <a:ext cx="1436605" cy="3108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364992" y="49834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2. Plan con técnica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64992" y="5321808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Reparte el programa hasta el parcial y le asigna una técnica a cada sesión.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693408" y="1636776"/>
            <a:ext cx="1546333" cy="3218688"/>
          </a:xfrm>
          <a:prstGeom prst="roundRect">
            <a:avLst>
              <a:gd name="adj" fmla="val 9461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4" name="Image 2" descr="/home/claude/deck/assets/img/15_pregunta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1691640"/>
            <a:ext cx="1436605" cy="31089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181344" y="49834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3. Sesión y preguntas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6181344" y="5321808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Estudia con pasos guiados y, al cerrar, escribe sus propias preguntas.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9509760" y="1636776"/>
            <a:ext cx="1546333" cy="3218688"/>
          </a:xfrm>
          <a:prstGeom prst="roundRect">
            <a:avLst>
              <a:gd name="adj" fmla="val 9461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8" name="Image 3" descr="/home/claude/deck/assets/img/21_progres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624" y="1691640"/>
            <a:ext cx="1436605" cy="31089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997696" y="49834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4. Quiz y progreso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8997696" y="5321808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Responde esas preguntas días después. Con 70 % o más, la unidad pasa de leída a dominada.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01 · PLANTEAMIENTO Y RESEARCH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Usuario, problema, solución y cómo lo investigamos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8470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37B0"/>
                </a:solidFill>
              </a:rPr>
              <a:t>USUARIO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176272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31B2E"/>
                </a:solidFill>
              </a:rPr>
              <a:t>Ingresantes de 18 a 25 años que organizan su estudio solos por primera vez y nunca recibieron formación sobre cómo hacerlo.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69164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FF4E8"/>
          </a:solidFill>
          <a:ln w="12700">
            <a:solidFill>
              <a:srgbClr val="F6D9B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53712" y="18470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25100"/>
                </a:solidFill>
              </a:rPr>
              <a:t>PROBLEMA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53712" y="2176272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31B2E"/>
                </a:solidFill>
              </a:rPr>
              <a:t>Repiten técnicas pasivas (releer, subrayar, resumir la semana previa) y no tienen forma de comprobar si aprendieron antes del examen.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69164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E3FBEF"/>
          </a:solidFill>
          <a:ln w="12700">
            <a:solidFill>
              <a:srgbClr val="BFEE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02752" y="18470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C49"/>
                </a:solidFill>
              </a:rPr>
              <a:t>SOLUCIÓN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2176272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31B2E"/>
                </a:solidFill>
              </a:rPr>
              <a:t>Una app que diagnostica cómo estudia, arma un plan con una técnica por sesión y comprueba lo aprendido con preguntas escritas por el propio estudiante.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0690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4ED8"/>
                </a:solidFill>
              </a:rPr>
              <a:t>CUATRO TÉCNICAS DE INVESTIGACIÓN · 11 AL 30 DE AGOSTO DE 2026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4434840"/>
            <a:ext cx="2633472" cy="1783080"/>
          </a:xfrm>
          <a:prstGeom prst="roundRect">
            <a:avLst>
              <a:gd name="adj" fmla="val 6154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9808" y="4617720"/>
            <a:ext cx="347472" cy="347472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4617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207008" y="45720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Observación no participante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51206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</a:rPr>
              <a:t>4 sesiones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49808" y="53949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68"/>
                </a:solidFill>
              </a:rPr>
              <a:t>En ninguna el estudiante cerró el apunte para intentar recordar.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364992" y="4434840"/>
            <a:ext cx="2633472" cy="1783080"/>
          </a:xfrm>
          <a:prstGeom prst="roundRect">
            <a:avLst>
              <a:gd name="adj" fmla="val 6154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66160" y="4617720"/>
            <a:ext cx="347472" cy="347472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66160" y="4617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023360" y="45720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Entrevistas exploratorias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51206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</a:rPr>
              <a:t>6 entrevistas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566160" y="53949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68"/>
                </a:solidFill>
              </a:rPr>
              <a:t>El criterio de «ya lo sé» es haber terminado de leer.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81344" y="4434840"/>
            <a:ext cx="2633472" cy="1783080"/>
          </a:xfrm>
          <a:prstGeom prst="roundRect">
            <a:avLst>
              <a:gd name="adj" fmla="val 6154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82512" y="4617720"/>
            <a:ext cx="347472" cy="347472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82512" y="4617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839712" y="45720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Análisis de artefactos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382512" y="51206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</a:rPr>
              <a:t>9 materiales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6382512" y="53949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68"/>
                </a:solidFill>
              </a:rPr>
              <a:t>Ninguno incluía una sola pregunta de autoevaluación.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997696" y="4434840"/>
            <a:ext cx="2633472" cy="1783080"/>
          </a:xfrm>
          <a:prstGeom prst="roundRect">
            <a:avLst>
              <a:gd name="adj" fmla="val 6154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198864" y="4617720"/>
            <a:ext cx="347472" cy="347472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198864" y="4617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656064" y="45720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Encuesta online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9198864" y="51206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</a:rPr>
              <a:t>34 respuestas válidas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9198864" y="53949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68"/>
                </a:solidFill>
              </a:rPr>
              <a:t>Google Forms, 11 preguntas, primer y segundo año.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01 · PLANTEAMIENTO Y RESEARCH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La encuesta: el problema es el método, no el esfuerzo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931920" cy="1005840"/>
          </a:xfrm>
          <a:prstGeom prst="roundRect">
            <a:avLst>
              <a:gd name="adj" fmla="val 10909"/>
            </a:avLst>
          </a:prstGeom>
          <a:solidFill>
            <a:srgbClr val="EEF1FF"/>
          </a:solidFill>
          <a:ln w="12700">
            <a:solidFill>
              <a:srgbClr val="EEF1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7B0"/>
                </a:solidFill>
              </a:rPr>
              <a:t>68 %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9164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1B2E"/>
                </a:solidFill>
              </a:rPr>
              <a:t>nunca aprendió a estudiar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825496"/>
            <a:ext cx="3931920" cy="1005840"/>
          </a:xfrm>
          <a:prstGeom prst="roundRect">
            <a:avLst>
              <a:gd name="adj" fmla="val 10909"/>
            </a:avLst>
          </a:prstGeom>
          <a:solidFill>
            <a:srgbClr val="FFF4E8"/>
          </a:solidFill>
          <a:ln w="12700">
            <a:solidFill>
              <a:srgbClr val="FFF4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825496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5100"/>
                </a:solidFill>
              </a:rPr>
              <a:t>53 %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825496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1B2E"/>
                </a:solidFill>
              </a:rPr>
              <a:t>cree que entendió porque terminó de leer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959352"/>
            <a:ext cx="3931920" cy="1005840"/>
          </a:xfrm>
          <a:prstGeom prst="roundRect">
            <a:avLst>
              <a:gd name="adj" fmla="val 10909"/>
            </a:avLst>
          </a:prstGeom>
          <a:solidFill>
            <a:srgbClr val="FFECEB"/>
          </a:solidFill>
          <a:ln w="12700">
            <a:solidFill>
              <a:srgbClr val="FFEC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59352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A1A1A"/>
                </a:solidFill>
              </a:rPr>
              <a:t>91 %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3959352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1B2E"/>
                </a:solidFill>
              </a:rPr>
              <a:t>rindió mal habiendo estudiado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5093208"/>
            <a:ext cx="3931920" cy="1005840"/>
          </a:xfrm>
          <a:prstGeom prst="roundRect">
            <a:avLst>
              <a:gd name="adj" fmla="val 10909"/>
            </a:avLst>
          </a:prstGeom>
          <a:solidFill>
            <a:srgbClr val="E3FBEF"/>
          </a:solidFill>
          <a:ln w="12700">
            <a:solidFill>
              <a:srgbClr val="E3FB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093208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6C49"/>
                </a:solidFill>
              </a:rPr>
              <a:t>56 %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5093208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1B2E"/>
                </a:solidFill>
              </a:rPr>
              <a:t>no configuraría una app más de 5 minutos</a:t>
            </a:r>
            <a:endParaRPr lang="en-US" sz="13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754880" y="1645920"/>
          <a:ext cx="688543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4754880" y="57607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68"/>
                </a:solidFill>
              </a:rPr>
              <a:t>Las tres técnicas más usadas son pasivas. Autoevaluarse, la de mayor efectividad según Dunlosky et al. (2013), es la menos frecuente.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01 · PLANTEAMIENTO Y RESEARCH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¿Qué hace, piensa, dice, en qué cree, qué lo frustra, qué lo motiva, qué le preocupa?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633472" cy="1920240"/>
          </a:xfrm>
          <a:prstGeom prst="roundRect">
            <a:avLst>
              <a:gd name="adj" fmla="val 5714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2148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¿Qué hace?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58775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Relee, subraya y resume. Empieza la semana del parcial.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64992" y="1965960"/>
            <a:ext cx="2633472" cy="1920240"/>
          </a:xfrm>
          <a:prstGeom prst="roundRect">
            <a:avLst>
              <a:gd name="adj" fmla="val 5714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2148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¿Qué piensa?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58775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«Si lo leí todo, lo sé.»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1344" y="1965960"/>
            <a:ext cx="2633472" cy="1920240"/>
          </a:xfrm>
          <a:prstGeom prst="roundRect">
            <a:avLst>
              <a:gd name="adj" fmla="val 5714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82512" y="2148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¿Qué dice?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382512" y="258775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«Nadie te enseña a estudiar, se supone que ya sabés.»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997696" y="1965960"/>
            <a:ext cx="2633472" cy="1920240"/>
          </a:xfrm>
          <a:prstGeom prst="roundRect">
            <a:avLst>
              <a:gd name="adj" fmla="val 5714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98864" y="2148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¿En qué cree?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9198864" y="258775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Que estudiar más horas es estudiar mejor.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2633472" cy="1920240"/>
          </a:xfrm>
          <a:prstGeom prst="roundRect">
            <a:avLst>
              <a:gd name="adj" fmla="val 5714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" y="4251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A1A1A"/>
                </a:solidFill>
              </a:rPr>
              <a:t>¿Qué lo frustra?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469087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Rendir mal habiendo estudiado (91 %).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64992" y="4069080"/>
            <a:ext cx="2633472" cy="1920240"/>
          </a:xfrm>
          <a:prstGeom prst="roundRect">
            <a:avLst>
              <a:gd name="adj" fmla="val 5714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66160" y="4251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6C49"/>
                </a:solidFill>
              </a:rPr>
              <a:t>¿Qué lo motiva?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566160" y="469087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Aprobar el primer año y confirmar que eligió bien.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181344" y="4069080"/>
            <a:ext cx="2633472" cy="1920240"/>
          </a:xfrm>
          <a:prstGeom prst="roundRect">
            <a:avLst>
              <a:gd name="adj" fmla="val 5714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82512" y="4251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25100"/>
                </a:solidFill>
              </a:rPr>
              <a:t>¿Qué le preocupa?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382512" y="469087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No servir para la carrera y no llegar con el programa.</a:t>
            </a:r>
            <a:endParaRPr lang="en-US" sz="1400" dirty="0"/>
          </a:p>
        </p:txBody>
      </p:sp>
      <p:pic>
        <p:nvPicPr>
          <p:cNvPr id="25" name="Image 0" descr="/home/claude/deck/assets/img/toma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0939" y="4069080"/>
            <a:ext cx="1666986" cy="19202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01 · PLANTEAMIENTO Y RESEARCH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Notas periodísticas y redes: el problema está en el primer año</a:t>
            </a:r>
            <a:endParaRPr lang="en-US" sz="3000" dirty="0"/>
          </a:p>
        </p:txBody>
      </p:sp>
      <p:pic>
        <p:nvPicPr>
          <p:cNvPr id="4" name="Image 0" descr="/home/claude/deck/assets/img/nota_lan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83093"/>
            <a:ext cx="2651760" cy="4143375"/>
          </a:xfrm>
          <a:prstGeom prst="rect">
            <a:avLst/>
          </a:prstGeom>
        </p:spPr>
      </p:pic>
      <p:pic>
        <p:nvPicPr>
          <p:cNvPr id="5" name="Image 1" descr="/home/claude/deck/assets/img/nota_diar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832066"/>
            <a:ext cx="2377440" cy="4245429"/>
          </a:xfrm>
          <a:prstGeom prst="rect">
            <a:avLst/>
          </a:prstGeom>
        </p:spPr>
      </p:pic>
      <p:pic>
        <p:nvPicPr>
          <p:cNvPr id="6" name="Image 2" descr="/home/claude/deck/assets/img/tw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703028"/>
            <a:ext cx="2651760" cy="3360503"/>
          </a:xfrm>
          <a:prstGeom prst="rect">
            <a:avLst/>
          </a:prstGeom>
        </p:spPr>
      </p:pic>
      <p:pic>
        <p:nvPicPr>
          <p:cNvPr id="7" name="Image 3" descr="/home/claude/deck/assets/img/tw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1700576"/>
            <a:ext cx="2862072" cy="1170848"/>
          </a:xfrm>
          <a:prstGeom prst="rect">
            <a:avLst/>
          </a:prstGeom>
        </p:spPr>
      </p:pic>
      <p:pic>
        <p:nvPicPr>
          <p:cNvPr id="8" name="Image 4" descr="/home/claude/deck/assets/img/tw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3017520"/>
            <a:ext cx="2827663" cy="1280160"/>
          </a:xfrm>
          <a:prstGeom prst="rect">
            <a:avLst/>
          </a:prstGeom>
        </p:spPr>
      </p:pic>
      <p:sp>
        <p:nvSpPr>
          <p:cNvPr id="9" name="Shape 2"/>
          <p:cNvSpPr/>
          <p:nvPr/>
        </p:nvSpPr>
        <p:spPr>
          <a:xfrm>
            <a:off x="8778240" y="4480560"/>
            <a:ext cx="2862072" cy="1737360"/>
          </a:xfrm>
          <a:prstGeom prst="roundRect">
            <a:avLst>
              <a:gd name="adj" fmla="val 6316"/>
            </a:avLst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961120" y="4590288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«Estudié un montón y me fue mal igual, algo estoy haciendo mal.»</a:t>
            </a:r>
            <a:endParaRPr lang="en-US" sz="1400" dirty="0"/>
          </a:p>
        </p:txBody>
      </p:sp>
      <p:sp>
        <p:nvSpPr>
          <p:cNvPr id="11" name="Text 4"/>
          <p:cNvSpPr txBox="1"/>
          <p:nvPr/>
        </p:nvSpPr>
        <p:spPr>
          <a:xfrm>
            <a:off x="8961120" y="5760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BBFF"/>
                </a:solidFill>
              </a:rPr>
              <a:t>Entrevista E2, primer año</a:t>
            </a:r>
            <a:endParaRPr lang="en-US" sz="1100" dirty="0"/>
          </a:p>
        </p:txBody>
      </p:sp>
      <p:sp>
        <p:nvSpPr>
          <p:cNvPr id="12" name="Text 5"/>
          <p:cNvSpPr txBox="1"/>
          <p:nvPr/>
        </p:nvSpPr>
        <p:spPr>
          <a:xfrm>
            <a:off x="5943600" y="525780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189"/>
                </a:solidFill>
              </a:rPr>
              <a:t>Capturas reales: La Nación, El Diario de las Universidades y X (@pasoenlafacu, @Cyane_lol, @valenmineare).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02 · BENCHMARKING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Tres competidores directos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4526280"/>
          </a:xfrm>
          <a:prstGeom prst="roundRect">
            <a:avLst>
              <a:gd name="adj" fmla="val 3117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pic>
        <p:nvPicPr>
          <p:cNvPr id="5" name="Image 0" descr="/home/claude/deck/assets/img/quizlet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74520"/>
            <a:ext cx="685800" cy="685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B2E"/>
                </a:solidFill>
              </a:rPr>
              <a:t>Quizlet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2286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25100"/>
                </a:solidFill>
              </a:rPr>
              <a:t>★ 4,6 · Freemium (Quizlet Plus)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9748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68"/>
                </a:solidFill>
              </a:rPr>
              <a:t>Plataforma estadounidense de fichas de estudio (2005). Se crean sets de término y definición y se estudian con distintos modos (Fichas, Aprender, Prueba); hoy también genera fichas con IA.</a:t>
            </a:r>
            <a:endParaRPr lang="en-US" sz="1150" dirty="0"/>
          </a:p>
        </p:txBody>
      </p:sp>
      <p:pic>
        <p:nvPicPr>
          <p:cNvPr id="9" name="Image 1" descr="/home/claude/deck/assets/img/quizlet_s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023360"/>
            <a:ext cx="1157891" cy="2057400"/>
          </a:xfrm>
          <a:prstGeom prst="rect">
            <a:avLst/>
          </a:prstGeom>
        </p:spPr>
      </p:pic>
      <p:pic>
        <p:nvPicPr>
          <p:cNvPr id="10" name="Image 2" descr="/home/claude/deck/assets/img/quizlet_s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4859" y="4023360"/>
            <a:ext cx="1156685" cy="20574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297680" y="1691640"/>
            <a:ext cx="3520440" cy="4526280"/>
          </a:xfrm>
          <a:prstGeom prst="roundRect">
            <a:avLst>
              <a:gd name="adj" fmla="val 3117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pic>
        <p:nvPicPr>
          <p:cNvPr id="12" name="Image 3" descr="/home/claude/deck/assets/img/anki_ic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1874520"/>
            <a:ext cx="685800" cy="6858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534924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B2E"/>
                </a:solidFill>
              </a:rPr>
              <a:t>AnkiDroid</a:t>
            </a:r>
            <a:endParaRPr lang="en-US" sz="1600" dirty="0"/>
          </a:p>
        </p:txBody>
      </p:sp>
      <p:sp>
        <p:nvSpPr>
          <p:cNvPr id="14" name="Text 8"/>
          <p:cNvSpPr txBox="1"/>
          <p:nvPr/>
        </p:nvSpPr>
        <p:spPr>
          <a:xfrm>
            <a:off x="5349240" y="2286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25100"/>
                </a:solidFill>
              </a:rPr>
              <a:t>★ 4,7 · Gratis y de código abierto</a:t>
            </a:r>
            <a:endParaRPr lang="en-US" sz="1100" dirty="0"/>
          </a:p>
        </p:txBody>
      </p:sp>
      <p:sp>
        <p:nvSpPr>
          <p:cNvPr id="15" name="Text 9"/>
          <p:cNvSpPr txBox="1"/>
          <p:nvPr/>
        </p:nvSpPr>
        <p:spPr>
          <a:xfrm>
            <a:off x="4526280" y="269748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68"/>
                </a:solidFill>
              </a:rPr>
              <a:t>Versión Android de Anki (2006). Aplica repetición espaciada: después de cada tarjeta el usuario califica qué tan bien la recordó y el algoritmo decide cuándo volver a mostrarla.</a:t>
            </a:r>
            <a:endParaRPr lang="en-US" sz="1150" dirty="0"/>
          </a:p>
        </p:txBody>
      </p:sp>
      <p:pic>
        <p:nvPicPr>
          <p:cNvPr id="16" name="Image 4" descr="/home/claude/deck/assets/img/anki_s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4023360"/>
            <a:ext cx="1157288" cy="205740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8046720" y="1691640"/>
            <a:ext cx="3520440" cy="4526280"/>
          </a:xfrm>
          <a:prstGeom prst="roundRect">
            <a:avLst>
              <a:gd name="adj" fmla="val 3117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pic>
        <p:nvPicPr>
          <p:cNvPr id="18" name="Image 5" descr="/home/claude/deck/assets/img/studysmarter_ico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20" y="1874520"/>
            <a:ext cx="685800" cy="6858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09828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B2E"/>
                </a:solidFill>
              </a:rPr>
              <a:t>Vaia (ex StudySmarter)</a:t>
            </a:r>
            <a:endParaRPr lang="en-US" sz="1600" dirty="0"/>
          </a:p>
        </p:txBody>
      </p:sp>
      <p:sp>
        <p:nvSpPr>
          <p:cNvPr id="20" name="Text 12"/>
          <p:cNvSpPr txBox="1"/>
          <p:nvPr/>
        </p:nvSpPr>
        <p:spPr>
          <a:xfrm>
            <a:off x="9098280" y="2286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25100"/>
                </a:solidFill>
              </a:rPr>
              <a:t>★ 4,5 · Freemium</a:t>
            </a:r>
            <a:endParaRPr lang="en-US" sz="1100" dirty="0"/>
          </a:p>
        </p:txBody>
      </p:sp>
      <p:sp>
        <p:nvSpPr>
          <p:cNvPr id="21" name="Text 13"/>
          <p:cNvSpPr txBox="1"/>
          <p:nvPr/>
        </p:nvSpPr>
        <p:spPr>
          <a:xfrm>
            <a:off x="8275320" y="269748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68"/>
                </a:solidFill>
              </a:rPr>
              <a:t>App alemana que integra apuntes, flashcards generadas con IA y un plan de estudio. Antes se llamaba StudySmarter. Es el competidor más cercano porque combina plan y autoevaluación.</a:t>
            </a:r>
            <a:endParaRPr lang="en-US" sz="1150" dirty="0"/>
          </a:p>
        </p:txBody>
      </p:sp>
      <p:pic>
        <p:nvPicPr>
          <p:cNvPr id="22" name="Image 6" descr="/home/claude/deck/assets/img/studysmarter_s7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5320" y="4023360"/>
            <a:ext cx="1157288" cy="2057400"/>
          </a:xfrm>
          <a:prstGeom prst="rect">
            <a:avLst/>
          </a:prstGeom>
        </p:spPr>
      </p:pic>
      <p:pic>
        <p:nvPicPr>
          <p:cNvPr id="23" name="Image 7" descr="/home/claude/deck/assets/img/studysmarter_s4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42335" y="4023360"/>
            <a:ext cx="1157288" cy="2057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02 · BENCHMARKING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Pasos por acción, vocabulario, diseño, fortalezas y debilidades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118104"/>
                <a:gridCol w="3118104"/>
                <a:gridCol w="31181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Quizlet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AnkiDroid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Vaia (ex StudySmarter)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Crear set o mazo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4 · Tocar «+» → Elegir «Set de estudio» → Escribir el título → Confirmar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4 · Tocar «+» → Elegir «Crear mazo» → Escribir el nombre → Aceptar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5 · Entrar a la materia → Tocar «Crear» → Elegir «Set de flashcards» → Escribir el nombre → Crear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Agregar una pregunta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6 · Abrir el set → Tocar el lápiz (editar) → Tocar «+ Agregar tarjeta» → Escribir el término → Escribir la definición → Guardar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6 · Tocar «+» → Elegir «Añadir nota» → Elegir tipo y mazo → Completar «Anverso» → Completar «Reverso» → Guardar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5 · Abrir el set → Tocar «+ Flashcard» → Escribir la pregunta → Escribir la respuesta → Guardar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Repasar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4 · Abrir el set → Elegir el modo «Aprender» → Responder cada tarjeta → Ver el resultado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4 · Tocar el mazo → Tocar «Estudiar» → Tocar «Mostrar respuesta» → Calificar (Otra vez / Difícil / Bien / Fácil)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4 · Abrir el set → Tocar «Estudiar» → Mostrar la respuesta → Calificar el recuerdo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Vocabulario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Óptimo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25100"/>
                          </a:solidFill>
                        </a:rPr>
                        <a:t>Error menor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25100"/>
                          </a:solidFill>
                        </a:rPr>
                        <a:t>Error menor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Diseño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Óptimo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25100"/>
                          </a:solidFill>
                        </a:rPr>
                        <a:t>Básico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Óptimo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Fortalezas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Entrada rápida, sin configurar nada · Varios modos de estudio y refuerzo positivo · Muy buena experiencia móvil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Repetición espaciada rigurosa y probada · Gratis, sin publicidad · Muy configurable para usuarios avanzados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Une apuntes, tarjetas y plan en una sola app · Genera tarjetas con IA · Diseño cuidado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Debilidades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Funciones clave detrás del pago · No planifica el cuatrimestre ni conoce el programa · No diagnostica ni enseña método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Curva de entrada empinada · Hay que entender la técnica antes de recibir valor · No planifica ni guía al principiante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Contenido pensado para Europa · Muchas funciones: complejidad para el principiante · El plan depende de lo que carga el usuario; no diagnostica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02 · BENCHMARKING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Informe de benchmarking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842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¿Quién es mi competencia?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41448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Quizlet, AnkiDroid y Vaia; de forma indirecta, las notas del celular y WhatsApp.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78308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9842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¿Quiénes son sus usuarios?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441448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Estudiantes que ya saben qué estudiar y buscan memorizar.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78308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5320" y="19842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¿Cómo les hablan?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441448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Quizlet cercano, Anki técnico, Vaia aspiracional y con partes en inglés.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2245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¿En qué se diferencian?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681728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Quizlet en la facilidad, Anki en el algoritmo, Vaia en reunir apuntes, IA y plan.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297680" y="402336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26280" y="42245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37B0"/>
                </a:solidFill>
              </a:rPr>
              <a:t>¿Qué puedo ofrecer que no tengan?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26280" y="4681728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Diagnóstico del método, técnica por sesión, plan hasta el parcial y leído vs. dominado.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046720" y="402336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42245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37B0"/>
                </a:solidFill>
              </a:rPr>
              <a:t>¿Cómo superar su propuesta?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4681728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Su motor de repaso, escondido detrás de una experiencia guiada en español y gratis.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03 · MAPA DE EMPATÍA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Proto persona y mapa de empatía de Tomás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291840" cy="804672"/>
          </a:xfrm>
          <a:prstGeom prst="roundRect">
            <a:avLst>
              <a:gd name="adj" fmla="val 13636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76479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37B0"/>
                </a:solidFill>
              </a:rPr>
              <a:t>¿Quién?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20824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Tomás Aguirre, 19, 1.º año de Sistemas, UTN FRM.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596896"/>
            <a:ext cx="329184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26700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37B0"/>
                </a:solidFill>
              </a:rPr>
              <a:t>¿Situación?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92608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Desaprobó el primer parcial de AM I después de estudiar tres días seguidos.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502152"/>
            <a:ext cx="3291840" cy="804672"/>
          </a:xfrm>
          <a:prstGeom prst="roundRect">
            <a:avLst>
              <a:gd name="adj" fmla="val 13636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357530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37B0"/>
                </a:solidFill>
              </a:rPr>
              <a:t>¿Papel?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831336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Usuario principal: descarga, configura y usa la app.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407408"/>
            <a:ext cx="329184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3232" y="44805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37B0"/>
                </a:solidFill>
              </a:rPr>
              <a:t>¿Por qué él?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4736592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Concentra el problema: primer año y sin método.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5312664"/>
            <a:ext cx="3291840" cy="804672"/>
          </a:xfrm>
          <a:prstGeom prst="roundRect">
            <a:avLst>
              <a:gd name="adj" fmla="val 13636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538581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37B0"/>
                </a:solidFill>
              </a:rPr>
              <a:t>¿Qué lo hace usuario?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5641848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Cursa con parciales, tiene Android y nunca le enseñaron a estudiar.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069080" y="1691640"/>
            <a:ext cx="3739896" cy="2194560"/>
          </a:xfrm>
          <a:prstGeom prst="roundRect">
            <a:avLst>
              <a:gd name="adj" fmla="val 5000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70248" y="184708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37B0"/>
                </a:solidFill>
              </a:rPr>
              <a:t>PIENSA Y SIENTE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270248" y="2167128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4A5068"/>
                </a:solidFill>
              </a:rPr>
              <a:t>«Estudié un montón y me fue mal igual.»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4A5068"/>
                </a:solidFill>
              </a:rPr>
              <a:t>«Capaz que esta carrera no es para mí.»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4A5068"/>
                </a:solidFill>
              </a:rPr>
              <a:t>Vergüenza de preguntar cómo estudian otros.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00416" y="1691640"/>
            <a:ext cx="3739896" cy="2194560"/>
          </a:xfrm>
          <a:prstGeom prst="roundRect">
            <a:avLst>
              <a:gd name="adj" fmla="val 5000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860536" y="184708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31B2E"/>
                </a:solidFill>
              </a:rPr>
              <a:t>DICE Y HACE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860536" y="2167128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4A5068"/>
                </a:solidFill>
              </a:rPr>
              <a:t>«Esta vez arranco antes.»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4A5068"/>
                </a:solidFill>
              </a:rPr>
              <a:t>Relee y subraya con tres colores.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4A5068"/>
                </a:solidFill>
              </a:rPr>
              <a:t>Nunca se pone a prueba antes del examen.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069080" y="4023360"/>
            <a:ext cx="3739896" cy="2194560"/>
          </a:xfrm>
          <a:prstGeom prst="roundRect">
            <a:avLst>
              <a:gd name="adj" fmla="val 5000"/>
            </a:avLst>
          </a:prstGeom>
          <a:solidFill>
            <a:srgbClr val="FFECEB"/>
          </a:solidFill>
          <a:ln w="12700">
            <a:solidFill>
              <a:srgbClr val="F7C9C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270248" y="417880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A1A1A"/>
                </a:solidFill>
              </a:rPr>
              <a:t>QUÉ LO FRUSTRA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270248" y="4498848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4A5068"/>
                </a:solidFill>
              </a:rPr>
              <a:t>Rendir mal después de estudiar.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4A5068"/>
                </a:solidFill>
              </a:rPr>
              <a:t>No saber si el problema es él o su método.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4A5068"/>
                </a:solidFill>
              </a:rPr>
              <a:t>Fechas dispersas en WhatsApp.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900416" y="4023360"/>
            <a:ext cx="3739896" cy="2194560"/>
          </a:xfrm>
          <a:prstGeom prst="roundRect">
            <a:avLst>
              <a:gd name="adj" fmla="val 5000"/>
            </a:avLst>
          </a:prstGeom>
          <a:solidFill>
            <a:srgbClr val="E3FBEF"/>
          </a:solidFill>
          <a:ln w="12700">
            <a:solidFill>
              <a:srgbClr val="BFEED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860536" y="417880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C49"/>
                </a:solidFill>
              </a:rPr>
              <a:t>QUÉ LO MOTIVA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860536" y="4498848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4A5068"/>
                </a:solidFill>
              </a:rPr>
              <a:t>Aprobar el primer año completo.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4A5068"/>
                </a:solidFill>
              </a:rPr>
              <a:t>Confirmar que eligió bien la carrera.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4A5068"/>
                </a:solidFill>
              </a:rPr>
              <a:t>No decepcionar a su familia.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757416" y="2880360"/>
            <a:ext cx="2103120" cy="21031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2" name="Image 0" descr="/home/claude/deck/assets/img/toma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67144" y="2990088"/>
            <a:ext cx="1883664" cy="1883664"/>
          </a:xfrm>
          <a:prstGeom prst="ellipse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04 · USER PERSONA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De proto personas a user personas: qué cambió con los datos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4023360"/>
                <a:gridCol w="3685032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1B2E"/>
                          </a:solidFill>
                        </a:rPr>
                        <a:t>Supuesto de la proto persona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1B2E"/>
                          </a:solidFill>
                        </a:rPr>
                        <a:t>Qué encontramos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1B2E"/>
                          </a:solidFill>
                        </a:rPr>
                        <a:t>Cómo quedó la user persona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Tomás estudia mal porque no tiene tiempo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Tiempo tiene; le falta criterio. 4 de 6 no conocían otra técnica que releer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El foco pasa a ser el método, no la agenda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Una app con muchas opciones le serviría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56 % no dedicaría más de 5 minutos a configurar una app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Diagnóstico de 6 pasos y plan armado por la app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Camila estudiaría desde la computadora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Usa casi solo el celular, en el colectivo y a la noche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Mobile first y sesiones de 25 a 45 minutos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Ambos sabrían que se aprende poniéndose a prueba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82 % no conoce la recuperación activa ni el repaso espaciado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La app explica cada técnica dentro de la sesión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Al que le va mal piensa que le faltó estudiar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7 respuestas abiertas hablan de dudar de la propia capacidad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Se agrega el miedo a «no servir para la carrera»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04 · USER PERSONA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User persona principal: Tomás Aguirre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3017520" cy="4526280"/>
          </a:xfrm>
          <a:prstGeom prst="roundRect">
            <a:avLst>
              <a:gd name="adj" fmla="val 3636"/>
            </a:avLst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pic>
        <p:nvPicPr>
          <p:cNvPr id="6" name="Image 0" descr="/home/claude/deck/assets/img/toma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874520"/>
            <a:ext cx="2560320" cy="2057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40050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Tomás Aguirre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4389120"/>
            <a:ext cx="2606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19 años · soltero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Vive con sus padres en Maipú, Mendoza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1.º año de Ing. en Sistemas de Información, UTN FRM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Secundario técnico completo (2025)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Nivel socioeconómico medio · no trabaja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749040" y="169164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BIOGRAFÍA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3749040" y="1938528"/>
            <a:ext cx="3977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68"/>
                </a:solidFill>
              </a:rPr>
              <a:t>Fue buen alumno en una secundaria técnica sin estudiar demasiado. En la facultad repite lo de siempre: relee la carpeta y subraya. Estudió tres días seguidos para el primer parcial de Análisis Matemático I y desaprobó. Desde entonces duda de si eligió bien.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3749040" y="31272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INTERESES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3749040" y="33832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Videojuegos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Fútbol 5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Programación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Series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5760720" y="31272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HÁBITOS DE CONSUMO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5760720" y="338328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Android de gama media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Mercado Libre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Spotify gratis, YouTube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Instagram, TikTok, WhatsApp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3749040" y="448056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RELACIÓN CON LA TECNOLOGÍA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3749040" y="475488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Celular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394960" y="4800600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394960" y="4800600"/>
            <a:ext cx="20574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749040" y="504748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Redes sociales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394960" y="5093208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394960" y="5093208"/>
            <a:ext cx="19431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749040" y="5340096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Computadora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394960" y="5385816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394960" y="5385816"/>
            <a:ext cx="16002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749040" y="5632704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Apps de productividad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5394960" y="5678424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394960" y="5678424"/>
            <a:ext cx="5715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3749040" y="5925312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Apps de estudio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5394960" y="5971032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394960" y="5971032"/>
            <a:ext cx="4572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909560" y="1691640"/>
            <a:ext cx="3730752" cy="1188720"/>
          </a:xfrm>
          <a:prstGeom prst="roundRect">
            <a:avLst>
              <a:gd name="adj" fmla="val 9231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074152" y="176479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37B0"/>
                </a:solidFill>
              </a:rPr>
              <a:t>OBJETIVOS, SUEÑOS Y METAS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8074152" y="20116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Aprobar el primer año completo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Recibirse en cinco años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Trabajar como desarrollador de software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7909560" y="2971800"/>
            <a:ext cx="3730752" cy="1051560"/>
          </a:xfrm>
          <a:prstGeom prst="roundRect">
            <a:avLst>
              <a:gd name="adj" fmla="val 10435"/>
            </a:avLst>
          </a:prstGeom>
          <a:solidFill>
            <a:srgbClr val="FFECEB"/>
          </a:solidFill>
          <a:ln w="12700">
            <a:solidFill>
              <a:srgbClr val="F7C9C5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74152" y="304495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A1A1A"/>
                </a:solidFill>
              </a:rPr>
              <a:t>FRUSTRACIONES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8074152" y="3291840"/>
            <a:ext cx="3456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Estudiar mucho y rendir mal igual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No saber si el problema es él o su método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7909560" y="4114800"/>
            <a:ext cx="3730752" cy="1051560"/>
          </a:xfrm>
          <a:prstGeom prst="roundRect">
            <a:avLst>
              <a:gd name="adj" fmla="val 10435"/>
            </a:avLst>
          </a:prstGeom>
          <a:solidFill>
            <a:srgbClr val="E3FBEF"/>
          </a:solidFill>
          <a:ln w="12700">
            <a:solidFill>
              <a:srgbClr val="BFEED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074152" y="418795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6C49"/>
                </a:solidFill>
              </a:rPr>
              <a:t>MOTIVACIONES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8074152" y="4434840"/>
            <a:ext cx="3456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Confirmar que eligió bien la carrera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No decepcionar a su familia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7909560" y="5257800"/>
            <a:ext cx="3730752" cy="960120"/>
          </a:xfrm>
          <a:prstGeom prst="roundRect">
            <a:avLst>
              <a:gd name="adj" fmla="val 11429"/>
            </a:avLst>
          </a:prstGeom>
          <a:solidFill>
            <a:srgbClr val="FFF4E8"/>
          </a:solidFill>
          <a:ln w="12700">
            <a:solidFill>
              <a:srgbClr val="F6D9B5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8074152" y="5321808"/>
            <a:ext cx="3456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825100"/>
                </a:solidFill>
              </a:rPr>
              <a:t>«Estudié tres días seguidos y me fue mal. No sé si el problema soy yo o cómo estudio.»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04 · USER PERSONA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User persona secundaria: Camila Ríos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3017520" cy="4526280"/>
          </a:xfrm>
          <a:prstGeom prst="roundRect">
            <a:avLst>
              <a:gd name="adj" fmla="val 3636"/>
            </a:avLst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pic>
        <p:nvPicPr>
          <p:cNvPr id="6" name="Image 0" descr="/home/claude/deck/assets/img/camil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874520"/>
            <a:ext cx="2560320" cy="2057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40050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Camila Ríos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4389120"/>
            <a:ext cx="2606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24 años · soltera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Vive sola en la Ciudad de Mendoza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2.º año de Contador Público, cursada nocturna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Administrativa en un estudio contable, 9 a 18 h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Nivel socioeconómico medio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749040" y="169164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BIOGRAFÍA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3749040" y="1938528"/>
            <a:ext cx="3977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68"/>
                </a:solidFill>
              </a:rPr>
              <a:t>Empezó la carrera más tarde, cuando consiguió trabajo estable. Estudia de noche y en el colectivo, en bloques de una o dos horas. Probó Notion, armó un sistema completo y lo abandonó a las tres semanas porque le llevaba más tiempo mantenerlo que estudiar.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3749040" y="31272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INTERESES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3749040" y="33832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Running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Lectura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Finanzas personales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Podcasts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5760720" y="31272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HÁBITOS DE CONSUMO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5760720" y="338328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Android, uso casi exclusivo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Apps bancarias y billeteras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Compras online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Instagram y podcasts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3749040" y="448056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RELACIÓN CON LA TECNOLOGÍA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3749040" y="475488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Celular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394960" y="4800600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394960" y="4800600"/>
            <a:ext cx="21717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749040" y="504748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Computadora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394960" y="5093208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394960" y="5093208"/>
            <a:ext cx="19431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749040" y="5340096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Apps de productividad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394960" y="5385816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394960" y="5385816"/>
            <a:ext cx="17145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749040" y="5632704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Redes sociales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5394960" y="5678424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394960" y="5678424"/>
            <a:ext cx="16002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3749040" y="5925312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Apps de estudio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5394960" y="5971032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394960" y="5971032"/>
            <a:ext cx="6858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909560" y="1691640"/>
            <a:ext cx="3730752" cy="1188720"/>
          </a:xfrm>
          <a:prstGeom prst="roundRect">
            <a:avLst>
              <a:gd name="adj" fmla="val 9231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074152" y="176479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37B0"/>
                </a:solidFill>
              </a:rPr>
              <a:t>OBJETIVOS, SUEÑOS Y METAS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8074152" y="20116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Recibirse de contadora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Ascender a analista en el estudio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Viajar a Europa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7909560" y="2971800"/>
            <a:ext cx="3730752" cy="1051560"/>
          </a:xfrm>
          <a:prstGeom prst="roundRect">
            <a:avLst>
              <a:gd name="adj" fmla="val 10435"/>
            </a:avLst>
          </a:prstGeom>
          <a:solidFill>
            <a:srgbClr val="FFECEB"/>
          </a:solidFill>
          <a:ln w="12700">
            <a:solidFill>
              <a:srgbClr val="F7C9C5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74152" y="304495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A1A1A"/>
                </a:solidFill>
              </a:rPr>
              <a:t>FRUSTRACIONES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8074152" y="3291840"/>
            <a:ext cx="3456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Perder la mitad del tiempo decidiendo qué estudiar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Apps que piden configurar demasiado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7909560" y="4114800"/>
            <a:ext cx="3730752" cy="1051560"/>
          </a:xfrm>
          <a:prstGeom prst="roundRect">
            <a:avLst>
              <a:gd name="adj" fmla="val 10435"/>
            </a:avLst>
          </a:prstGeom>
          <a:solidFill>
            <a:srgbClr val="E3FBEF"/>
          </a:solidFill>
          <a:ln w="12700">
            <a:solidFill>
              <a:srgbClr val="BFEED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074152" y="418795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6C49"/>
                </a:solidFill>
              </a:rPr>
              <a:t>MOTIVACIONES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8074152" y="4434840"/>
            <a:ext cx="3456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Estudiar menos horas pero mejor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Demostrar que empezar tarde no la deja afuera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7909560" y="5257800"/>
            <a:ext cx="3730752" cy="960120"/>
          </a:xfrm>
          <a:prstGeom prst="roundRect">
            <a:avLst>
              <a:gd name="adj" fmla="val 11429"/>
            </a:avLst>
          </a:prstGeom>
          <a:solidFill>
            <a:srgbClr val="FFF4E8"/>
          </a:solidFill>
          <a:ln w="12700">
            <a:solidFill>
              <a:srgbClr val="F6D9B5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8074152" y="5321808"/>
            <a:ext cx="3456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825100"/>
                </a:solidFill>
              </a:rPr>
              <a:t>«Tengo dos horas por día. No me puedo dar el lujo de estudiar mal.»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05 · POV, STORYTELLING Y STORYBOARD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Point of view y storytelling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1672" cy="1417320"/>
          </a:xfrm>
          <a:prstGeom prst="roundRect">
            <a:avLst>
              <a:gd name="adj" fmla="val 7742"/>
            </a:avLst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10424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Un estudiante que recién empieza una carrera </a:t>
            </a:r>
            <a:pPr indent="0" marL="0">
              <a:buNone/>
            </a:pPr>
            <a:r>
              <a:rPr lang="en-US" sz="1900" b="1" dirty="0">
                <a:solidFill>
                  <a:srgbClr val="6CF8BB"/>
                </a:solidFill>
              </a:rPr>
              <a:t>necesita 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un método de estudio propio y una forma de comprobar si aprendió antes de rendir, </a:t>
            </a:r>
            <a:pPr indent="0" marL="0">
              <a:buNone/>
            </a:pPr>
            <a:r>
              <a:rPr lang="en-US" sz="1900" b="1" dirty="0">
                <a:solidFill>
                  <a:srgbClr val="6CF8BB"/>
                </a:solidFill>
              </a:rPr>
              <a:t>porque 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nunca le enseñaron a estudiar y confunde haber leído el material con saberlo.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3337560"/>
            <a:ext cx="3520440" cy="2880360"/>
          </a:xfrm>
          <a:prstGeom prst="roundRect">
            <a:avLst>
              <a:gd name="adj" fmla="val 3810"/>
            </a:avLst>
          </a:prstGeom>
          <a:solidFill>
            <a:srgbClr val="EEF1FF"/>
          </a:solidFill>
          <a:ln w="12700">
            <a:solidFill>
              <a:srgbClr val="EEF1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3520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37B0"/>
                </a:solidFill>
              </a:rPr>
              <a:t>INICIO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886200"/>
            <a:ext cx="30175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31B2E"/>
                </a:solidFill>
              </a:rPr>
              <a:t>Tomás llega a la UTN desde una secundaria técnica. Para el primer parcial de AM I hace lo de siempre: relee, subraya y se queda despierto hasta las tres de la mañana.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3337560"/>
            <a:ext cx="3520440" cy="2880360"/>
          </a:xfrm>
          <a:prstGeom prst="roundRect">
            <a:avLst>
              <a:gd name="adj" fmla="val 3810"/>
            </a:avLst>
          </a:prstGeom>
          <a:solidFill>
            <a:srgbClr val="FFECEB"/>
          </a:solidFill>
          <a:ln w="12700">
            <a:solidFill>
              <a:srgbClr val="FFEC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3712" y="3520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A1A1A"/>
                </a:solidFill>
              </a:rPr>
              <a:t>NUDO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53712" y="3886200"/>
            <a:ext cx="30175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31B2E"/>
                </a:solidFill>
              </a:rPr>
              <a:t>Se saca un 4 y desaprueba. Piensa que la carrera no es para él. Una compañera le recomienda Asesor de Estudio y la descarga sin mucha fe.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46720" y="3337560"/>
            <a:ext cx="3520440" cy="2880360"/>
          </a:xfrm>
          <a:prstGeom prst="roundRect">
            <a:avLst>
              <a:gd name="adj" fmla="val 3810"/>
            </a:avLst>
          </a:prstGeom>
          <a:solidFill>
            <a:srgbClr val="E3FBEF"/>
          </a:solidFill>
          <a:ln w="12700">
            <a:solidFill>
              <a:srgbClr val="E3FB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02752" y="3520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6C49"/>
                </a:solidFill>
              </a:rPr>
              <a:t>DESENLACE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302752" y="3886200"/>
            <a:ext cx="30175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31B2E"/>
                </a:solidFill>
              </a:rPr>
              <a:t>Hace el diagnóstico, la app le arma un plan con técnica y al cerrar cada sesión escribe sus preguntas. Aprueba el recuperatorio con 8 y sabe por qué.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05 · POV, STORYTELLING Y STORYBOARD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Storyboard: del 4 al 8 en seis escenas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64208"/>
            <a:ext cx="3520440" cy="2212848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pic>
        <p:nvPicPr>
          <p:cNvPr id="5" name="Image 0" descr="/home/claude/deck/v/sb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19072"/>
            <a:ext cx="2651760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520440" y="1801368"/>
            <a:ext cx="384048" cy="384048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52044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3447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1B2E"/>
                </a:solidFill>
              </a:rPr>
              <a:t>Estudia hasta las 3 de la mañana releyendo y subrayando.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97680" y="1664208"/>
            <a:ext cx="3520440" cy="2212848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pic>
        <p:nvPicPr>
          <p:cNvPr id="10" name="Image 1" descr="/home/claude/deck/v/sb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2651760" cy="17373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269480" y="1801368"/>
            <a:ext cx="384048" cy="384048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26948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462272" y="3447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1B2E"/>
                </a:solidFill>
              </a:rPr>
              <a:t>Se saca un 4 y piensa que no sirve para la carrera.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046720" y="1664208"/>
            <a:ext cx="3520440" cy="2212848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pic>
        <p:nvPicPr>
          <p:cNvPr id="15" name="Image 2" descr="/home/claude/deck/v/sb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719072"/>
            <a:ext cx="2651760" cy="173736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11018520" y="1801368"/>
            <a:ext cx="384048" cy="384048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1101852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211312" y="3447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1B2E"/>
                </a:solidFill>
              </a:rPr>
              <a:t>Una compañera le recomienda la app y crea su cuenta.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3995928"/>
            <a:ext cx="3520440" cy="2212848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pic>
        <p:nvPicPr>
          <p:cNvPr id="20" name="Image 3" descr="/home/claude/deck/v/sb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050792"/>
            <a:ext cx="2651760" cy="173736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3520440" y="4133088"/>
            <a:ext cx="384048" cy="384048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352044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13232" y="577900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1B2E"/>
                </a:solidFill>
              </a:rPr>
              <a:t>Hace el diagnóstico y la app le arma un plan con técnica.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297680" y="3995928"/>
            <a:ext cx="3520440" cy="2212848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pic>
        <p:nvPicPr>
          <p:cNvPr id="25" name="Image 4" descr="/home/claude/deck/v/sb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4050792"/>
            <a:ext cx="2651760" cy="173736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7269480" y="4133088"/>
            <a:ext cx="384048" cy="384048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72694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4462272" y="577900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1B2E"/>
                </a:solidFill>
              </a:rPr>
              <a:t>Estudia con cronómetro y al cerrar escribe sus preguntas.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8046720" y="3995928"/>
            <a:ext cx="3520440" cy="2212848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pic>
        <p:nvPicPr>
          <p:cNvPr id="30" name="Image 5" descr="/home/claude/deck/v/sb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4050792"/>
            <a:ext cx="2651760" cy="173736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11018520" y="4133088"/>
            <a:ext cx="384048" cy="384048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1101852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211312" y="577900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1B2E"/>
                </a:solidFill>
              </a:rPr>
              <a:t>Los quizzes le muestran qué le faltaba: aprueba con 8.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06 · MVP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MVP: alcance, función principal y prioridades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57600" cy="4526280"/>
          </a:xfrm>
          <a:prstGeom prst="roundRect">
            <a:avLst>
              <a:gd name="adj" fmla="val 3000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828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37B0"/>
                </a:solidFill>
              </a:rPr>
              <a:t>IMPRESCINDIBLES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176272"/>
            <a:ext cx="32918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Registro e inicio de sesión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Diagnóstico en 6 pasos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Materia, parcial y unidades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Plan con técnica por sesión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Calendario y reprogramar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Sesión con pasos guiados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Preguntas al cerrar la sesión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Quiz con repaso espaciado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Leído vs. dominado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Ajuste sugerido del plan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89120" y="1691640"/>
            <a:ext cx="3017520" cy="4526280"/>
          </a:xfrm>
          <a:prstGeom prst="roundRect">
            <a:avLst>
              <a:gd name="adj" fmla="val 3636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828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189"/>
                </a:solidFill>
              </a:rPr>
              <a:t>DESEABLES · VERSIÓN 2.0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176272"/>
            <a:ext cx="26974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4A5068"/>
                </a:solidFill>
              </a:rPr>
              <a:t>Google Calendar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4A5068"/>
                </a:solidFill>
              </a:rPr>
              <a:t>Importar programa en PDF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4A5068"/>
                </a:solidFill>
              </a:rPr>
              <a:t>Modo sin conexión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4A5068"/>
                </a:solidFill>
              </a:rPr>
              <a:t>Estadísticas por materia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4A5068"/>
                </a:solidFill>
              </a:rPr>
              <a:t>Grupos de estudio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4A5068"/>
                </a:solidFill>
              </a:rPr>
              <a:t>Widget de Android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4A5068"/>
                </a:solidFill>
              </a:rPr>
              <a:t>Modo oscuro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589520" y="1691640"/>
            <a:ext cx="4050792" cy="1874520"/>
          </a:xfrm>
          <a:prstGeom prst="roundRect">
            <a:avLst>
              <a:gd name="adj" fmla="val 5854"/>
            </a:avLst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90688" y="1810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BBFF"/>
                </a:solidFill>
              </a:rPr>
              <a:t>FUNCIÓN PRINCIPAL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90688" y="210312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Sesión con técnica → preguntas propias → quiz espaciado → leído vs. dominado. Ataca el dato central: el 53 % cree que leer es saber.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37307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4ED8"/>
                </a:solidFill>
              </a:rPr>
              <a:t>ORDEN DE DESARROLLO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589520" y="4069080"/>
            <a:ext cx="310896" cy="31089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89520" y="4069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028432" y="406908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Motor del plan y técnicas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589520" y="4498848"/>
            <a:ext cx="310896" cy="31089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89520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028432" y="44988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Sesión y preguntas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589520" y="4928616"/>
            <a:ext cx="310896" cy="31089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89520" y="4928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028432" y="492861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Quiz y repaso espaciado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589520" y="5358384"/>
            <a:ext cx="310896" cy="31089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89520" y="5358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028432" y="53583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Progreso leído / dominado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589520" y="5788152"/>
            <a:ext cx="310896" cy="310896"/>
          </a:xfrm>
          <a:prstGeom prst="ellipse">
            <a:avLst/>
          </a:prstGeom>
          <a:solidFill>
            <a:srgbClr val="6B7189"/>
          </a:solidFill>
          <a:ln w="12700">
            <a:solidFill>
              <a:srgbClr val="6B71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89520" y="5788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028432" y="578815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Diagnóstico, cuenta y ajustes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07 · ARQUITECTURA DE LA INFORMACIÓN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Card sorting abierto: 20 tarjetas y 10 participantes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57600" cy="4526280"/>
          </a:xfrm>
          <a:prstGeom prst="roundRect">
            <a:avLst>
              <a:gd name="adj" fmla="val 3000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8288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37B0"/>
                </a:solidFill>
              </a:rPr>
              <a:t>INTRODUCCIÓN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14884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131B2E"/>
                </a:solidFill>
              </a:rPr>
              <a:t>«Te damos 20 tarjetas con cosas que se pueden hacer en una app de estudio. Agrupalas como te parezca lógico y ponele un nombre a cada grupo. No hay respuestas correctas: evaluamos la organización, no a vos.»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40690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37B0"/>
                </a:solidFill>
              </a:rPr>
              <a:t>SEGMENTACIÓN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43434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1B2E"/>
                </a:solidFill>
              </a:rPr>
              <a:t>Edad, carrera y año, si trabaja, qué apps usa para estudiar y cómo organiza sus fechas.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51206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37B0"/>
                </a:solidFill>
              </a:rPr>
              <a:t>PREGUNTAS FINALES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53949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1B2E"/>
                </a:solidFill>
              </a:rPr>
              <a:t>¿Qué tarjeta te costó ubicar? ¿Alguna iría en dos grupos? ¿Qué falta?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34840" y="1691640"/>
            <a:ext cx="896112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71416" y="1691640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1B2E"/>
                </a:solidFill>
              </a:rPr>
              <a:t>Registrarse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394960" y="1691640"/>
            <a:ext cx="896112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31536" y="1691640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1B2E"/>
                </a:solidFill>
              </a:rPr>
              <a:t>Iniciar / cerrar sesión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355080" y="1691640"/>
            <a:ext cx="896112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91656" y="1691640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1B2E"/>
                </a:solidFill>
              </a:rPr>
              <a:t>Mi perfil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315200" y="1691640"/>
            <a:ext cx="896112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51776" y="1691640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1B2E"/>
                </a:solidFill>
              </a:rPr>
              <a:t>Ajustes y recordatorios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434840" y="2606040"/>
            <a:ext cx="896112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471416" y="2606040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1B2E"/>
                </a:solidFill>
              </a:rPr>
              <a:t>Notificaciones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394960" y="2606040"/>
            <a:ext cx="896112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31536" y="2606040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1B2E"/>
                </a:solidFill>
              </a:rPr>
              <a:t>Hacer el diagnóstico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355080" y="2606040"/>
            <a:ext cx="896112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91656" y="2606040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1B2E"/>
                </a:solidFill>
              </a:rPr>
              <a:t>Agregar materia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315200" y="2606040"/>
            <a:ext cx="896112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51776" y="2606040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1B2E"/>
                </a:solidFill>
              </a:rPr>
              <a:t>Cargar unidades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434840" y="3520440"/>
            <a:ext cx="896112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471416" y="3520440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1B2E"/>
                </a:solidFill>
              </a:rPr>
              <a:t>Fecha del parcial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394960" y="3520440"/>
            <a:ext cx="896112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31536" y="3520440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1B2E"/>
                </a:solidFill>
              </a:rPr>
              <a:t>Ver mi plan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355080" y="3520440"/>
            <a:ext cx="896112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391656" y="3520440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1B2E"/>
                </a:solidFill>
              </a:rPr>
              <a:t>Calendario semanal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315200" y="3520440"/>
            <a:ext cx="896112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51776" y="3520440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1B2E"/>
                </a:solidFill>
              </a:rPr>
              <a:t>Reprogramar sesión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434840" y="4434840"/>
            <a:ext cx="896112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471416" y="4434840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1B2E"/>
                </a:solidFill>
              </a:rPr>
              <a:t>Empezar sesión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394960" y="4434840"/>
            <a:ext cx="896112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31536" y="4434840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1B2E"/>
                </a:solidFill>
              </a:rPr>
              <a:t>Pausar cronómetro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355080" y="4434840"/>
            <a:ext cx="896112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91656" y="4434840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1B2E"/>
                </a:solidFill>
              </a:rPr>
              <a:t>Escribir preguntas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315200" y="4434840"/>
            <a:ext cx="896112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351776" y="4434840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1B2E"/>
                </a:solidFill>
              </a:rPr>
              <a:t>Técnicas de estudio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434840" y="5349240"/>
            <a:ext cx="896112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471416" y="5349240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1B2E"/>
                </a:solidFill>
              </a:rPr>
              <a:t>Repasar (quiz)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394960" y="5349240"/>
            <a:ext cx="896112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431536" y="5349240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1B2E"/>
                </a:solidFill>
              </a:rPr>
              <a:t>Calificar recuerdo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355080" y="5349240"/>
            <a:ext cx="896112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391656" y="5349240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1B2E"/>
                </a:solidFill>
              </a:rPr>
              <a:t>Ver progreso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315200" y="5349240"/>
            <a:ext cx="896112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351776" y="5349240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1B2E"/>
                </a:solidFill>
              </a:rPr>
              <a:t>Leídos y dominados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0" y="1691640"/>
          <a:ext cx="322783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216152"/>
                <a:gridCol w="15544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1B2E"/>
                          </a:solidFill>
                        </a:rPr>
                        <a:t>Participante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1B2E"/>
                          </a:solidFill>
                        </a:rPr>
                        <a:t>Carrera y año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P1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Lucía, 19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Industrial, 1.º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P2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Mateo, 18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Sistemas, 1.º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P3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Agustina, 20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Civil, 2.º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P4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Franco, 23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Contador, 2.º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P5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Sofía, 19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Arquitectura, 1.º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P6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Tobías, 18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Electromecánica, 1.º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P7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Valentina, 21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Química, 2.º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P8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Joaquín, 19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Sistemas, 1.º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P9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Martina, 24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Contador, 2.º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P10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Bruno, 20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Civil, 1.º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07 · ARQUITECTURA DE LA INFORMACIÓN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Matriz de similitud y dendrograma: seis grupos naturales</a:t>
            </a:r>
            <a:endParaRPr lang="en-US" sz="3000" dirty="0"/>
          </a:p>
        </p:txBody>
      </p:sp>
      <p:pic>
        <p:nvPicPr>
          <p:cNvPr id="4" name="Image 0" descr="/home/claude/deck/v/matri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4885151" cy="4572000"/>
          </a:xfrm>
          <a:prstGeom prst="rect">
            <a:avLst/>
          </a:prstGeom>
        </p:spPr>
      </p:pic>
      <p:pic>
        <p:nvPicPr>
          <p:cNvPr id="5" name="Image 1" descr="/home/claude/deck/v/dend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973931"/>
            <a:ext cx="5833872" cy="355021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806440" y="5897880"/>
            <a:ext cx="5833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5068"/>
                </a:solidFill>
              </a:rPr>
              <a:t>Corte al 30 % de similitud → Progreso, Repasar, Estudiar, Plan, Cuenta y Materias.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07 · ARQUITECTURA DE LA INFORMACIÓN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Informe del card sorting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51760" cy="4480560"/>
          </a:xfrm>
          <a:prstGeom prst="roundRect">
            <a:avLst>
              <a:gd name="adj" fmla="val 4138"/>
            </a:avLst>
          </a:prstGeom>
          <a:solidFill>
            <a:srgbClr val="E3FBEF"/>
          </a:solidFill>
          <a:ln w="12700">
            <a:solidFill>
              <a:srgbClr val="BFEE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901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C49"/>
                </a:solidFill>
              </a:rPr>
              <a:t>ACIERTOS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86000"/>
            <a:ext cx="2286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31B2E"/>
                </a:solidFill>
              </a:rPr>
              <a:t>Los 6 grupos coinciden con la navegación propuesta.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31B2E"/>
                </a:solidFill>
              </a:rPr>
              <a:t>Los pares obvios se agruparon al 100 %.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364992" y="1737360"/>
            <a:ext cx="2651760" cy="4480560"/>
          </a:xfrm>
          <a:prstGeom prst="roundRect">
            <a:avLst>
              <a:gd name="adj" fmla="val 4138"/>
            </a:avLst>
          </a:prstGeom>
          <a:solidFill>
            <a:srgbClr val="FFECEB"/>
          </a:solidFill>
          <a:ln w="12700">
            <a:solidFill>
              <a:srgbClr val="F7C9C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901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A1A1A"/>
                </a:solidFill>
              </a:rPr>
              <a:t>ERRORES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286000"/>
            <a:ext cx="2286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31B2E"/>
                </a:solidFill>
              </a:rPr>
              <a:t>«Diagnóstico» quedó entre Materias y Cuenta.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31B2E"/>
                </a:solidFill>
              </a:rPr>
              <a:t>«Técnicas» se repartió en tres grupos.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31B2E"/>
                </a:solidFill>
              </a:rPr>
              <a:t>«Escribir preguntas»: 6 en Estudiar, 4 en Repasar.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81344" y="1737360"/>
            <a:ext cx="2651760" cy="4480560"/>
          </a:xfrm>
          <a:prstGeom prst="roundRect">
            <a:avLst>
              <a:gd name="adj" fmla="val 4138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82512" y="1901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37B0"/>
                </a:solidFill>
              </a:rPr>
              <a:t>CORRECCIONES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382512" y="2286000"/>
            <a:ext cx="2286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31B2E"/>
                </a:solidFill>
              </a:rPr>
              <a:t>El diagnóstico va al onboarding y a Perfil.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31B2E"/>
                </a:solidFill>
              </a:rPr>
              <a:t>Las técnicas se explican dentro de cada sesión.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31B2E"/>
                </a:solidFill>
              </a:rPr>
              <a:t>Notificaciones como campana en el HOME.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997696" y="1737360"/>
            <a:ext cx="2651760" cy="4480560"/>
          </a:xfrm>
          <a:prstGeom prst="roundRect">
            <a:avLst>
              <a:gd name="adj" fmla="val 4138"/>
            </a:avLst>
          </a:prstGeom>
          <a:solidFill>
            <a:srgbClr val="FFF4E8"/>
          </a:solidFill>
          <a:ln w="12700">
            <a:solidFill>
              <a:srgbClr val="F6D9B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98864" y="1901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25100"/>
                </a:solidFill>
              </a:rPr>
              <a:t>CONCLUSIONES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98864" y="2286000"/>
            <a:ext cx="2286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31B2E"/>
                </a:solidFill>
              </a:rPr>
              <a:t>Navegación de 5 destinos: Inicio, Calendario, Quizzes, Progreso y Perfil.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31B2E"/>
                </a:solidFill>
              </a:rPr>
              <a:t>La sesión de estudio es un flujo, no una pestaña.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08 · MAPA DE SITIO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Mapa de sitio: del HOME a cada tarea</a:t>
            </a:r>
            <a:endParaRPr lang="en-US" sz="3000" dirty="0"/>
          </a:p>
        </p:txBody>
      </p:sp>
      <p:pic>
        <p:nvPicPr>
          <p:cNvPr id="4" name="Image 0" descr="/home/claude/deck/v/site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8210" y="1371600"/>
            <a:ext cx="9792532" cy="4937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09 · WIREFRAMES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Bocetos a mano del happy path, desde Registrarse</a:t>
            </a:r>
            <a:endParaRPr lang="en-US" sz="3000" dirty="0"/>
          </a:p>
        </p:txBody>
      </p:sp>
      <p:pic>
        <p:nvPicPr>
          <p:cNvPr id="4" name="Image 0" descr="/home/claude/deck/v/hoj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3697" y="1508760"/>
            <a:ext cx="7061557" cy="2331720"/>
          </a:xfrm>
          <a:prstGeom prst="rect">
            <a:avLst/>
          </a:prstGeom>
        </p:spPr>
      </p:pic>
      <p:pic>
        <p:nvPicPr>
          <p:cNvPr id="5" name="Image 1" descr="/home/claude/deck/v/hoja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697" y="3931920"/>
            <a:ext cx="7061557" cy="2331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09 · WIREFRAMES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Wireframes digitales de baja fidelidad, en escala de grises</a:t>
            </a:r>
            <a:endParaRPr lang="en-US" sz="3000" dirty="0"/>
          </a:p>
        </p:txBody>
      </p:sp>
      <p:pic>
        <p:nvPicPr>
          <p:cNvPr id="4" name="Image 0" descr="/home/claude/deck/v/wf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5186" y="1508760"/>
            <a:ext cx="7158580" cy="2331720"/>
          </a:xfrm>
          <a:prstGeom prst="rect">
            <a:avLst/>
          </a:prstGeom>
        </p:spPr>
      </p:pic>
      <p:pic>
        <p:nvPicPr>
          <p:cNvPr id="5" name="Image 1" descr="/home/claude/deck/v/wfs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1294" y="3931920"/>
            <a:ext cx="7146364" cy="2331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10 · PATRONES DE DISEÑO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Patrones de Material Design 3 sobre los wireframes</a:t>
            </a:r>
            <a:endParaRPr lang="en-US" sz="3000" dirty="0"/>
          </a:p>
        </p:txBody>
      </p:sp>
      <p:pic>
        <p:nvPicPr>
          <p:cNvPr id="4" name="Image 0" descr="/home/claude/deck/v/pa_regist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44621"/>
            <a:ext cx="1152144" cy="218003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4041648"/>
            <a:ext cx="1152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068"/>
                </a:solidFill>
              </a:rPr>
              <a:t>Registrarse</a:t>
            </a:r>
            <a:endParaRPr lang="en-US" sz="1000" dirty="0"/>
          </a:p>
        </p:txBody>
      </p:sp>
      <p:pic>
        <p:nvPicPr>
          <p:cNvPr id="6" name="Image 1" descr="/home/claude/deck/v/pa_inic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928" y="1744621"/>
            <a:ext cx="1152144" cy="218003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09928" y="4041648"/>
            <a:ext cx="1152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068"/>
                </a:solidFill>
              </a:rPr>
              <a:t>HOME</a:t>
            </a:r>
            <a:endParaRPr lang="en-US" sz="1000" dirty="0"/>
          </a:p>
        </p:txBody>
      </p:sp>
      <p:pic>
        <p:nvPicPr>
          <p:cNvPr id="8" name="Image 2" descr="/home/claude/deck/v/pa_activ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6936" y="1744621"/>
            <a:ext cx="1152144" cy="2180037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2916936" y="4041648"/>
            <a:ext cx="1152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068"/>
                </a:solidFill>
              </a:rPr>
              <a:t>Sesión activa</a:t>
            </a:r>
            <a:endParaRPr lang="en-US" sz="1000" dirty="0"/>
          </a:p>
        </p:txBody>
      </p:sp>
      <p:pic>
        <p:nvPicPr>
          <p:cNvPr id="10" name="Image 3" descr="/home/claude/deck/v/pa_pregunta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3944" y="1744621"/>
            <a:ext cx="1152144" cy="2180037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4123944" y="4041648"/>
            <a:ext cx="1152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068"/>
                </a:solidFill>
              </a:rPr>
              <a:t>Preguntas</a:t>
            </a:r>
            <a:endParaRPr lang="en-US" sz="1000" dirty="0"/>
          </a:p>
        </p:txBody>
      </p:sp>
      <p:pic>
        <p:nvPicPr>
          <p:cNvPr id="12" name="Image 4" descr="/home/claude/deck/v/pa_quiz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0952" y="1744621"/>
            <a:ext cx="1152144" cy="2180037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330952" y="4041648"/>
            <a:ext cx="1152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068"/>
                </a:solidFill>
              </a:rPr>
              <a:t>Quiz</a:t>
            </a:r>
            <a:endParaRPr lang="en-US" sz="1000" dirty="0"/>
          </a:p>
        </p:txBody>
      </p:sp>
      <p:pic>
        <p:nvPicPr>
          <p:cNvPr id="14" name="Image 5" descr="/home/claude/deck/v/pa_progres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1744621"/>
            <a:ext cx="1152144" cy="2180037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6537960" y="4041648"/>
            <a:ext cx="1152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068"/>
                </a:solidFill>
              </a:rPr>
              <a:t>Progreso</a:t>
            </a:r>
            <a:endParaRPr lang="en-US" sz="1000" dirty="0"/>
          </a:p>
        </p:txBody>
      </p:sp>
      <p:sp>
        <p:nvSpPr>
          <p:cNvPr id="16" name="Shape 8"/>
          <p:cNvSpPr/>
          <p:nvPr/>
        </p:nvSpPr>
        <p:spPr>
          <a:xfrm>
            <a:off x="7863840" y="1691640"/>
            <a:ext cx="3776472" cy="1005840"/>
          </a:xfrm>
          <a:prstGeom prst="roundRect">
            <a:avLst>
              <a:gd name="adj" fmla="val 10909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7" name="Text 9"/>
          <p:cNvSpPr txBox="1"/>
          <p:nvPr/>
        </p:nvSpPr>
        <p:spPr>
          <a:xfrm>
            <a:off x="8028432" y="17647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37B0"/>
                </a:solidFill>
              </a:rPr>
              <a:t>Navegación</a:t>
            </a:r>
            <a:endParaRPr lang="en-US" sz="1200" dirty="0"/>
          </a:p>
        </p:txBody>
      </p:sp>
      <p:sp>
        <p:nvSpPr>
          <p:cNvPr id="18" name="Text 10"/>
          <p:cNvSpPr txBox="1"/>
          <p:nvPr/>
        </p:nvSpPr>
        <p:spPr>
          <a:xfrm>
            <a:off x="8028432" y="2020824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068"/>
                </a:solidFill>
              </a:rPr>
              <a:t>Top app bar con volver · Navigation bar de 5 destinos (panel lateral en escritorio) · Linear progress en el onboarding y el quiz · Icon button → bottom sheet de ayuda</a:t>
            </a:r>
            <a:endParaRPr lang="en-US" sz="1000" dirty="0"/>
          </a:p>
        </p:txBody>
      </p:sp>
      <p:sp>
        <p:nvSpPr>
          <p:cNvPr id="19" name="Shape 11"/>
          <p:cNvSpPr/>
          <p:nvPr/>
        </p:nvSpPr>
        <p:spPr>
          <a:xfrm>
            <a:off x="7863840" y="2807208"/>
            <a:ext cx="3776472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8028432" y="28803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37B0"/>
                </a:solidFill>
              </a:rPr>
              <a:t>Entrada de datos</a:t>
            </a:r>
            <a:endParaRPr lang="en-US" sz="1200" dirty="0"/>
          </a:p>
        </p:txBody>
      </p:sp>
      <p:sp>
        <p:nvSpPr>
          <p:cNvPr id="21" name="Text 13"/>
          <p:cNvSpPr txBox="1"/>
          <p:nvPr/>
        </p:nvSpPr>
        <p:spPr>
          <a:xfrm>
            <a:off x="8028432" y="31363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068"/>
                </a:solidFill>
              </a:rPr>
              <a:t>Outlined text fields · Checkbox de términos · Text field multilínea para las preguntas · Assist chips como disparadores</a:t>
            </a:r>
            <a:endParaRPr lang="en-US" sz="1000" dirty="0"/>
          </a:p>
        </p:txBody>
      </p:sp>
      <p:sp>
        <p:nvSpPr>
          <p:cNvPr id="22" name="Shape 14"/>
          <p:cNvSpPr/>
          <p:nvPr/>
        </p:nvSpPr>
        <p:spPr>
          <a:xfrm>
            <a:off x="7863840" y="3922776"/>
            <a:ext cx="3776472" cy="1005840"/>
          </a:xfrm>
          <a:prstGeom prst="roundRect">
            <a:avLst>
              <a:gd name="adj" fmla="val 10909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8028432" y="399592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37B0"/>
                </a:solidFill>
              </a:rPr>
              <a:t>Acción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8028432" y="425196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068"/>
                </a:solidFill>
              </a:rPr>
              <a:t>Filled button para la acción principal · Tonal y outlined en el cronómetro · Segmented buttons para calificar el recuerdo</a:t>
            </a:r>
            <a:endParaRPr lang="en-US" sz="1000" dirty="0"/>
          </a:p>
        </p:txBody>
      </p:sp>
      <p:sp>
        <p:nvSpPr>
          <p:cNvPr id="25" name="Shape 17"/>
          <p:cNvSpPr/>
          <p:nvPr/>
        </p:nvSpPr>
        <p:spPr>
          <a:xfrm>
            <a:off x="7863840" y="5038344"/>
            <a:ext cx="3776472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8028432" y="511149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37B0"/>
                </a:solidFill>
              </a:rPr>
              <a:t>Estado y feedback</a:t>
            </a:r>
            <a:endParaRPr lang="en-US" sz="1200" dirty="0"/>
          </a:p>
        </p:txBody>
      </p:sp>
      <p:sp>
        <p:nvSpPr>
          <p:cNvPr id="27" name="Text 19"/>
          <p:cNvSpPr txBox="1"/>
          <p:nvPr/>
        </p:nvSpPr>
        <p:spPr>
          <a:xfrm>
            <a:off x="8028432" y="536752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068"/>
                </a:solidFill>
              </a:rPr>
              <a:t>Cards de resumen · Circular progress del cronómetro · Status chips por unidad · Banners y snackbar al guardar</a:t>
            </a:r>
            <a:endParaRPr lang="en-US" sz="1000" dirty="0"/>
          </a:p>
        </p:txBody>
      </p:sp>
      <p:sp>
        <p:nvSpPr>
          <p:cNvPr id="28" name="Text 20"/>
          <p:cNvSpPr txBox="1"/>
          <p:nvPr/>
        </p:nvSpPr>
        <p:spPr>
          <a:xfrm>
            <a:off x="502920" y="443484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189"/>
                </a:solidFill>
              </a:rPr>
              <a:t>Los números de cada pantalla señalan el componente aplicado; el detalle completo está en el informe.</a:t>
            </a:r>
            <a:endParaRPr lang="en-US" sz="1150" dirty="0"/>
          </a:p>
        </p:txBody>
      </p:sp>
      <p:sp>
        <p:nvSpPr>
          <p:cNvPr id="29" name="Shape 21"/>
          <p:cNvSpPr/>
          <p:nvPr/>
        </p:nvSpPr>
        <p:spPr>
          <a:xfrm>
            <a:off x="502920" y="4846320"/>
            <a:ext cx="7178040" cy="1371600"/>
          </a:xfrm>
          <a:prstGeom prst="roundRect">
            <a:avLst>
              <a:gd name="adj" fmla="val 8000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713232" y="4956048"/>
            <a:ext cx="6812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1B2E"/>
                </a:solidFill>
              </a:rPr>
              <a:t>Por qué Material 3: el MVP es para Android y la mayoría de nuestros usuarios usa Android de gama media. Seguir los patrones del sistema reduce lo que el estudiante tiene que aprender para usar la app.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11 · WIREFLOW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Wireflow del happy path, con sus dos decisiones</a:t>
            </a:r>
            <a:endParaRPr lang="en-US" sz="3000" dirty="0"/>
          </a:p>
        </p:txBody>
      </p:sp>
      <p:pic>
        <p:nvPicPr>
          <p:cNvPr id="4" name="Image 0" descr="/home/claude/deck/v/wire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916" y="1417320"/>
            <a:ext cx="1023112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12 · PROTOTIPO FUNCIONAL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Del boceto al prototipo funcional</a:t>
            </a:r>
            <a:endParaRPr lang="en-US" sz="3000" dirty="0"/>
          </a:p>
        </p:txBody>
      </p:sp>
      <p:pic>
        <p:nvPicPr>
          <p:cNvPr id="4" name="Image 0" descr="/home/claude/deck/v/sk_inic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20747"/>
            <a:ext cx="1481328" cy="27651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76072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5068"/>
                </a:solidFill>
              </a:rPr>
              <a:t>Boceto</a:t>
            </a:r>
            <a:endParaRPr lang="en-US" sz="1200" dirty="0"/>
          </a:p>
        </p:txBody>
      </p:sp>
      <p:pic>
        <p:nvPicPr>
          <p:cNvPr id="6" name="Image 1" descr="/home/claude/deck/v/lo_inic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301868"/>
            <a:ext cx="1481328" cy="280290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48840" y="576072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5068"/>
                </a:solidFill>
              </a:rPr>
              <a:t>Wireframe</a:t>
            </a:r>
            <a:endParaRPr lang="en-US" sz="1200" dirty="0"/>
          </a:p>
        </p:txBody>
      </p:sp>
      <p:pic>
        <p:nvPicPr>
          <p:cNvPr id="8" name="Image 2" descr="/home/claude/deck/v/pa_inici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2301868"/>
            <a:ext cx="1481328" cy="280290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749040" y="576072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5068"/>
                </a:solidFill>
              </a:rPr>
              <a:t>Patrones</a:t>
            </a:r>
            <a:endParaRPr lang="en-US" sz="1200" dirty="0"/>
          </a:p>
        </p:txBody>
      </p:sp>
      <p:sp>
        <p:nvSpPr>
          <p:cNvPr id="10" name="Shape 5"/>
          <p:cNvSpPr/>
          <p:nvPr/>
        </p:nvSpPr>
        <p:spPr>
          <a:xfrm>
            <a:off x="5385816" y="2002536"/>
            <a:ext cx="1609712" cy="3355848"/>
          </a:xfrm>
          <a:prstGeom prst="roundRect">
            <a:avLst>
              <a:gd name="adj" fmla="val 9089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1" name="Image 3" descr="/home/claude/deck/assets/img/11_inici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2057400"/>
            <a:ext cx="1499984" cy="32461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349240" y="576072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5068"/>
                </a:solidFill>
              </a:rPr>
              <a:t>Alta fidelidad</a:t>
            </a:r>
            <a:endParaRPr lang="en-US" sz="1200" dirty="0"/>
          </a:p>
        </p:txBody>
      </p:sp>
      <p:pic>
        <p:nvPicPr>
          <p:cNvPr id="13" name="Image 4" descr="/home/claude/deck/assets/img/d_inici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7496" y="1691640"/>
            <a:ext cx="4242816" cy="265176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7086600" y="4416552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68"/>
                </a:solidFill>
              </a:rPr>
              <a:t>La misma app en escritorio: panel lateral, dos columnas, GSAP, Chart.js y confetti en los logros.</a:t>
            </a:r>
            <a:endParaRPr lang="en-US" sz="1150" dirty="0"/>
          </a:p>
        </p:txBody>
      </p:sp>
      <p:sp>
        <p:nvSpPr>
          <p:cNvPr id="15" name="Shape 8"/>
          <p:cNvSpPr/>
          <p:nvPr/>
        </p:nvSpPr>
        <p:spPr>
          <a:xfrm>
            <a:off x="7086600" y="5074920"/>
            <a:ext cx="4553712" cy="1143000"/>
          </a:xfrm>
          <a:prstGeom prst="roundRect">
            <a:avLst>
              <a:gd name="adj" fmla="val 9600"/>
            </a:avLst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7296912" y="517550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BBFF"/>
                </a:solidFill>
              </a:rPr>
              <a:t>LINK AL PROTOTIPO</a:t>
            </a:r>
            <a:endParaRPr lang="en-US" sz="1100" dirty="0"/>
          </a:p>
        </p:txBody>
      </p:sp>
      <p:sp>
        <p:nvSpPr>
          <p:cNvPr id="17" name="Text 10">
            <a:hlinkClick r:id="rId6" tooltip=""/>
          </p:cNvPr>
          <p:cNvSpPr txBox="1"/>
          <p:nvPr/>
        </p:nvSpPr>
        <p:spPr>
          <a:xfrm>
            <a:off x="7296912" y="546811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FFFFFF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ux-final-lemon.vercel.app</a:t>
            </a:r>
            <a:endParaRPr lang="en-US" sz="1800" dirty="0"/>
          </a:p>
        </p:txBody>
      </p:sp>
      <p:sp>
        <p:nvSpPr>
          <p:cNvPr id="18" name="Text 11"/>
          <p:cNvSpPr txBox="1"/>
          <p:nvPr/>
        </p:nvSpPr>
        <p:spPr>
          <a:xfrm>
            <a:off x="7296912" y="58338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CE1FF"/>
                </a:solidFill>
              </a:rPr>
              <a:t>Funciona en el celular y en la compu, con datos de prueba.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12 · PROTOTIPO FUNCIONAL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Happy path en alta fidelidad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3504" y="1819656"/>
            <a:ext cx="1356194" cy="2807208"/>
          </a:xfrm>
          <a:prstGeom prst="roundRect">
            <a:avLst>
              <a:gd name="adj" fmla="val 10788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5" name="Image 0" descr="/home/claude/deck/assets/img/04_regist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74520"/>
            <a:ext cx="1246466" cy="2697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84048" y="4681728"/>
            <a:ext cx="1795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Registrarse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002536" y="1819656"/>
            <a:ext cx="1356194" cy="2807208"/>
          </a:xfrm>
          <a:prstGeom prst="roundRect">
            <a:avLst>
              <a:gd name="adj" fmla="val 10788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8" name="Image 1" descr="/home/claude/deck/assets/img/06_diagnosti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874520"/>
            <a:ext cx="1246466" cy="26974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83080" y="4681728"/>
            <a:ext cx="1795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Diagnóstico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401568" y="1819656"/>
            <a:ext cx="1356194" cy="2807208"/>
          </a:xfrm>
          <a:prstGeom prst="roundRect">
            <a:avLst>
              <a:gd name="adj" fmla="val 10788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1" name="Image 2" descr="/home/claude/deck/assets/img/10_plan_list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432" y="1874520"/>
            <a:ext cx="1246466" cy="26974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82112" y="4681728"/>
            <a:ext cx="1795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Plan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4800600" y="1819656"/>
            <a:ext cx="1356194" cy="2807208"/>
          </a:xfrm>
          <a:prstGeom prst="roundRect">
            <a:avLst>
              <a:gd name="adj" fmla="val 10788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4" name="Image 3" descr="/home/claude/deck/assets/img/11_inici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464" y="1874520"/>
            <a:ext cx="1246466" cy="26974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581144" y="4681728"/>
            <a:ext cx="1795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HOME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6199632" y="1819656"/>
            <a:ext cx="1356194" cy="2807208"/>
          </a:xfrm>
          <a:prstGeom prst="roundRect">
            <a:avLst>
              <a:gd name="adj" fmla="val 10788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7" name="Image 4" descr="/home/claude/deck/assets/img/14_sesion_activ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6" y="1874520"/>
            <a:ext cx="1246466" cy="269748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5980176" y="4681728"/>
            <a:ext cx="1795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Sesión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7598664" y="1819656"/>
            <a:ext cx="1356194" cy="2807208"/>
          </a:xfrm>
          <a:prstGeom prst="roundRect">
            <a:avLst>
              <a:gd name="adj" fmla="val 10788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20" name="Image 5" descr="/home/claude/deck/assets/img/15_pregunta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53528" y="1874520"/>
            <a:ext cx="1246466" cy="269748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379208" y="4681728"/>
            <a:ext cx="1795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Preguntas</a:t>
            </a:r>
            <a:endParaRPr lang="en-US" sz="1100" dirty="0"/>
          </a:p>
        </p:txBody>
      </p:sp>
      <p:sp>
        <p:nvSpPr>
          <p:cNvPr id="22" name="Shape 14"/>
          <p:cNvSpPr/>
          <p:nvPr/>
        </p:nvSpPr>
        <p:spPr>
          <a:xfrm>
            <a:off x="8997696" y="1819656"/>
            <a:ext cx="1356194" cy="2807208"/>
          </a:xfrm>
          <a:prstGeom prst="roundRect">
            <a:avLst>
              <a:gd name="adj" fmla="val 10788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23" name="Image 6" descr="/home/claude/deck/assets/img/17_quiz_pregunt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2560" y="1874520"/>
            <a:ext cx="1246466" cy="269748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8778240" y="4681728"/>
            <a:ext cx="1795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Quiz</a:t>
            </a:r>
            <a:endParaRPr lang="en-US" sz="1100" dirty="0"/>
          </a:p>
        </p:txBody>
      </p:sp>
      <p:sp>
        <p:nvSpPr>
          <p:cNvPr id="25" name="Shape 16"/>
          <p:cNvSpPr/>
          <p:nvPr/>
        </p:nvSpPr>
        <p:spPr>
          <a:xfrm>
            <a:off x="10396728" y="1819656"/>
            <a:ext cx="1356194" cy="2807208"/>
          </a:xfrm>
          <a:prstGeom prst="roundRect">
            <a:avLst>
              <a:gd name="adj" fmla="val 10788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26" name="Image 7" descr="/home/claude/deck/assets/img/21_progres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51592" y="1874520"/>
            <a:ext cx="1246466" cy="2697480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10177272" y="4681728"/>
            <a:ext cx="1795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Progreso</a:t>
            </a:r>
            <a:endParaRPr lang="en-US" sz="1100" dirty="0"/>
          </a:p>
        </p:txBody>
      </p:sp>
      <p:sp>
        <p:nvSpPr>
          <p:cNvPr id="28" name="Text 18"/>
          <p:cNvSpPr txBox="1"/>
          <p:nvPr/>
        </p:nvSpPr>
        <p:spPr>
          <a:xfrm>
            <a:off x="548640" y="52578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7B0"/>
                </a:solidFill>
              </a:rPr>
              <a:t>Registrarse → Diagnóstico → Plan → HOME → Sesión → Preguntas → Quiz → Progreso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PRUEBAS DE USABILIDAD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Plan de la prueba: 5 usuarios, 5 tareas, 5 al 9 de octubre de 2026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754880" cy="1600200"/>
          </a:xfrm>
          <a:prstGeom prst="roundRect">
            <a:avLst>
              <a:gd name="adj" fmla="val 6857"/>
            </a:avLst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737360"/>
            <a:ext cx="4389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FFFFF"/>
                </a:solidFill>
              </a:rPr>
              <a:t>«Empezaste primer año y en tres semanas tenés el parcial de Análisis Matemático I. Un compañero te pasó esta app: creá tu cuenta, armá tu plan y estudiá la primera sesión.»</a:t>
            </a:r>
            <a:endParaRPr lang="en-US" sz="12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47548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02920"/>
                <a:gridCol w="2103120"/>
                <a:gridCol w="7772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1B2E"/>
                          </a:solidFill>
                        </a:rPr>
                        <a:t>Usuario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1B2E"/>
                          </a:solidFill>
                        </a:rPr>
                        <a:t>Edad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1B2E"/>
                          </a:solidFill>
                        </a:rPr>
                        <a:t>Carrera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1B2E"/>
                          </a:solidFill>
                        </a:rPr>
                        <a:t>Persona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U1 · Julieta M.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19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Ing. en Sistemas, 1.º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Tomás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U2 · Nicolás P.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18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Ing. Industrial, 1.º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Tomás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U3 · Florencia G.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20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Ing. Civil, 1.º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Tomás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U4 · Ramiro L.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23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Contador Público, 2.º · trabaja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Camila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U5 · Milagros S.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19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Ing. Química, 1.º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Tomás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4406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68"/>
                </a:solidFill>
              </a:rPr>
              <a:t>Guion: introducción («probamos la app, no a vos»), 4 preguntas antes, tareas pensando en voz alta, 5 preguntas después y formulario de satisfacción.</a:t>
            </a:r>
            <a:endParaRPr lang="en-US" sz="1150" dirty="0"/>
          </a:p>
        </p:txBody>
      </p:sp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32120" y="1645920"/>
          <a:ext cx="610819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2377440"/>
                <a:gridCol w="1920240"/>
                <a:gridCol w="667512"/>
                <a:gridCol w="758952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1B2E"/>
                          </a:solidFill>
                        </a:rPr>
                        <a:t>Tarea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1B2E"/>
                          </a:solidFill>
                        </a:rPr>
                        <a:t>Criterio de éxito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1B2E"/>
                          </a:solidFill>
                        </a:rPr>
                        <a:t>Pasos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1B2E"/>
                          </a:solidFill>
                        </a:rPr>
                        <a:t>Tiempo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T1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Crear una cuenta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Llega al diagnóstico con la cuenta creada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7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60 s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T2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Completar el diagnóstico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Ve su perfil de estudio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120 s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T3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Cargar Análisis Matemático I con 4 unidades y generar el plan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Llega a «Tu plan está listo»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12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180 s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T4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Hacer la sesión de hoy y escribir dos preguntas al terminar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Guarda 2 preguntas y ve el cierre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7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90 s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T5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Repasar las preguntas y averiguar si la unidad quedó dominada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Encuentra el estado de la unidad en Progreso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75 s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532120" y="5760720"/>
            <a:ext cx="6108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189"/>
                </a:solidFill>
              </a:rPr>
              <a:t>Las planillas de registro de cada usuario (éxito, pasos, tiempo, problemas y observaciones) están en el informe.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PRUEBAS DE USABILIDAD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Resultados: eficacia 92 %, tiempo, pasos y satisfacción</a:t>
            </a:r>
            <a:endParaRPr lang="en-US" sz="3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30936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77240"/>
                <a:gridCol w="822960"/>
                <a:gridCol w="777240"/>
                <a:gridCol w="731520"/>
                <a:gridCol w="7772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Tarea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Eficacia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Tiempo prom.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Esperado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Pasos prom.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Óptimo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1B2E"/>
                          </a:solidFill>
                        </a:rPr>
                        <a:t>T1 · Crear una cuenta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100 %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63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60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7.6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1B2E"/>
                          </a:solidFill>
                        </a:rPr>
                        <a:t>T2 · Completar el diagnóstico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100 %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100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120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8.2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1B2E"/>
                          </a:solidFill>
                        </a:rPr>
                        <a:t>T3 · Cargar Análisis Matemático I con 4 unidades y generar el plan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100 %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185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180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13.2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1B2E"/>
                          </a:solidFill>
                        </a:rPr>
                        <a:t>T4 · Hacer la sesión de hoy y escribir dos preguntas al terminar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80 %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99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90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8.4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1B2E"/>
                          </a:solidFill>
                        </a:rPr>
                        <a:t>T5 · Repasar las preguntas y averiguar si la unidad quedó dominada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80 %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114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75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9.2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98348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68"/>
                </a:solidFill>
              </a:rPr>
              <a:t>T4 y T5 son las únicas con fallas y las que más se alejan del tiempo y los pasos esperados: escribir preguntas y encontrar si la unidad quedó dominada.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086600" y="1600200"/>
          <a:ext cx="4553712" cy="4617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PRUEBAS DE USABILIDAD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Qué funcionó, qué no y qué cambiamos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E3FBEF"/>
          </a:solidFill>
          <a:ln w="12700">
            <a:solidFill>
              <a:srgbClr val="BFEE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8288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C49"/>
                </a:solidFill>
              </a:rPr>
              <a:t>QUÉ FUNCIONÓ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32004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31B2E"/>
                </a:solidFill>
              </a:rPr>
              <a:t>Registro y diagnóstico: 100 % de eficacia.</a:t>
            </a:r>
            <a:endParaRPr lang="en-US" sz="1500" dirty="0"/>
          </a:p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31B2E"/>
                </a:solidFill>
              </a:rPr>
              <a:t>El plan se entendió sin explicación.</a:t>
            </a:r>
            <a:endParaRPr lang="en-US" sz="1500" dirty="0"/>
          </a:p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31B2E"/>
                </a:solidFill>
              </a:rPr>
              <a:t>4 de 5 aceptaron la técnica propuesta.</a:t>
            </a:r>
            <a:endParaRPr lang="en-US" sz="1500" dirty="0"/>
          </a:p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31B2E"/>
                </a:solidFill>
              </a:rPr>
              <a:t>Diseño: 100 % le puso 4 o 5.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69164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ECEB"/>
          </a:solidFill>
          <a:ln w="12700">
            <a:solidFill>
              <a:srgbClr val="F7C9C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98848" y="18288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A1A1A"/>
                </a:solidFill>
              </a:rPr>
              <a:t>QUÉ NO FUNCIONÓ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98848" y="2240280"/>
            <a:ext cx="32004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31B2E"/>
                </a:solidFill>
              </a:rPr>
              <a:t>Progreso estaba escondido en Perfil: 1 abandono.</a:t>
            </a:r>
            <a:endParaRPr lang="en-US" sz="1500" dirty="0"/>
          </a:p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31B2E"/>
                </a:solidFill>
              </a:rPr>
              <a:t>Leído y dominado se confundían (40 %).</a:t>
            </a:r>
            <a:endParaRPr lang="en-US" sz="1500" dirty="0"/>
          </a:p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31B2E"/>
                </a:solidFill>
              </a:rPr>
              <a:t>Hoja en blanco al escribir preguntas.</a:t>
            </a:r>
            <a:endParaRPr lang="en-US" sz="1500" dirty="0"/>
          </a:p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31B2E"/>
                </a:solidFill>
              </a:rPr>
              <a:t>Botones chicos o fuera de la vista.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691640"/>
            <a:ext cx="3593592" cy="4526280"/>
          </a:xfrm>
          <a:prstGeom prst="roundRect">
            <a:avLst>
              <a:gd name="adj" fmla="val 3053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47888" y="18288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37B0"/>
                </a:solidFill>
              </a:rPr>
              <a:t>RECOMENDACIONES APLICADAS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47888" y="2240280"/>
            <a:ext cx="32461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31B2E"/>
                </a:solidFill>
              </a:rPr>
              <a:t>Progreso como 5.º destino de la navegación.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31B2E"/>
                </a:solidFill>
              </a:rPr>
              <a:t>Hoja de ayuda sobre los tres estados.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31B2E"/>
                </a:solidFill>
              </a:rPr>
              <a:t>Chips disparadores para escribir preguntas.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31B2E"/>
                </a:solidFill>
              </a:rPr>
              <a:t>Aviso al omitir las preguntas.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31B2E"/>
                </a:solidFill>
              </a:rPr>
              <a:t>«Empezar sesión» de ancho completo.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31B2E"/>
                </a:solidFill>
              </a:rPr>
              <a:t>«Agregar unidad» siempre visible.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31B2E"/>
                </a:solidFill>
              </a:rPr>
              <a:t>Mostrar contraseña.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31B2E"/>
                </a:solidFill>
              </a:rPr>
              <a:t>Descartada: elegir la técnica, porque contradice la premisa.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85800"/>
            <a:ext cx="64008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60020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¡Gracias!</a:t>
            </a:r>
            <a:endParaRPr lang="en-US" sz="52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2697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CF8BB"/>
                </a:solidFill>
              </a:rPr>
              <a:t>Qué nos llevamos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310896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EF1FF"/>
                </a:solidFill>
              </a:rPr>
              <a:t>Diseñar sobre evidencia: el 53 % convirtió una agenda en una herramienta de autoevaluación.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EF1FF"/>
                </a:solidFill>
              </a:rPr>
              <a:t>Validar con usuarios: el card sorting definió la navegación y las pruebas encontraron lo que no veíamos.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EF1FF"/>
                </a:solidFill>
              </a:rPr>
              <a:t>Iterar rápido: 7 de 8 recomendaciones ya están en el prototipo.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53492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BFF"/>
                </a:solidFill>
              </a:rPr>
              <a:t>Alvarez, Joaquín · Dallape, Vincenzo · Flores, Martín · Lovos, David · Ortiz, Renzo · Podesta, Isidro · Saini, Alejo</a:t>
            </a:r>
            <a:endParaRPr lang="en-US" sz="1200" dirty="0"/>
          </a:p>
        </p:txBody>
      </p:sp>
      <p:sp>
        <p:nvSpPr>
          <p:cNvPr id="7" name="Text 4">
            <a:hlinkClick r:id="rId2" tooltip=""/>
          </p:cNvPr>
          <p:cNvSpPr txBox="1"/>
          <p:nvPr/>
        </p:nvSpPr>
        <p:spPr>
          <a:xfrm>
            <a:off x="685800" y="58978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6CF8B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Prototipo: ux-final-lemon.vercel.app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002A8A"/>
          </a:solidFill>
          <a:ln w="12700">
            <a:solidFill>
              <a:srgbClr val="002A8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03336" y="630936"/>
            <a:ext cx="2644913" cy="5596128"/>
          </a:xfrm>
          <a:prstGeom prst="roundRect">
            <a:avLst>
              <a:gd name="adj" fmla="val 5532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0" name="Image 1" descr="/home/claude/deck/assets/img/21_progres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685800"/>
            <a:ext cx="2535185" cy="5486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sesor de Estudio">
  <a:themeElements>
    <a:clrScheme name="Asesor de Estudio">
      <a:dk1>
        <a:srgbClr val="131B2E"/>
      </a:dk1>
      <a:lt1>
        <a:srgbClr val="FFFFFF"/>
      </a:lt1>
      <a:dk2>
        <a:srgbClr val="0037B0"/>
      </a:dk2>
      <a:lt2>
        <a:srgbClr val="F3F4F9"/>
      </a:lt2>
      <a:accent1>
        <a:srgbClr val="1D4ED8"/>
      </a:accent1>
      <a:accent2>
        <a:srgbClr val="006C49"/>
      </a:accent2>
      <a:accent3>
        <a:srgbClr val="825100"/>
      </a:accent3>
      <a:accent4>
        <a:srgbClr val="BA1A1A"/>
      </a:accent4>
      <a:accent5>
        <a:srgbClr val="6CF8BB"/>
      </a:accent5>
      <a:accent6>
        <a:srgbClr val="FFDDB8"/>
      </a:accent6>
      <a:hlink>
        <a:srgbClr val="1D4ED8"/>
      </a:hlink>
      <a:folHlink>
        <a:srgbClr val="4A5068"/>
      </a:folHlink>
    </a:clrScheme>
    <a:fontScheme name="Asesor de Estudi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UTN Facultad Regional Mendoza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Asesor de Estudio — Proyecto final Diseño UX-UI 2026</dc:title>
  <dc:subject>Proyecto final de Diseño UX-UI</dc:subject>
  <dc:creator>Grupo C «Figma locos»</dc:creator>
  <cp:lastModifiedBy>Grupo C «Figma locos»</cp:lastModifiedBy>
  <cp:revision>1</cp:revision>
  <dcterms:created xsi:type="dcterms:W3CDTF">2026-10-15T15:44:40Z</dcterms:created>
  <dcterms:modified xsi:type="dcterms:W3CDTF">2026-10-15T15:44:40Z</dcterms:modified>
</cp:coreProperties>
</file>