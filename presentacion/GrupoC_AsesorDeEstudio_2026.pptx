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charts/chart6.xml" ContentType="application/vnd.openxmlformats-officedocument.drawingml.chart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charts/chart7.xml" ContentType="application/vnd.openxmlformats-officedocument.drawingml.chart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charts/chart8.xml" ContentType="application/vnd.openxmlformats-officedocument.drawingml.chart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charts/chart9.xml" ContentType="application/vnd.openxmlformats-officedocument.drawingml.chart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notesMasterIdLst>
    <p:notesMasterId r:id="rId7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dc0b07fe-0436-949b-cbf2-3ee869c14041}">
          <p14:sldIdLst>
            <p14:sldId id="256"/>
          </p14:sldIdLst>
        </p14:section>
        <p14:section name="Índice" id="{d0447f65-292b-c2dd-df11-a90b999d0864}">
          <p14:sldIdLst>
            <p14:sldId id="257"/>
            <p14:sldId id="258"/>
          </p14:sldIdLst>
        </p14:section>
        <p14:section name="01 · Planteamiento y research" id="{b132b219-145c-86fb-0106-f1143ae65ec9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02 · Benchmarking" id="{a17fd351-a342-35e8-f36d-3be2ed555cd7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03 · Mapa de empatía" id="{4eac9a56-2853-3ff5-34bd-bb7afdb0caa3}">
          <p14:sldIdLst>
            <p14:sldId id="277"/>
            <p14:sldId id="278"/>
            <p14:sldId id="279"/>
          </p14:sldIdLst>
        </p14:section>
        <p14:section name="04 · User persona" id="{ac3ce987-a0a4-39a2-36aa-a335790fa74d}">
          <p14:sldIdLst>
            <p14:sldId id="280"/>
            <p14:sldId id="281"/>
            <p14:sldId id="282"/>
            <p14:sldId id="283"/>
            <p14:sldId id="284"/>
          </p14:sldIdLst>
        </p14:section>
        <p14:section name="05 · POV, storytelling y storyboard" id="{66999479-f09e-4b6b-ecb7-ac8db1cbd049}">
          <p14:sldIdLst>
            <p14:sldId id="285"/>
            <p14:sldId id="286"/>
            <p14:sldId id="287"/>
            <p14:sldId id="288"/>
          </p14:sldIdLst>
        </p14:section>
        <p14:section name="06 · MVP" id="{85c9f296-1ca6-a801-6a4b-dce744b50017}">
          <p14:sldIdLst>
            <p14:sldId id="289"/>
            <p14:sldId id="290"/>
            <p14:sldId id="291"/>
          </p14:sldIdLst>
        </p14:section>
        <p14:section name="07 · Arquitectura de la información" id="{7f2aa50f-f1be-045d-9171-b97740ccaa79}">
          <p14:sldIdLst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08 · Mapa de sitio" id="{3de14985-75a0-c2c4-4efc-e6882d03bee9}">
          <p14:sldIdLst>
            <p14:sldId id="299"/>
            <p14:sldId id="300"/>
          </p14:sldIdLst>
        </p14:section>
        <p14:section name="09 · Wireframes" id="{dfe4cee9-296c-81f6-9850-8ec3078a3746}">
          <p14:sldIdLst>
            <p14:sldId id="301"/>
            <p14:sldId id="302"/>
            <p14:sldId id="303"/>
            <p14:sldId id="304"/>
            <p14:sldId id="305"/>
          </p14:sldIdLst>
        </p14:section>
        <p14:section name="10 · Patrones de diseño" id="{26b0f0b1-5823-6803-1b47-781ea5f0992a}">
          <p14:sldIdLst>
            <p14:sldId id="306"/>
            <p14:sldId id="307"/>
            <p14:sldId id="308"/>
          </p14:sldIdLst>
        </p14:section>
        <p14:section name="11 · Wireflow" id="{d0d6f1f6-e367-6f11-0996-b1aebbe1f4dd}">
          <p14:sldIdLst>
            <p14:sldId id="309"/>
            <p14:sldId id="310"/>
          </p14:sldIdLst>
        </p14:section>
        <p14:section name="12 · Prototipo funcional" id="{f1c74c6d-093c-f877-6960-d6e10a7d4103}">
          <p14:sldIdLst>
            <p14:sldId id="311"/>
            <p14:sldId id="312"/>
            <p14:sldId id="313"/>
            <p14:sldId id="314"/>
            <p14:sldId id="315"/>
            <p14:sldId id="316"/>
          </p14:sldIdLst>
        </p14:section>
        <p14:section name="13 · Pruebas de usabilidad" id="{dac0a643-a239-4d1a-a3c7-fdeb41ee53dd}">
          <p14:sldIdLst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</p14:sldIdLst>
        </p14:section>
        <p14:section name="Cierre" id="{b1b0d9c3-dd5e-4474-e2c0-346669897a6d}">
          <p14:sldIdLst>
            <p14:sldId id="331"/>
            <p14:sldId id="33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1B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1B2E"/>
                </a:solidFill>
                <a:latin typeface="+mn-lt"/>
              </a:rPr>
              <a:t>P3 · ¿Qué hacés cuando estudiás para un parcial? (opción múltiple)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Estudiantes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Releer el apunte</c:v>
                  </c:pt>
                  <c:pt idx="1">
                    <c:v>Subrayar</c:v>
                  </c:pt>
                  <c:pt idx="2">
                    <c:v>Hacer resúmenes</c:v>
                  </c:pt>
                  <c:pt idx="3">
                    <c:v>Resolver ejercicios</c:v>
                  </c:pt>
                  <c:pt idx="4">
                    <c:v>Ver videos</c:v>
                  </c:pt>
                  <c:pt idx="5">
                    <c:v>Explicárselo a otro</c:v>
                  </c:pt>
                  <c:pt idx="6">
                    <c:v>Autoevaluarse con preguntas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</c:v>
                </c:pt>
                <c:pt idx="1">
                  <c:v>71</c:v>
                </c:pt>
                <c:pt idx="2">
                  <c:v>62</c:v>
                </c:pt>
                <c:pt idx="3">
                  <c:v>38</c:v>
                </c:pt>
                <c:pt idx="4">
                  <c:v>32</c:v>
                </c:pt>
                <c:pt idx="5">
                  <c:v>24</c:v>
                </c:pt>
                <c:pt idx="6">
                  <c:v>18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3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0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1B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1B2E"/>
                </a:solidFill>
                <a:latin typeface="+mn-lt"/>
              </a:rPr>
              <a:t>P6 · ¿Cómo te das cuenta de que entendiste un tema?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Estudiantes</c:v>
                </c:pt>
              </c:strCache>
            </c:strRef>
          </c:tx>
          <c:spPr>
            <a:solidFill>
              <a:srgbClr val="82510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Porque leí todo el material</c:v>
                  </c:pt>
                  <c:pt idx="1">
                    <c:v>Resolviendo ejercicios</c:v>
                  </c:pt>
                  <c:pt idx="2">
                    <c:v>Explicándoselo a alguien</c:v>
                  </c:pt>
                  <c:pt idx="3">
                    <c:v>No lo sé hasta que rindo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26</c:v>
                </c:pt>
                <c:pt idx="2">
                  <c:v>12</c:v>
                </c:pt>
                <c:pt idx="3">
                  <c:v>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3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0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1B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1B2E"/>
                </a:solidFill>
                <a:latin typeface="+mn-lt"/>
              </a:rPr>
              <a:t>P7 · ¿Rendiste mal aunque habías estudiado?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Estudiantes</c:v>
                </c:pt>
              </c:strCache>
            </c:strRef>
          </c:tx>
          <c:spPr>
            <a:solidFill>
              <a:srgbClr val="BA1A1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Sí, varias veces</c:v>
                  </c:pt>
                  <c:pt idx="1">
                    <c:v>Alguna vez</c:v>
                  </c:pt>
                  <c:pt idx="2">
                    <c:v>No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26</c:v>
                </c:pt>
                <c:pt idx="2">
                  <c:v>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3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0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1B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1B2E"/>
                </a:solidFill>
                <a:latin typeface="+mn-lt"/>
              </a:rPr>
              <a:t>P10 · ¿Cuánto tiempo configurarías una app?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Estudiantes</c:v>
                </c:pt>
              </c:strCache>
            </c:strRef>
          </c:tx>
          <c:spPr>
            <a:solidFill>
              <a:srgbClr val="006C4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Menos de 5 min</c:v>
                  </c:pt>
                  <c:pt idx="1">
                    <c:v>Entre 5 y 15 min</c:v>
                  </c:pt>
                  <c:pt idx="2">
                    <c:v>Más de 15 min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</c:v>
                </c:pt>
                <c:pt idx="1">
                  <c:v>35</c:v>
                </c:pt>
                <c:pt idx="2">
                  <c:v>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3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0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1B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1B2E"/>
                </a:solidFill>
                <a:latin typeface="+mn-lt"/>
              </a:rPr>
              <a:t>P9 · ¿Con qué organizás tu estudio?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Estudiantes</c:v>
                </c:pt>
              </c:strCache>
            </c:strRef>
          </c:tx>
          <c:spPr>
            <a:solidFill>
              <a:srgbClr val="6B718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Notas del celular</c:v>
                  </c:pt>
                  <c:pt idx="1">
                    <c:v>WhatsApp de la materia</c:v>
                  </c:pt>
                  <c:pt idx="2">
                    <c:v>Agenda de papel</c:v>
                  </c:pt>
                  <c:pt idx="3">
                    <c:v>Nada / de memoria</c:v>
                  </c:pt>
                  <c:pt idx="4">
                    <c:v>Google Calendar</c:v>
                  </c:pt>
                  <c:pt idx="5">
                    <c:v>App de estudio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</c:v>
                </c:pt>
                <c:pt idx="1">
                  <c:v>65</c:v>
                </c:pt>
                <c:pt idx="2">
                  <c:v>56</c:v>
                </c:pt>
                <c:pt idx="3">
                  <c:v>26</c:v>
                </c:pt>
                <c:pt idx="4">
                  <c:v>24</c:v>
                </c:pt>
                <c:pt idx="5">
                  <c:v>18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3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0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1B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1B2E"/>
                </a:solidFill>
                <a:latin typeface="+mn-lt"/>
              </a:rPr>
              <a:t>Porcentaje de usuarios que completó cada tarea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Eficacia</c:v>
                </c:pt>
              </c:strCache>
            </c:strRef>
          </c:tx>
          <c:spPr>
            <a:solidFill>
              <a:srgbClr val="006C4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3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80</c:v>
                </c:pt>
                <c:pt idx="4">
                  <c:v>80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3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0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1B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1B2E"/>
                </a:solidFill>
                <a:latin typeface="+mn-lt"/>
              </a:rPr>
              <a:t>Tiempo promedio por tarea vs. tiempo esperado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Promedio real (s)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3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</c:v>
                </c:pt>
                <c:pt idx="1">
                  <c:v>100</c:v>
                </c:pt>
                <c:pt idx="2">
                  <c:v>185</c:v>
                </c:pt>
                <c:pt idx="3">
                  <c:v>99</c:v>
                </c:pt>
                <c:pt idx="4">
                  <c:v>114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Esperado (s)</c:v>
                </c:pt>
              </c:strCache>
            </c:strRef>
          </c:tx>
          <c:spPr>
            <a:solidFill>
              <a:srgbClr val="B8C2E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3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</c:v>
                </c:pt>
                <c:pt idx="1">
                  <c:v>120</c:v>
                </c:pt>
                <c:pt idx="2">
                  <c:v>180</c:v>
                </c:pt>
                <c:pt idx="3">
                  <c:v>90</c:v>
                </c:pt>
                <c:pt idx="4">
                  <c:v>75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100" u="none">
                  <a:solidFill>
                    <a:srgbClr val="13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0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1B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1B2E"/>
                </a:solidFill>
                <a:latin typeface="+mn-lt"/>
              </a:rPr>
              <a:t>Pasos promedio por tarea vs. camino óptimo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Pasos promedio</c:v>
                </c:pt>
              </c:strCache>
            </c:strRef>
          </c:tx>
          <c:spPr>
            <a:solidFill>
              <a:srgbClr val="8251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3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7.6</c:v>
                </c:pt>
                <c:pt idx="1">
                  <c:v>8.2</c:v>
                </c:pt>
                <c:pt idx="2">
                  <c:v>13.2</c:v>
                </c:pt>
                <c:pt idx="3">
                  <c:v>8.4</c:v>
                </c:pt>
                <c:pt idx="4">
                  <c:v>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Pasos óptimos</c:v>
                </c:pt>
              </c:strCache>
            </c:strRef>
          </c:tx>
          <c:spPr>
            <a:solidFill>
              <a:srgbClr val="E8D3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3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</c:v>
                </c:pt>
                <c:pt idx="1">
                  <c:v>8</c:v>
                </c:pt>
                <c:pt idx="2">
                  <c:v>12</c:v>
                </c:pt>
                <c:pt idx="3">
                  <c:v>7</c:v>
                </c:pt>
                <c:pt idx="4">
                  <c:v>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100" u="none">
                  <a:solidFill>
                    <a:srgbClr val="13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0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31B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31B2E"/>
                </a:solidFill>
                <a:latin typeface="+mn-lt"/>
              </a:rPr>
              <a:t>% de usuarios que respondió 4 o 5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Satisfacción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31B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El diseño me resultó claro y agradable</c:v>
                  </c:pt>
                  <c:pt idx="1">
                    <c:v>Fue fácil crear la cuenta</c:v>
                  </c:pt>
                  <c:pt idx="2">
                    <c:v>El diagnóstico fue corto y claro</c:v>
                  </c:pt>
                  <c:pt idx="3">
                    <c:v>Recomendaría la app a un compañero</c:v>
                  </c:pt>
                  <c:pt idx="4">
                    <c:v>Entendí por qué me asignó cada técnica</c:v>
                  </c:pt>
                  <c:pt idx="5">
                    <c:v>Escribir mis preguntas fue fácil</c:v>
                  </c:pt>
                  <c:pt idx="6">
                    <c:v>Encontré fácilmente mi progreso</c:v>
                  </c:pt>
                  <c:pt idx="7">
                    <c:v>Entendí la diferencia entre leído y dominado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60</c:v>
                </c:pt>
                <c:pt idx="6">
                  <c:v>40</c:v>
                </c:pt>
                <c:pt idx="7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31B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0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equipo y del proyecto. Asesor de Estudio es una app móvil que ayuda al estudiante de primer año a construir un método de estudio: decide qué estudiar, cuándo y con qué técnica, y le permite comprobar si aprendió antes del parcial.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entrar en el proceso, mostramos el producto terminado: cuatro pasos que se repiten durante todo el cuatrimestre.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usuario es el ingresante; el problema no es el esfuerzo sino el método; la solución decide la técnica y comprueba el aprendizaje.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hace el estudiante viene de la secundaria. Funcionaba para contenidos cortos evaluados seguido; no para un programa de doce unidades con dos parciales.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técnicas cualitativas para entender qué hace el estudiante y una cuantitativa para dimensionar 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Base: 34 respuestas válidas de estudiantes de primer y segundo año de UTN FRM, UNCuyo e institutos terciarios de Mendoza.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Síntesis de entrevistas, observación y encuesta. Es la base del mapa de empatía y de las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medios distintos coinciden: la deserción se concentra en el primer año y una causa central es la distancia entre la secundaria y las exigencias académicas.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Publicaciones reales en X (capturas del 15/10/2026). El tono es de humor, pero el contenido coincide con lo que vimos en las entrevistas: maratones de estudio, frustración y falta de ganas.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tres apps que hacen lo mismo que nosotros en algún punto: autoevaluación con tarjetas y, en Vaia, también plan. Relevamiento del 1 al 4 de septiembre de 2026, Google Play Argentina.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proto personas se armaron con supuestos del equipo. Las validamos con 6 entrevistas, 4 observaciones y 34 encuestas, y ajustamos lo que no se sostenía.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Justificación: es el perfil que concentra el problema central (primer año, sin método) y el que define las decisiones del MVP. Se apoya en las preguntas 2, 3, 4, 6 y 7 de la encuesta, las 4 observaciones y las entrevistas E1 a E4.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Justificación: representa al estudiante que trabaja, perfil asociado a la deserción (Musso et al., 2021) y al 32 % de la encuesta. La restricción de tiempo hace inviable un método ineficiente. Basada en E5 y E6 y en las preguntas 5, 9 y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14 al 19 de septiembre de 2026, presencial en la facultad, con tarjetas de papel. Cada participante armó y nombró sus propios grupos. Duración: 12 a 20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Aunque el sorting era abierto, los nombres convergieron en seis grupos. La tabla muestra cómo los llamaron y cuántos participantes armaron cada uno.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una maqueta funcional: todas las pantallas y reglas funcionan, con datos de prueba en memoria y sin servidor ni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Pruebas moderadas, presenciales, del 5 al 9 de octubre de 2026, con el prototipo funcional en un celular Android. Un integrante moderó y otro registró.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T4 y T5 son las únicas con fallas. Las dos tocan el corazón del producto: escribir preguntas y entender cuándo una unidad está dominada.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Escala de 1 a 5. El porcentaje es la proporción de usuarios que respondió 4 o 5. Satisfacción general promedio: 4,2 sobre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recomendaciones de prioridad alta y media ya están implementadas en el prototipo funcional que presentamos.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237744" cy="237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6422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89"/>
                </a:solidFill>
              </a:rPr>
              <a:t>Asesor de Estudio · Grupo C «Figma locos» · Diseño UX-UI 2026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1D4ED8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31B2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">
    <p:bg>
      <p:bgPr>
        <a:solidFill>
          <a:srgbClr val="0037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0"/>
            <a:ext cx="5562295" cy="6858000"/>
          </a:xfrm>
          <a:prstGeom prst="rect">
            <a:avLst/>
          </a:prstGeom>
          <a:solidFill>
            <a:srgbClr val="002A8A"/>
          </a:solidFill>
          <a:ln/>
        </p:spPr>
      </p:sp>
      <p:sp>
        <p:nvSpPr>
          <p:cNvPr id="3" name="Text 1"/>
          <p:cNvSpPr/>
          <p:nvPr/>
        </p:nvSpPr>
        <p:spPr>
          <a:xfrm>
            <a:off x="717804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BBFF"/>
                </a:solidFill>
              </a:rPr>
              <a:t>QUÉ PIDE LA CONSIGNA  ·  DÓNDE ESTÁ</a:t>
            </a:r>
            <a:endParaRPr lang="en-US" sz="12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685800" y="86868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A9BBFF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85800" y="1280160"/>
            <a:ext cx="5577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566928" y="3977640"/>
            <a:ext cx="54864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15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178040" y="1463040"/>
            <a:ext cx="45262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EEF1FF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7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image" Target="../media/image-2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image" Target="../media/image-57-6.png"/><Relationship Id="rId7" Type="http://schemas.openxmlformats.org/officeDocument/2006/relationships/image" Target="../media/image-57-7.png"/><Relationship Id="rId8" Type="http://schemas.openxmlformats.org/officeDocument/2006/relationships/image" Target="../media/image-5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image" Target="../media/image-5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6" Type="http://schemas.openxmlformats.org/officeDocument/2006/relationships/image" Target="../media/image-5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hyperlink" Target="https://asesor-de-estudio-grupo-c.vercel.app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hyperlink" Target="https://asesor-de-estudio-grupo-c.vercel.app" TargetMode="External"/><Relationship Id="rId1" Type="http://schemas.openxmlformats.org/officeDocument/2006/relationships/image" Target="../media/image-77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0"/>
            <a:ext cx="4373575" cy="6858000"/>
          </a:xfrm>
          <a:prstGeom prst="rect">
            <a:avLst/>
          </a:prstGeom>
          <a:solidFill>
            <a:srgbClr val="002A8A"/>
          </a:solidFill>
          <a:ln w="12700">
            <a:solidFill>
              <a:srgbClr val="002A8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7498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BBFF"/>
                </a:solidFill>
              </a:rPr>
              <a:t>PROYECTO FINAL · DISEÑO UX-UI · 2026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00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de Estudio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6060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CE1FF"/>
                </a:solidFill>
              </a:rPr>
              <a:t>Una app que le enseña al estudiante de primer año cómo estudiar, no solo cuándo.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F8BB"/>
                </a:solidFill>
              </a:rPr>
              <a:t>GRUPO C · «FIGMA LOCOS»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Dallape, Vincenzo</a:t>
            </a:r>
            <a:pPr indent="0" marL="0">
              <a:buNone/>
            </a:pPr>
            <a:r>
              <a:rPr lang="en-US" sz="1200" dirty="0">
                <a:solidFill>
                  <a:srgbClr val="A9BBFF"/>
                </a:solidFill>
              </a:rPr>
              <a:t>   Legajo 49996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Flores, Martín</a:t>
            </a:r>
            <a:pPr indent="0" marL="0">
              <a:buNone/>
            </a:pPr>
            <a:r>
              <a:rPr lang="en-US" sz="1200" dirty="0">
                <a:solidFill>
                  <a:srgbClr val="A9BBFF"/>
                </a:solidFill>
              </a:rPr>
              <a:t>   Legajo 48985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416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Lovos, David</a:t>
            </a:r>
            <a:pPr indent="0" marL="0">
              <a:buNone/>
            </a:pPr>
            <a:r>
              <a:rPr lang="en-US" sz="1200" dirty="0">
                <a:solidFill>
                  <a:srgbClr val="A9BBFF"/>
                </a:solidFill>
              </a:rPr>
              <a:t>   Legajo 50072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977640" y="4416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Ortiz, Renzo</a:t>
            </a:r>
            <a:pPr indent="0" marL="0">
              <a:buNone/>
            </a:pPr>
            <a:r>
              <a:rPr lang="en-US" sz="1200" dirty="0">
                <a:solidFill>
                  <a:srgbClr val="A9BBFF"/>
                </a:solidFill>
              </a:rPr>
              <a:t>   Legajo 49067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8554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Podesta, Isidro</a:t>
            </a:r>
            <a:pPr indent="0" marL="0">
              <a:buNone/>
            </a:pPr>
            <a:r>
              <a:rPr lang="en-US" sz="1200" dirty="0">
                <a:solidFill>
                  <a:srgbClr val="A9BBFF"/>
                </a:solidFill>
              </a:rPr>
              <a:t>   Legajo 50223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977640" y="48554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Saini, Alejo</a:t>
            </a:r>
            <a:pPr indent="0" marL="0">
              <a:buNone/>
            </a:pPr>
            <a:r>
              <a:rPr lang="en-US" sz="1200" dirty="0">
                <a:solidFill>
                  <a:srgbClr val="A9BBFF"/>
                </a:solidFill>
              </a:rPr>
              <a:t>   Legajo 50161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5440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1FF"/>
                </a:solidFill>
              </a:rPr>
              <a:t>Profesoras: Andrea Rotella y Carina Rotella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57607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BFF"/>
                </a:solidFill>
              </a:rPr>
              <a:t>Universidad Tecnológica Nacional · Facultad Regional Mendoza · Departamento de Sistemas de Información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403336" y="630936"/>
            <a:ext cx="2644913" cy="5596128"/>
          </a:xfrm>
          <a:prstGeom prst="roundRect">
            <a:avLst>
              <a:gd name="adj" fmla="val 5532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17" name="Image 1" descr="/home/claude/deck/assets/img/11_inic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685800"/>
            <a:ext cx="253518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RECORRIDO DE LA PRESENTACIÓN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Las 13 etapas del proyecto, en el orden de la consigna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93776"/>
          </a:xfrm>
          <a:prstGeom prst="roundRect">
            <a:avLst>
              <a:gd name="adj" fmla="val 22222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56232"/>
            <a:ext cx="347472" cy="347472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8308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Planteamiento y research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78308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189"/>
                </a:solidFill>
              </a:rPr>
              <a:t>EMPATIZAR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86584"/>
            <a:ext cx="539496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459736"/>
            <a:ext cx="347472" cy="347472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38658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Benchmarking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2386584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189"/>
                </a:solidFill>
              </a:rPr>
              <a:t>EMPATIZAR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90088"/>
            <a:ext cx="5394960" cy="493776"/>
          </a:xfrm>
          <a:prstGeom prst="roundRect">
            <a:avLst>
              <a:gd name="adj" fmla="val 22222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063240"/>
            <a:ext cx="347472" cy="347472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99008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Mapa de empatía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2990088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189"/>
                </a:solidFill>
              </a:rPr>
              <a:t>EMPATIZAR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93592"/>
            <a:ext cx="539496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666744"/>
            <a:ext cx="347472" cy="347472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593592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User persona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359359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189"/>
                </a:solidFill>
              </a:rPr>
              <a:t>EMPATIZAR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197096"/>
            <a:ext cx="5394960" cy="493776"/>
          </a:xfrm>
          <a:prstGeom prst="roundRect">
            <a:avLst>
              <a:gd name="adj" fmla="val 22222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270248"/>
            <a:ext cx="347472" cy="347472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4270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19709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POV, storytelling y storyboard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4197096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189"/>
                </a:solidFill>
              </a:rPr>
              <a:t>DEFINIR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800600"/>
            <a:ext cx="539496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873752"/>
            <a:ext cx="347472" cy="347472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480060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MVP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114800" y="480060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189"/>
                </a:solidFill>
              </a:rPr>
              <a:t>DEFINIR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5404104"/>
            <a:ext cx="5394960" cy="493776"/>
          </a:xfrm>
          <a:prstGeom prst="roundRect">
            <a:avLst>
              <a:gd name="adj" fmla="val 22222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5477256"/>
            <a:ext cx="347472" cy="347472"/>
          </a:xfrm>
          <a:prstGeom prst="ellipse">
            <a:avLst/>
          </a:prstGeom>
          <a:solidFill>
            <a:srgbClr val="006C49"/>
          </a:solidFill>
          <a:ln w="12700">
            <a:solidFill>
              <a:srgbClr val="006C4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" y="5477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540410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Arquitectura de la información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114800" y="5404104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189"/>
                </a:solidFill>
              </a:rPr>
              <a:t>IDEAR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1783080"/>
            <a:ext cx="539496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7648" y="1856232"/>
            <a:ext cx="347472" cy="347472"/>
          </a:xfrm>
          <a:prstGeom prst="ellipse">
            <a:avLst/>
          </a:prstGeom>
          <a:solidFill>
            <a:srgbClr val="006C49"/>
          </a:solidFill>
          <a:ln w="12700">
            <a:solidFill>
              <a:srgbClr val="006C4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27648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812280" y="178308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Mapa de sitio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784080" y="178308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189"/>
                </a:solidFill>
              </a:rPr>
              <a:t>IDEAR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2386584"/>
            <a:ext cx="5394960" cy="493776"/>
          </a:xfrm>
          <a:prstGeom prst="roundRect">
            <a:avLst>
              <a:gd name="adj" fmla="val 22222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27648" y="2459736"/>
            <a:ext cx="347472" cy="347472"/>
          </a:xfrm>
          <a:prstGeom prst="ellipse">
            <a:avLst/>
          </a:prstGeom>
          <a:solidFill>
            <a:srgbClr val="006C49"/>
          </a:solidFill>
          <a:ln w="12700">
            <a:solidFill>
              <a:srgbClr val="006C4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327648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812280" y="238658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Wireframes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9784080" y="2386584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189"/>
                </a:solidFill>
              </a:rPr>
              <a:t>IDEAR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17920" y="2990088"/>
            <a:ext cx="539496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27648" y="3063240"/>
            <a:ext cx="347472" cy="347472"/>
          </a:xfrm>
          <a:prstGeom prst="ellipse">
            <a:avLst/>
          </a:prstGeom>
          <a:solidFill>
            <a:srgbClr val="006C49"/>
          </a:solidFill>
          <a:ln w="12700">
            <a:solidFill>
              <a:srgbClr val="006C49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27648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812280" y="299008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Patrones de diseño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9784080" y="2990088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189"/>
                </a:solidFill>
              </a:rPr>
              <a:t>IDEAR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17920" y="3593592"/>
            <a:ext cx="5394960" cy="493776"/>
          </a:xfrm>
          <a:prstGeom prst="roundRect">
            <a:avLst>
              <a:gd name="adj" fmla="val 22222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27648" y="3666744"/>
            <a:ext cx="347472" cy="347472"/>
          </a:xfrm>
          <a:prstGeom prst="ellipse">
            <a:avLst/>
          </a:prstGeom>
          <a:solidFill>
            <a:srgbClr val="006C49"/>
          </a:solidFill>
          <a:ln w="12700">
            <a:solidFill>
              <a:srgbClr val="006C4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27648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812280" y="3593592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Wireflow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9784080" y="359359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189"/>
                </a:solidFill>
              </a:rPr>
              <a:t>IDEAR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17920" y="4197096"/>
            <a:ext cx="5394960" cy="493776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27648" y="4270248"/>
            <a:ext cx="347472" cy="347472"/>
          </a:xfrm>
          <a:prstGeom prst="ellipse">
            <a:avLst/>
          </a:prstGeom>
          <a:solidFill>
            <a:srgbClr val="825100"/>
          </a:solidFill>
          <a:ln w="12700">
            <a:solidFill>
              <a:srgbClr val="82510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327648" y="4270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6812280" y="419709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Prototipo funcional</a:t>
            </a:r>
            <a:endParaRPr lang="en-US" sz="1500" dirty="0"/>
          </a:p>
        </p:txBody>
      </p:sp>
      <p:sp>
        <p:nvSpPr>
          <p:cNvPr id="63" name="Text 61"/>
          <p:cNvSpPr txBox="1"/>
          <p:nvPr/>
        </p:nvSpPr>
        <p:spPr>
          <a:xfrm>
            <a:off x="9784080" y="4197096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189"/>
                </a:solidFill>
              </a:rPr>
              <a:t>PROTOTIPAR Y TESTEAR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217920" y="4800600"/>
            <a:ext cx="5394960" cy="493776"/>
          </a:xfrm>
          <a:prstGeom prst="roundRect">
            <a:avLst>
              <a:gd name="adj" fmla="val 22222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27648" y="4873752"/>
            <a:ext cx="347472" cy="347472"/>
          </a:xfrm>
          <a:prstGeom prst="ellipse">
            <a:avLst/>
          </a:prstGeom>
          <a:solidFill>
            <a:srgbClr val="825100"/>
          </a:solidFill>
          <a:ln w="12700">
            <a:solidFill>
              <a:srgbClr val="82510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327648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6812280" y="480060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Pruebas de usabilidad</a:t>
            </a:r>
            <a:endParaRPr lang="en-US" sz="1500" dirty="0"/>
          </a:p>
        </p:txBody>
      </p:sp>
      <p:sp>
        <p:nvSpPr>
          <p:cNvPr id="68" name="Text 66"/>
          <p:cNvSpPr txBox="1"/>
          <p:nvPr/>
        </p:nvSpPr>
        <p:spPr>
          <a:xfrm>
            <a:off x="9784080" y="480060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6B7189"/>
                </a:solidFill>
              </a:rPr>
              <a:t>PROTOTIPAR Y TESTEAR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217920" y="5458968"/>
            <a:ext cx="5394960" cy="493776"/>
          </a:xfrm>
          <a:prstGeom prst="roundRect">
            <a:avLst>
              <a:gd name="adj" fmla="val 22222"/>
            </a:avLst>
          </a:prstGeom>
          <a:solidFill>
            <a:srgbClr val="EEF1FF"/>
          </a:solidFill>
          <a:ln w="12700">
            <a:solidFill>
              <a:srgbClr val="D3DBF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355080" y="5458968"/>
            <a:ext cx="5120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7B0"/>
                </a:solidFill>
              </a:rPr>
              <a:t>Cierre: cómo funciona la app y conclusiones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LA IDEA EN UN MINUTO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Cómo funciona Asesor de Estudio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060704" y="1636776"/>
            <a:ext cx="1546333" cy="3218688"/>
          </a:xfrm>
          <a:prstGeom prst="roundRect">
            <a:avLst>
              <a:gd name="adj" fmla="val 9461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6" name="Image 0" descr="/home/claude/deck/assets/img/06_diagnost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691640"/>
            <a:ext cx="1436605" cy="3108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983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7B0"/>
                </a:solidFill>
              </a:rPr>
              <a:t>1. Diagnóstico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32180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Seis preguntas cortas sobre cómo estudia hoy, cuánto tiempo tiene y cuándo rinde mejor.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877056" y="1636776"/>
            <a:ext cx="1546333" cy="3218688"/>
          </a:xfrm>
          <a:prstGeom prst="roundRect">
            <a:avLst>
              <a:gd name="adj" fmla="val 9461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10" name="Image 1" descr="/home/claude/deck/assets/img/10_plan_lis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91640"/>
            <a:ext cx="1436605" cy="31089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364992" y="4983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7B0"/>
                </a:solidFill>
              </a:rPr>
              <a:t>2. Plan con técnica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3364992" y="532180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Con el programa y la fecha del parcial, reparte las unidades en sesiones y le asigna una técnica a cada una.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693408" y="1636776"/>
            <a:ext cx="1546333" cy="3218688"/>
          </a:xfrm>
          <a:prstGeom prst="roundRect">
            <a:avLst>
              <a:gd name="adj" fmla="val 9461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14" name="Image 2" descr="/home/claude/deck/assets/img/15_pregunt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691640"/>
            <a:ext cx="1436605" cy="31089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181344" y="4983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7B0"/>
                </a:solidFill>
              </a:rPr>
              <a:t>3. Sesión y preguntas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6181344" y="532180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Estudia con cronómetro y pasos guiados; al cerrar escribe sus propias preguntas.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9509760" y="1636776"/>
            <a:ext cx="1546333" cy="3218688"/>
          </a:xfrm>
          <a:prstGeom prst="roundRect">
            <a:avLst>
              <a:gd name="adj" fmla="val 9461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18" name="Image 3" descr="/home/claude/deck/assets/img/21_progres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1691640"/>
            <a:ext cx="1436605" cy="31089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997696" y="4983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7B0"/>
                </a:solidFill>
              </a:rPr>
              <a:t>4. Quiz y progreso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8997696" y="532180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Días después responde esas preguntas. Con 70 % o más, la unidad pasa de leída a dominada.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858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BBFF"/>
                </a:solidFill>
              </a:rPr>
              <a:t>ETAPA 1 DE 13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12801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Planteamiento y research</a:t>
            </a:r>
            <a:endParaRPr lang="en-US" sz="4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66928" y="39776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</a:rPr>
              <a:t>01</a:t>
            </a:r>
            <a:endParaRPr lang="en-US" sz="15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7178040" y="1463040"/>
            <a:ext cx="4526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Usuario, problema y solución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Técnicas de investigación y encuesta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¿Qué hace, piensa, dice, en qué cree, qué lo frustra, qué lo motiva, qué le preocupa?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Notas periodísticas y capturas de redes sociales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Conclusiones de la investigación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01 · PLANTEAMIENTO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Usuario, problema y solución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BBFF"/>
                </a:solidFill>
              </a:rPr>
              <a:t>USUARIO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1FF"/>
                </a:solidFill>
              </a:rPr>
              <a:t>Estudiantes de primer y segundo año de carreras universitarias y terciarias, de 18 a 25 años, que organizan su estudio solos por primera vez y nunca recibieron formación sobre cómo hacerlo.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97680" y="178308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FFF4E8"/>
          </a:solidFill>
          <a:ln w="12700">
            <a:solidFill>
              <a:srgbClr val="F6D9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1772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25100"/>
                </a:solidFill>
              </a:rPr>
              <a:t>PROBLEMA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617720" y="251460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068"/>
                </a:solidFill>
              </a:rPr>
              <a:t>Repiten las técnicas pasivas de la secundaria (releer, subrayar, resumir la semana previa), no saben cuánto les lleva una unidad y no tienen forma de comprobar si aprendieron antes del examen. Resultado: estudian mucho, rinden mal y dudan de la carrera.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46720" y="1783080"/>
            <a:ext cx="3520440" cy="4343400"/>
          </a:xfrm>
          <a:prstGeom prst="roundRect">
            <a:avLst>
              <a:gd name="adj" fmla="val 3117"/>
            </a:avLst>
          </a:prstGeom>
          <a:solidFill>
            <a:srgbClr val="E3FBEF"/>
          </a:solidFill>
          <a:ln w="12700">
            <a:solidFill>
              <a:srgbClr val="BFEE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6C49"/>
                </a:solidFill>
              </a:rPr>
              <a:t>SOLUCIÓN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251460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068"/>
                </a:solidFill>
              </a:rPr>
              <a:t>Una app móvil que, a partir de un diagnóstico breve, el programa de cada materia y su tiempo real, arma un plan que dice qué estudiar, cuándo y con qué técnica, y comprueba lo aprendido con quizzes hechos con las preguntas que el propio estudiante escribe.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01 · CONTEXTO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Cómo se estudia hoy y por qué no alcanza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017520"/>
                <a:gridCol w="5056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B2E"/>
                          </a:solidFill>
                        </a:rPr>
                        <a:t>Qué hace el estudiante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B2E"/>
                          </a:solidFill>
                        </a:rPr>
                        <a:t>Por qué lo hace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B2E"/>
                          </a:solidFill>
                        </a:rPr>
                        <a:t>Por qué le falla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Relee el apunte varias veces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Es lo que aprendió en la secundaria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Genera familiaridad, no recuerdo: confunde «me suena» con «lo sé»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Subraya casi todo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Le da sensación de avance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Sin jerarquía, no distingue lo importante de lo accesorio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Arma resúmenes extensos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Siente que así procesa el material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Suelen ser copia casi textual y consumen la mayor parte del tiempo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Empieza la semana del parcial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Así funcionaba en la escuela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El programa no entra en una semana: llega con la mitad sin ver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Estudia hasta «haber leído todo»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No tiene otro criterio de corte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Nunca se pone a prueba: descubre lo que no sabe en el examen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EEF1FF"/>
          </a:solidFill>
          <a:ln w="12700">
            <a:solidFill>
              <a:srgbClr val="D3DB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7B0"/>
                </a:solidFill>
              </a:rPr>
              <a:t>Base científica. </a:t>
            </a:r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Dunlosky et al. (2013) ubican la práctica de recuperación y el repaso espaciado en el nivel de mayor utilidad, y releer y subrayar en el más bajo. Por eso la app personaliza sobre hábitos, tiempo y tipo de materia, no sobre «estilos de aprendizaje» (Pashler et al., 2008).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01 · RESEARCH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Cuatro técnicas de investigación, del 11 al 30 de agosto de 2026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57400"/>
            <a:ext cx="411480" cy="411480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0299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1B2E"/>
                </a:solidFill>
              </a:rPr>
              <a:t>Observación no participante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3500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4 sesiones · 4 estudiantes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77063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En ninguna sesión el estudiante cerró el apunte para intentar recordar. Las 4 terminaron por cansancio o por el celular, no por cumplir una meta.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78308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2057400"/>
            <a:ext cx="411480" cy="411480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20299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1B2E"/>
                </a:solidFill>
              </a:rPr>
              <a:t>Entrevistas exploratorias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3500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6 entrevistas de 20–30 min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277063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El método se hereda, no se elige. El criterio de «ya lo sé» es haber terminado de leer. 4 de 6 dudaron de su carrera después de un parcial.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0233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4297680"/>
            <a:ext cx="411480" cy="411480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42702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1B2E"/>
                </a:solidFill>
              </a:rPr>
              <a:t>Análisis de artefactos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45902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9 materiales de 6 estudiantes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501091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Ninguno de los 9 incluía una sola pregunta. 3 de 4 resúmenes eran copia casi literal del apunte.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172200" y="402336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EF1FF"/>
          </a:solidFill>
          <a:ln w="12700">
            <a:solidFill>
              <a:srgbClr val="D3DB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46520" y="4297680"/>
            <a:ext cx="411480" cy="411480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4652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42702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1B2E"/>
                </a:solidFill>
              </a:rPr>
              <a:t>Encuesta online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45902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47 respuestas · 34 válidas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46520" y="501091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Google Forms, 11 preguntas, del 25 al 30 de agosto. Filtro: primer o segundo año. Muestreo por conveniencia.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01 · ENCUESTA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Los cuatro datos que definieron el producto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633472" cy="2926080"/>
          </a:xfrm>
          <a:prstGeom prst="roundRect">
            <a:avLst>
              <a:gd name="adj" fmla="val 4167"/>
            </a:avLst>
          </a:prstGeom>
          <a:solidFill>
            <a:srgbClr val="EEF1FF"/>
          </a:solidFill>
          <a:ln w="12700">
            <a:solidFill>
              <a:srgbClr val="EEF1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103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037B0"/>
                </a:solidFill>
              </a:rPr>
              <a:t>68 %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1B2E"/>
                </a:solidFill>
              </a:rPr>
              <a:t>nunca recibió formación sobre cómo estudiar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64992" y="1828800"/>
            <a:ext cx="2633472" cy="2926080"/>
          </a:xfrm>
          <a:prstGeom prst="roundRect">
            <a:avLst>
              <a:gd name="adj" fmla="val 4167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39312" y="2103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825100"/>
                </a:solidFill>
              </a:rPr>
              <a:t>53 %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3639312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1B2E"/>
                </a:solidFill>
              </a:rPr>
              <a:t>cree que entendió un tema porque terminó de leerlo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81344" y="1828800"/>
            <a:ext cx="2633472" cy="2926080"/>
          </a:xfrm>
          <a:prstGeom prst="roundRect">
            <a:avLst>
              <a:gd name="adj" fmla="val 4167"/>
            </a:avLst>
          </a:prstGeom>
          <a:solidFill>
            <a:srgbClr val="FFECEB"/>
          </a:solidFill>
          <a:ln w="12700">
            <a:solidFill>
              <a:srgbClr val="FFEC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55664" y="2103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BA1A1A"/>
                </a:solidFill>
              </a:rPr>
              <a:t>91 %</a:t>
            </a:r>
            <a:endParaRPr lang="en-US" sz="5400" dirty="0"/>
          </a:p>
        </p:txBody>
      </p:sp>
      <p:sp>
        <p:nvSpPr>
          <p:cNvPr id="13" name="Text 10"/>
          <p:cNvSpPr txBox="1"/>
          <p:nvPr/>
        </p:nvSpPr>
        <p:spPr>
          <a:xfrm>
            <a:off x="6455664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1B2E"/>
                </a:solidFill>
              </a:rPr>
              <a:t>rindió mal alguna vez aunque sentía que había estudiado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997696" y="1828800"/>
            <a:ext cx="2633472" cy="2926080"/>
          </a:xfrm>
          <a:prstGeom prst="roundRect">
            <a:avLst>
              <a:gd name="adj" fmla="val 4167"/>
            </a:avLst>
          </a:prstGeom>
          <a:solidFill>
            <a:srgbClr val="E3FBEF"/>
          </a:solidFill>
          <a:ln w="12700">
            <a:solidFill>
              <a:srgbClr val="E3FB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72016" y="2103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06C49"/>
                </a:solidFill>
              </a:rPr>
              <a:t>56 %</a:t>
            </a:r>
            <a:endParaRPr lang="en-US" sz="5400" dirty="0"/>
          </a:p>
        </p:txBody>
      </p:sp>
      <p:sp>
        <p:nvSpPr>
          <p:cNvPr id="16" name="Text 13"/>
          <p:cNvSpPr txBox="1"/>
          <p:nvPr/>
        </p:nvSpPr>
        <p:spPr>
          <a:xfrm>
            <a:off x="9272016" y="32004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1B2E"/>
                </a:solidFill>
              </a:rPr>
              <a:t>no dedicaría más de 5 minutos a configurar una app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Lectura: </a:t>
            </a:r>
            <a:pPr indent="0" marL="0">
              <a:buNone/>
            </a:pPr>
            <a:r>
              <a:rPr lang="en-US" sz="1500" dirty="0">
                <a:solidFill>
                  <a:srgbClr val="4A5068"/>
                </a:solidFill>
              </a:rPr>
              <a:t>el problema no es la falta de esfuerzo sino el método. El 85 % relee y el 71 % subraya, pero solo el 18 % se autoevalúa antes del examen. Y cualquier solución tiene que dar valor en menos de cinco minutos.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01 · ENCUESTA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Qué hacen al estudiar y cómo deciden que ya saben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73736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760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Las tres técnicas más usadas son pasivas; autoevaluarse es la menos frecuente.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309360" y="57607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Para más de la mitad, «ya lo sé» significa «ya lo leí»: es el dato central del relevamiento.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01 · ENCUESTA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Rinden mal habiendo estudiado y no quieren configurar nada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35661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97680" y="1691640"/>
          <a:ext cx="356616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046720" y="1691640"/>
          <a:ext cx="3593592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097280"/>
                <a:gridCol w="59710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Pregunta abierta: ¿qué es lo más difícil de estudiar en la facultad?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Menciones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Ejemplo de respuesta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Volumen inabarcable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«Es muchísimo material y no sé por dónde empezar.»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Desorientación sobre el método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«No sé si lo estoy estudiando bien.»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Falsa seguridad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«Creía que lo sabía y en el parcial me quedé en blanco.»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Dudas sobre la propia capacidad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«Pensé que no servía para esta carrera.»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01 · EL USUARIO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¿Qué hace, piensa, dice, en qué cree, qué lo frustra, qué lo motiva y qué le preocupa?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2633472" cy="192024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7B0"/>
                </a:solidFill>
              </a:rPr>
              <a:t>¿Qué hace?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5603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Relee, subraya y resume. Empieza la semana del parcial. Saca las fechas del grupo de WhatsApp.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64992" y="1965960"/>
            <a:ext cx="2633472" cy="192024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616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7B0"/>
                </a:solidFill>
              </a:rPr>
              <a:t>¿Qué piensa?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25603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«Si lo leí todo, lo sé.» «Estudié un montón; algo estoy haciendo mal.»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81344" y="1965960"/>
            <a:ext cx="2633472" cy="192024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82512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7B0"/>
                </a:solidFill>
              </a:rPr>
              <a:t>¿Qué dice?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382512" y="25603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«Esta vez arranco antes.» «Nadie te enseña a estudiar, se supone que ya sabés.»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997696" y="1965960"/>
            <a:ext cx="2633472" cy="192024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98864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7B0"/>
                </a:solidFill>
              </a:rPr>
              <a:t>¿En qué cree?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9198864" y="25603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Que estudiar más horas es estudiar mejor, y que saber estudiar es algo que ya debería traer resuelto.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069080"/>
            <a:ext cx="2633472" cy="192024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9808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A1A1A"/>
                </a:solidFill>
              </a:rPr>
              <a:t>¿Qué lo frustra?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" y="46634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Rendir mal habiendo estudiado (91 %) y no saber cuánto le lleva una unidad (71 %).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364992" y="4069080"/>
            <a:ext cx="2633472" cy="192024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6616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6C49"/>
                </a:solidFill>
              </a:rPr>
              <a:t>¿Qué lo motiva?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566160" y="46634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Aprobar el primer año, confirmar que eligió bien la carrera y no defraudar a su familia.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181344" y="4069080"/>
            <a:ext cx="2633472" cy="1920240"/>
          </a:xfrm>
          <a:prstGeom prst="roundRect">
            <a:avLst>
              <a:gd name="adj" fmla="val 5714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82512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25100"/>
                </a:solidFill>
              </a:rPr>
              <a:t>¿Qué le preocupa?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382512" y="46634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No servir para la carrera, quedar libre en una materia y no llegar a ver todo el programa.</a:t>
            </a:r>
            <a:endParaRPr lang="en-US" sz="1300" dirty="0"/>
          </a:p>
        </p:txBody>
      </p:sp>
      <p:pic>
        <p:nvPicPr>
          <p:cNvPr id="26" name="Image 0" descr="/home/claude/deck/assets/img/tom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939" y="4069080"/>
            <a:ext cx="1666986" cy="1920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01 · VALIDACIÓN EXTERNA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Notas periodísticas: el problema está en el primer año</a:t>
            </a:r>
            <a:endParaRPr lang="en-US" sz="3000" dirty="0"/>
          </a:p>
        </p:txBody>
      </p:sp>
      <p:pic>
        <p:nvPicPr>
          <p:cNvPr id="5" name="Image 0" descr="/home/claude/deck/assets/img/nota_lan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28216"/>
            <a:ext cx="2850002" cy="4453128"/>
          </a:xfrm>
          <a:prstGeom prst="rect">
            <a:avLst/>
          </a:prstGeom>
        </p:spPr>
      </p:pic>
      <p:pic>
        <p:nvPicPr>
          <p:cNvPr id="6" name="Image 1" descr="/home/claude/deck/assets/img/nota_dia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728216"/>
            <a:ext cx="2493752" cy="445312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223760" y="1691640"/>
            <a:ext cx="4416552" cy="2148840"/>
          </a:xfrm>
          <a:prstGeom prst="roundRect">
            <a:avLst>
              <a:gd name="adj" fmla="val 5106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7452360" y="1847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La Nación · 27/04/2024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7452360" y="21214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B2E"/>
                </a:solidFill>
              </a:rPr>
              <a:t>Crisis universitaria: carreras largas, abandono y los «nuevos adolescentes»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7452360" y="269748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Ana García de Fanelli (CONICET): el abandono se produce ya desde el primer año, donde se registra la tasa más alta de todo el trayecto.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7223760" y="4023360"/>
            <a:ext cx="4416552" cy="2194560"/>
          </a:xfrm>
          <a:prstGeom prst="roundRect">
            <a:avLst>
              <a:gd name="adj" fmla="val 5000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452360" y="4178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El Diario de las Universidades · 16/03/2023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7452360" y="44531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31B2E"/>
                </a:solidFill>
              </a:rPr>
              <a:t>Afirman que aumentan las tasas de deserción y fracasos en la universidad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7452360" y="50292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Marcelo Rabossi (UTDT): muchos ingresan con conocimientos débiles y la vida académica les exige capacidades que no traen de la secundaria.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01 · REDES SOCIALES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Lo que dicen los estudiantes en redes</a:t>
            </a:r>
            <a:endParaRPr lang="en-US" sz="3000" dirty="0"/>
          </a:p>
        </p:txBody>
      </p:sp>
      <p:pic>
        <p:nvPicPr>
          <p:cNvPr id="5" name="Image 0" descr="/home/claude/deck/assets/img/tw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319128" cy="4206240"/>
          </a:xfrm>
          <a:prstGeom prst="rect">
            <a:avLst/>
          </a:prstGeom>
        </p:spPr>
      </p:pic>
      <p:pic>
        <p:nvPicPr>
          <p:cNvPr id="6" name="Image 1" descr="/home/claude/deck/assets/img/tw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93718"/>
            <a:ext cx="3566160" cy="1458884"/>
          </a:xfrm>
          <a:prstGeom prst="rect">
            <a:avLst/>
          </a:prstGeom>
        </p:spPr>
      </p:pic>
      <p:pic>
        <p:nvPicPr>
          <p:cNvPr id="7" name="Image 2" descr="/home/claude/deck/assets/img/tw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337560"/>
            <a:ext cx="3534578" cy="160020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189"/>
                </a:solidFill>
              </a:rPr>
              <a:t>@pasoenlafacu · @Cyane_lol · @valenmineare — x.com</a:t>
            </a:r>
            <a:endParaRPr lang="en-US" sz="1000" dirty="0"/>
          </a:p>
        </p:txBody>
      </p:sp>
      <p:sp>
        <p:nvSpPr>
          <p:cNvPr id="9" name="Shape 3"/>
          <p:cNvSpPr/>
          <p:nvPr/>
        </p:nvSpPr>
        <p:spPr>
          <a:xfrm>
            <a:off x="8183880" y="1691640"/>
            <a:ext cx="3456432" cy="4526280"/>
          </a:xfrm>
          <a:prstGeom prst="roundRect">
            <a:avLst>
              <a:gd name="adj" fmla="val 3175"/>
            </a:avLst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841248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BBFF"/>
                </a:solidFill>
              </a:rPr>
              <a:t>Y EN NUESTRAS ENTREVISTAS</a:t>
            </a:r>
            <a:endParaRPr lang="en-US" sz="1100" dirty="0"/>
          </a:p>
        </p:txBody>
      </p:sp>
      <p:sp>
        <p:nvSpPr>
          <p:cNvPr id="11" name="Text 5"/>
          <p:cNvSpPr txBox="1"/>
          <p:nvPr/>
        </p:nvSpPr>
        <p:spPr>
          <a:xfrm>
            <a:off x="8412480" y="224028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«Estudié un montón y me fue mal igual, algo estoy haciendo mal.»</a:t>
            </a:r>
            <a:endParaRPr lang="en-US" sz="1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9BBFF"/>
                </a:solidFill>
              </a:rPr>
              <a:t>E2, primer año</a:t>
            </a:r>
            <a:endParaRPr lang="en-US" sz="15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«Me doy cuenta de que lo sé porque lo leí todo y me suena.»</a:t>
            </a:r>
            <a:endParaRPr lang="en-US" sz="1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9BBFF"/>
                </a:solidFill>
              </a:rPr>
              <a:t>E1, primer año</a:t>
            </a:r>
            <a:endParaRPr lang="en-US" sz="15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«Tengo dos horas por día, no me puedo dar el lujo de estudiar mal.»</a:t>
            </a:r>
            <a:endParaRPr lang="en-US" sz="1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9BBFF"/>
                </a:solidFill>
              </a:rPr>
              <a:t>E6, segundo año, trabaja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01 · CONCLUSIONES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Qué aprendimos de la investigación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457200" cy="457200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28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B2E"/>
                </a:solidFill>
              </a:rPr>
              <a:t>Falta método, no esfuerzo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8288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El 68 % nunca aprendió a estudiar y aplica en la universidad las estrategias de la secundaria.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457200" cy="457200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697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B2E"/>
                </a:solidFill>
              </a:rPr>
              <a:t>Predominan técnicas pasivas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26974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85 % relee y 71 % subraya; solo 18 % se autoevalúa. Es el punto exacto donde intervenir.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30168"/>
            <a:ext cx="457200" cy="457200"/>
          </a:xfrm>
          <a:prstGeom prst="ellipse">
            <a:avLst/>
          </a:prstGeom>
          <a:solidFill>
            <a:srgbClr val="825100"/>
          </a:solidFill>
          <a:ln w="12700">
            <a:solidFill>
              <a:srgbClr val="8251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5661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B2E"/>
                </a:solidFill>
              </a:rPr>
              <a:t>La autoevaluación es el eslabón faltante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5661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53 % cree que leer es saber y ningún artefacto tenía una pregunta: el quiz es el corazón del producto.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98848"/>
            <a:ext cx="457200" cy="457200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4348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B2E"/>
                </a:solidFill>
              </a:rPr>
              <a:t>Planifican a ciegas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44348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71 % no sabe cuánto le lleva una unidad y 68 % empieza a una semana o menos del parcial.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367528"/>
            <a:ext cx="457200" cy="457200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303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B2E"/>
                </a:solidFill>
              </a:rPr>
              <a:t>El onboarding es la primera barrera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53035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Tiene que durar menos de 5 minutos y aun así producir un plan útil.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858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BBFF"/>
                </a:solidFill>
              </a:rPr>
              <a:t>ETAPA 2 DE 13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12801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Benchmarking</a:t>
            </a:r>
            <a:endParaRPr lang="en-US" sz="4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66928" y="39776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</a:rPr>
              <a:t>02</a:t>
            </a:r>
            <a:endParaRPr lang="en-US" sz="15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7178040" y="1463040"/>
            <a:ext cx="4526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3 competidores directos: nombre y logo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Reseña y captura de cada uno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Pasos por acción: 3 acciones por competidor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Vocabulario (óptimo, error menor, error mayor)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Diseño (óptimo, básico, malo)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Fortalezas, debilidades e informe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02 · BENCHMARKING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Nuestra competencia directa: apps de estudio con autoevaluación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pic>
        <p:nvPicPr>
          <p:cNvPr id="6" name="Image 0" descr="/home/claude/deck/assets/img/quizlet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822960" cy="822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B2E"/>
                </a:solidFill>
              </a:rPr>
              <a:t>Quizlet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1783080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25100"/>
                </a:solidFill>
              </a:rPr>
              <a:t>★ 4,6 en Google Play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10896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Plataforma estadounidense de fichas de estudio (2005). Se crean sets de término y definición y se estudian con distintos modos (Fichas, Aprender, Prueba); hoy también genera fichas con IA.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22960" y="5715000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 w="12700">
            <a:solidFill>
              <a:srgbClr val="EEF1F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5715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7B0"/>
                </a:solidFill>
              </a:rPr>
              <a:t>Freemium (Quizlet Plus)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97680" y="178308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pic>
        <p:nvPicPr>
          <p:cNvPr id="13" name="Image 1" descr="/home/claude/deck/assets/img/anki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57400"/>
            <a:ext cx="822960" cy="8229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3212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B2E"/>
                </a:solidFill>
              </a:rPr>
              <a:t>AnkiDroid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5532120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25100"/>
                </a:solidFill>
              </a:rPr>
              <a:t>★ 4,7 en Google Play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310896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Versión Android de Anki (2006). Aplica repetición espaciada: después de cada tarjeta el usuario califica qué tan bien la recordó y el algoritmo decide cuándo volver a mostrarla.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72000" y="5715000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 w="12700">
            <a:solidFill>
              <a:srgbClr val="EEF1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572000" y="5715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7B0"/>
                </a:solidFill>
              </a:rPr>
              <a:t>Gratis y de código abierto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046720" y="178308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pic>
        <p:nvPicPr>
          <p:cNvPr id="20" name="Image 2" descr="/home/claude/deck/assets/img/studysmarter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057400"/>
            <a:ext cx="822960" cy="8229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8116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B2E"/>
                </a:solidFill>
              </a:rPr>
              <a:t>Vaia (ex StudySmarter)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281160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25100"/>
                </a:solidFill>
              </a:rPr>
              <a:t>★ 4,5 en Google Play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321040" y="310896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App alemana que integra apuntes, flashcards generadas con IA y un plan de estudio. Antes se llamaba StudySmarter. Es el competidor más cercano porque combina plan y autoevaluación.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321040" y="5715000"/>
            <a:ext cx="2971800" cy="274320"/>
          </a:xfrm>
          <a:prstGeom prst="roundRect">
            <a:avLst>
              <a:gd name="adj" fmla="val 50000"/>
            </a:avLst>
          </a:prstGeom>
          <a:solidFill>
            <a:srgbClr val="EEF1FF"/>
          </a:solidFill>
          <a:ln w="12700">
            <a:solidFill>
              <a:srgbClr val="EEF1FF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8321040" y="5715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7B0"/>
                </a:solidFill>
              </a:rPr>
              <a:t>Freemium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02 · BENCHMARKING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Quizlet: captura, pasos por acción y evaluación</a:t>
            </a:r>
            <a:endParaRPr lang="en-US" sz="3000" dirty="0"/>
          </a:p>
        </p:txBody>
      </p:sp>
      <p:pic>
        <p:nvPicPr>
          <p:cNvPr id="4" name="Image 0" descr="/home/claude/deck/assets/img/quizlet_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32117"/>
            <a:ext cx="1463040" cy="2599605"/>
          </a:xfrm>
          <a:prstGeom prst="rect">
            <a:avLst/>
          </a:prstGeom>
        </p:spPr>
      </p:pic>
      <p:pic>
        <p:nvPicPr>
          <p:cNvPr id="5" name="Image 1" descr="/home/claude/deck/assets/img/quizlet_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2630763"/>
            <a:ext cx="1463040" cy="2602315"/>
          </a:xfrm>
          <a:prstGeom prst="rect">
            <a:avLst/>
          </a:prstGeom>
        </p:spPr>
      </p:pic>
      <p:pic>
        <p:nvPicPr>
          <p:cNvPr id="6" name="Image 2" descr="/home/claude/deck/assets/img/quizlet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40080"/>
            <a:ext cx="548640" cy="5486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74904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</a:rPr>
              <a:t>PASOS POR ACCIÓN</a:t>
            </a:r>
            <a:endParaRPr lang="en-US" sz="1100" dirty="0"/>
          </a:p>
        </p:txBody>
      </p:sp>
      <p:sp>
        <p:nvSpPr>
          <p:cNvPr id="8" name="Shape 3"/>
          <p:cNvSpPr/>
          <p:nvPr/>
        </p:nvSpPr>
        <p:spPr>
          <a:xfrm>
            <a:off x="3749040" y="201168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3913632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B2E"/>
                </a:solidFill>
              </a:rPr>
              <a:t>Crear un set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   4 pasos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3913632" y="235915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1. Tocar «+»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2. Elegir «Set de estudio»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3. Escribir el título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4. Confirmar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3749040" y="3319272"/>
            <a:ext cx="4023360" cy="1563624"/>
          </a:xfrm>
          <a:prstGeom prst="roundRect">
            <a:avLst>
              <a:gd name="adj" fmla="val 7018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3913632" y="3392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B2E"/>
                </a:solidFill>
              </a:rPr>
              <a:t>Agregar una pregunta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   6 pasos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3913632" y="3666744"/>
            <a:ext cx="37490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1. Abrir el 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2. Tocar el lápiz (editar)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3. Tocar «+ Agregar tarjeta»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4. Escribir el término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5. Escribir la definición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6. Guardar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749040" y="5001768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913632" y="5074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B2E"/>
                </a:solidFill>
              </a:rPr>
              <a:t>Repasar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   4 pasos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913632" y="53492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1. Abrir el 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2. Elegir el modo «Aprender»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3. Responder cada tarjeta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4. Ver el resultado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80010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</a:rPr>
              <a:t>VOCABULARIO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10104120" y="16733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3FBEF"/>
          </a:solidFill>
          <a:ln w="12700">
            <a:solidFill>
              <a:srgbClr val="E3FBE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010412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C49"/>
                </a:solidFill>
              </a:rPr>
              <a:t>Óptimo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8001000" y="2020824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Español claro y verbos de acción («Aprender», «Prueba»). Usa «fichas», palabra que el usuario ya conoce.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001000" y="2898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</a:rPr>
              <a:t>DISEÑO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0104120" y="28803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3FBEF"/>
          </a:solidFill>
          <a:ln w="12700">
            <a:solidFill>
              <a:srgbClr val="E3FBE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010412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C49"/>
                </a:solidFill>
              </a:rPr>
              <a:t>Óptimo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001000" y="3227832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Jerarquía clara, colores con significado (verde acierto, naranja error) y refuerzo positivo.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001000" y="4160520"/>
            <a:ext cx="3639312" cy="1005840"/>
          </a:xfrm>
          <a:prstGeom prst="roundRect">
            <a:avLst>
              <a:gd name="adj" fmla="val 10909"/>
            </a:avLst>
          </a:prstGeom>
          <a:solidFill>
            <a:srgbClr val="E3FBEF"/>
          </a:solidFill>
          <a:ln w="12700">
            <a:solidFill>
              <a:srgbClr val="BFEED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165592" y="4224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C49"/>
                </a:solidFill>
              </a:rPr>
              <a:t>FORTALEZAS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8165592" y="4462272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Entrada rápida, sin configurar nada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Varios modos de estudio y refuerzo positivo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Muy buena experiencia móvil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001000" y="5257800"/>
            <a:ext cx="3639312" cy="1005840"/>
          </a:xfrm>
          <a:prstGeom prst="roundRect">
            <a:avLst>
              <a:gd name="adj" fmla="val 10909"/>
            </a:avLst>
          </a:prstGeom>
          <a:solidFill>
            <a:srgbClr val="FFECEB"/>
          </a:solidFill>
          <a:ln w="12700">
            <a:solidFill>
              <a:srgbClr val="F7C9C5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165592" y="5321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A1A1A"/>
                </a:solidFill>
              </a:rPr>
              <a:t>DEBILIDADES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8165592" y="5559552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Funciones clave detrás del pago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No planifica el cuatrimestre ni conoce el programa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No diagnostica ni enseña método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02 · BENCHMARKING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AnkiDroid: captura, pasos por acción y evaluación</a:t>
            </a:r>
            <a:endParaRPr lang="en-US" sz="3000" dirty="0"/>
          </a:p>
        </p:txBody>
      </p:sp>
      <p:pic>
        <p:nvPicPr>
          <p:cNvPr id="4" name="Image 0" descr="/home/claude/deck/assets/img/anki_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6720"/>
            <a:ext cx="2514600" cy="4470400"/>
          </a:xfrm>
          <a:prstGeom prst="rect">
            <a:avLst/>
          </a:prstGeom>
        </p:spPr>
      </p:pic>
      <p:pic>
        <p:nvPicPr>
          <p:cNvPr id="5" name="Image 1" descr="/home/claude/deck/assets/img/anki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672" y="640080"/>
            <a:ext cx="548640" cy="5486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74904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</a:rPr>
              <a:t>PASOS POR ACCIÓN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749040" y="201168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913632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B2E"/>
                </a:solidFill>
              </a:rPr>
              <a:t>Crear un mazo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   4 pasos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913632" y="235915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1. Tocar «+»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2. Elegir «Crear mazo»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3. Escribir el nombre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4. Aceptar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749040" y="3319272"/>
            <a:ext cx="4023360" cy="1563624"/>
          </a:xfrm>
          <a:prstGeom prst="roundRect">
            <a:avLst>
              <a:gd name="adj" fmla="val 7018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913632" y="3392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B2E"/>
                </a:solidFill>
              </a:rPr>
              <a:t>Agregar una pregunta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   6 pasos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913632" y="3666744"/>
            <a:ext cx="37490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1. Tocar «+»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2. Elegir «Añadir nota»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3. Elegir tipo y mazo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4. Completar «Anverso»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5. Completar «Reverso»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6. Guardar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749040" y="5001768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913632" y="5074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B2E"/>
                </a:solidFill>
              </a:rPr>
              <a:t>Repasar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   4 pasos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913632" y="53492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1. Tocar el mazo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2. Tocar «Estudiar»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3. Tocar «Mostrar respuesta»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4. Calificar (Otra vez / Difícil / Bien / Fácil)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80010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</a:rPr>
              <a:t>VOCABULARIO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0104120" y="16733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10412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5100"/>
                </a:solidFill>
              </a:rPr>
              <a:t>Error menor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001000" y="2020824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Jerga técnica («nota», «anverso», «reverso», «tipo de nota») que el ingresante no conoce; se entiende con esfuerzo.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001000" y="2898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</a:rPr>
              <a:t>DISEÑO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0104120" y="28803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CEEF5"/>
          </a:solidFill>
          <a:ln w="12700">
            <a:solidFill>
              <a:srgbClr val="ECEEF5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10412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Básico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001000" y="3227832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Funcional pero austero: listas de texto, poca jerarquía visual y botones flotantes sin etiqueta.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001000" y="4160520"/>
            <a:ext cx="3639312" cy="1005840"/>
          </a:xfrm>
          <a:prstGeom prst="roundRect">
            <a:avLst>
              <a:gd name="adj" fmla="val 10909"/>
            </a:avLst>
          </a:prstGeom>
          <a:solidFill>
            <a:srgbClr val="E3FBEF"/>
          </a:solidFill>
          <a:ln w="12700">
            <a:solidFill>
              <a:srgbClr val="BFEED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165592" y="4224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C49"/>
                </a:solidFill>
              </a:rPr>
              <a:t>FORTALEZAS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8165592" y="4462272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Repetición espaciada rigurosa y probada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Gratis, sin publicidad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Muy configurable para usuarios avanzados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001000" y="5257800"/>
            <a:ext cx="3639312" cy="1005840"/>
          </a:xfrm>
          <a:prstGeom prst="roundRect">
            <a:avLst>
              <a:gd name="adj" fmla="val 10909"/>
            </a:avLst>
          </a:prstGeom>
          <a:solidFill>
            <a:srgbClr val="FFECEB"/>
          </a:solidFill>
          <a:ln w="12700">
            <a:solidFill>
              <a:srgbClr val="F7C9C5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165592" y="5321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A1A1A"/>
                </a:solidFill>
              </a:rPr>
              <a:t>DEBILIDADES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8165592" y="5559552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Curva de entrada empinada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Hay que entender la técnica antes de recibir valor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No planifica ni guía al principiante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02 · BENCHMARKING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Vaia: captura, pasos por acción y evaluación</a:t>
            </a:r>
            <a:endParaRPr lang="en-US" sz="3000" dirty="0"/>
          </a:p>
        </p:txBody>
      </p:sp>
      <p:pic>
        <p:nvPicPr>
          <p:cNvPr id="4" name="Image 0" descr="/home/claude/deck/assets/img/studysmarter_s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31440"/>
            <a:ext cx="1463040" cy="2600960"/>
          </a:xfrm>
          <a:prstGeom prst="rect">
            <a:avLst/>
          </a:prstGeom>
        </p:spPr>
      </p:pic>
      <p:pic>
        <p:nvPicPr>
          <p:cNvPr id="5" name="Image 1" descr="/home/claude/deck/assets/img/studysmarter_s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2631440"/>
            <a:ext cx="1463040" cy="2600960"/>
          </a:xfrm>
          <a:prstGeom prst="rect">
            <a:avLst/>
          </a:prstGeom>
        </p:spPr>
      </p:pic>
      <p:pic>
        <p:nvPicPr>
          <p:cNvPr id="6" name="Image 2" descr="/home/claude/deck/assets/img/studysmarter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672" y="640080"/>
            <a:ext cx="548640" cy="5486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74904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</a:rPr>
              <a:t>PASOS POR ACCIÓN</a:t>
            </a:r>
            <a:endParaRPr lang="en-US" sz="1100" dirty="0"/>
          </a:p>
        </p:txBody>
      </p:sp>
      <p:sp>
        <p:nvSpPr>
          <p:cNvPr id="8" name="Shape 3"/>
          <p:cNvSpPr/>
          <p:nvPr/>
        </p:nvSpPr>
        <p:spPr>
          <a:xfrm>
            <a:off x="3749040" y="2011680"/>
            <a:ext cx="4023360" cy="1376172"/>
          </a:xfrm>
          <a:prstGeom prst="roundRect">
            <a:avLst>
              <a:gd name="adj" fmla="val 7973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3913632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B2E"/>
                </a:solidFill>
              </a:rPr>
              <a:t>Crear un set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   5 pasos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3913632" y="235915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1. Entrar a la materia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2. Tocar «Crear»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3. Elegir «Set de flashcards»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4. Escribir el nombre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5. Crear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3749040" y="3506724"/>
            <a:ext cx="4023360" cy="1376172"/>
          </a:xfrm>
          <a:prstGeom prst="roundRect">
            <a:avLst>
              <a:gd name="adj" fmla="val 7973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3913632" y="35798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B2E"/>
                </a:solidFill>
              </a:rPr>
              <a:t>Agregar una pregunta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   5 pasos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3913632" y="3854196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1. Abrir el 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2. Tocar «+ Flashcard»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3. Escribir la pregunta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4. Escribir la respuesta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5. Guardar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749040" y="5001768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913632" y="5074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B2E"/>
                </a:solidFill>
              </a:rPr>
              <a:t>Repasar</a:t>
            </a:r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   4 pasos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3913632" y="53492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1. Abrir el 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2. Tocar «Estudiar»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3. Mostrar la respuesta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4. Calificar el recuerdo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80010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</a:rPr>
              <a:t>VOCABULARIO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10104120" y="16733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0104120" y="16733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5100"/>
                </a:solidFill>
              </a:rPr>
              <a:t>Error menor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8001000" y="2020824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Mezcla de español e inglés en partes de la interfaz y del contenido («Flashcards», «Keep trying»).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001000" y="2898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</a:rPr>
              <a:t>DISEÑO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0104120" y="28803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E3FBEF"/>
          </a:solidFill>
          <a:ln w="12700">
            <a:solidFill>
              <a:srgbClr val="E3FBE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010412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C49"/>
                </a:solidFill>
              </a:rPr>
              <a:t>Óptimo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001000" y="3227832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Estética moderna y consistente, buen uso del color y del espacio en blanco.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001000" y="4160520"/>
            <a:ext cx="3639312" cy="1005840"/>
          </a:xfrm>
          <a:prstGeom prst="roundRect">
            <a:avLst>
              <a:gd name="adj" fmla="val 10909"/>
            </a:avLst>
          </a:prstGeom>
          <a:solidFill>
            <a:srgbClr val="E3FBEF"/>
          </a:solidFill>
          <a:ln w="12700">
            <a:solidFill>
              <a:srgbClr val="BFEED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165592" y="4224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C49"/>
                </a:solidFill>
              </a:rPr>
              <a:t>FORTALEZAS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8165592" y="4462272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Une apuntes, tarjetas y plan en una sola app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Genera tarjetas con IA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Diseño cuidado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001000" y="5257800"/>
            <a:ext cx="3639312" cy="1005840"/>
          </a:xfrm>
          <a:prstGeom prst="roundRect">
            <a:avLst>
              <a:gd name="adj" fmla="val 10909"/>
            </a:avLst>
          </a:prstGeom>
          <a:solidFill>
            <a:srgbClr val="FFECEB"/>
          </a:solidFill>
          <a:ln w="12700">
            <a:solidFill>
              <a:srgbClr val="F7C9C5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165592" y="5321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A1A1A"/>
                </a:solidFill>
              </a:rPr>
              <a:t>DEBILIDADES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8165592" y="5559552"/>
            <a:ext cx="3364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Contenido pensado para Europa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Muchas funciones: complejidad para el principiante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El plan depende de lo que carga el usuario; no diagnostica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02 · BENCHMARKING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Comparativa: las tres resuelven el repaso, ninguna el método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1737360"/>
                <a:gridCol w="1737360"/>
                <a:gridCol w="25877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1B2E"/>
                          </a:solidFill>
                        </a:rPr>
                        <a:t>Criterio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1B2E"/>
                          </a:solidFill>
                        </a:rPr>
                        <a:t>Quizlet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1B2E"/>
                          </a:solidFill>
                        </a:rPr>
                        <a:t>AnkiDroid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1B2E"/>
                          </a:solidFill>
                        </a:rPr>
                        <a:t>Vaia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1B2E"/>
                          </a:solidFill>
                        </a:rPr>
                        <a:t>Asesor de Estudio (objetivo)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Pasos: crear set / agregar pregunta / repasar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4 / 6 / 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4 / 6 / 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5 / 5 / 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Las preguntas se escriben al cerrar la sesión: 0 pasos extra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Vocabulario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Óptimo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25100"/>
                          </a:solidFill>
                        </a:rPr>
                        <a:t>Error menor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25100"/>
                          </a:solidFill>
                        </a:rPr>
                        <a:t>Error menor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Óptimo, español rioplatense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Diseño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Óptimo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25100"/>
                          </a:solidFill>
                        </a:rPr>
                        <a:t>Básico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Óptimo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Material 3 para Android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Diagnostica cómo estudia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A1A1A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A1A1A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A1A1A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Sí, en 6 pasos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Propone la técnica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25100"/>
                          </a:solidFill>
                        </a:rPr>
                        <a:t>Parcial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25100"/>
                          </a:solidFill>
                        </a:rPr>
                        <a:t>Parcial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25100"/>
                          </a:solidFill>
                        </a:rPr>
                        <a:t>Parcial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Sí, una por sesión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Planifica el cuatrimestre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A1A1A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A1A1A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25100"/>
                          </a:solidFill>
                        </a:rPr>
                        <a:t>Parcial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Sí, hasta el parcial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Distingue leído de dominado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A1A1A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A1A1A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A1A1A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Sí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Precio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Freemium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Gratis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Freemium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Gratis (MVP)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189"/>
                </a:solidFill>
              </a:rPr>
              <a:t>Escalas. Vocabulario: óptimo / error menor / error mayor. Diseño: óptimo / básico / malo. Pasos contados desde la pantalla principal, en la versión de Google Play de septiembre de 2026.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02 · INFORME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Informe de benchmarking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84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¿Quién es mi competencia?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Quizlet, AnkiDroid y Vaia: apps de estudio con tarjetas y autoevaluación. De forma indirecta, las notas del celular, WhatsApp y Google Calendar.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984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¿Quiénes son sus usuarios?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Estudiantes que ya saben qué estudiar y buscan memorizar: idiomas, medicina, secundario. Anki, además, usuarios avanzados.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984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¿Cómo les hablan?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Quizlet, cercano y motivador; Anki, técnico; Vaia, aspiracional («Aprobá todos los exámenes») y con partes en inglés.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224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¿En qué se diferencian?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6344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Quizlet en la facilidad, Anki en el algoritmo y Vaia en reunir apuntes, IA y plan.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40233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EEF1FF"/>
          </a:solidFill>
          <a:ln w="12700">
            <a:solidFill>
              <a:srgbClr val="D3D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4224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7B0"/>
                </a:solidFill>
              </a:rPr>
              <a:t>¿Qué puedo ofrecer que no tengan?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66344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Diagnóstico del método, una técnica asignada a cada sesión, un plan hasta el parcial y la diferencia entre leído y dominado.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402336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EEF1FF"/>
          </a:solidFill>
          <a:ln w="12700">
            <a:solidFill>
              <a:srgbClr val="D3DB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4224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7B0"/>
                </a:solidFill>
              </a:rPr>
              <a:t>¿Cómo superar su propuesta?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66344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Tomar su motor de repaso y esconderlo detrás de una experiencia guiada en español, sin configurar nada y gratis.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858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BBFF"/>
                </a:solidFill>
              </a:rPr>
              <a:t>ETAPA 3 DE 13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12801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Mapa de empatía</a:t>
            </a:r>
            <a:endParaRPr lang="en-US" sz="4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66928" y="39776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</a:rPr>
              <a:t>03</a:t>
            </a:r>
            <a:endParaRPr lang="en-US" sz="15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7178040" y="1463040"/>
            <a:ext cx="4526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¿Quién es la proto persona?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¿Cuál es su situación y qué papel tiene?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¿Por qué él y qué condiciones lo hacen usuario?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Mapa: piensa y siente, dice y hace, qué lo frustra, qué lo motiva, con la foto al centro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03 · MAPA DE EMPATÍA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La proto persona: Tomás Aguirre, 19 años</a:t>
            </a:r>
            <a:endParaRPr lang="en-US" sz="3000" dirty="0"/>
          </a:p>
        </p:txBody>
      </p:sp>
      <p:pic>
        <p:nvPicPr>
          <p:cNvPr id="4" name="Image 0" descr="/home/claude/deck/assets/img/tom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81667"/>
            <a:ext cx="3291840" cy="37919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0" y="1737360"/>
            <a:ext cx="7525512" cy="804672"/>
          </a:xfrm>
          <a:prstGeom prst="roundRect">
            <a:avLst>
              <a:gd name="adj" fmla="val 13636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343400" y="1737360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7B0"/>
                </a:solidFill>
              </a:rPr>
              <a:t>¿Quién es?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1737360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Tomás Aguirre, 19 años, de Maipú. Cursa primer año de Ingeniería en Sistemas de Información en la UTN FRM.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0" y="2642616"/>
            <a:ext cx="7525512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43400" y="2642616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7B0"/>
                </a:solidFill>
              </a:rPr>
              <a:t>¿Cuál es su situación?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642616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Primer cuatrimestre. Hace una semana desaprobó el primer parcial de Análisis Matemático I después de estudiar tres días seguidos.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0" y="3547872"/>
            <a:ext cx="7525512" cy="804672"/>
          </a:xfrm>
          <a:prstGeom prst="roundRect">
            <a:avLst>
              <a:gd name="adj" fmla="val 13636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43400" y="3547872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7B0"/>
                </a:solidFill>
              </a:rPr>
              <a:t>¿Qué papel tiene?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3547872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Usuario principal: es quien descarga la app, la configura y la usa todos los días para estudiar.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0" y="4453128"/>
            <a:ext cx="7525512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43400" y="445312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7B0"/>
                </a:solidFill>
              </a:rPr>
              <a:t>¿Por qué él?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4453128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Concentra el problema central: primer año, ningún método propio y técnicas pasivas heredadas de la secundaria.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0" y="5358384"/>
            <a:ext cx="7525512" cy="804672"/>
          </a:xfrm>
          <a:prstGeom prst="roundRect">
            <a:avLst>
              <a:gd name="adj" fmla="val 13636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43400" y="5358384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7B0"/>
                </a:solidFill>
              </a:rPr>
              <a:t>¿Qué condiciones lo hacen usuario?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5358384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Cursa materias con parciales, tiene un Android, nunca le enseñaron a estudiar y dispone de 1 a 3 horas por día.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03 · MAPA DE EMPATÍA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Mapa de empatía de Tomás, una semana después del parcial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9824" cy="2212848"/>
          </a:xfrm>
          <a:prstGeom prst="roundRect">
            <a:avLst>
              <a:gd name="adj" fmla="val 4959"/>
            </a:avLst>
          </a:prstGeom>
          <a:solidFill>
            <a:srgbClr val="EEF1FF"/>
          </a:solidFill>
          <a:ln w="12700">
            <a:solidFill>
              <a:srgbClr val="D3D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37B0"/>
                </a:solidFill>
              </a:rPr>
              <a:t>PIENSA Y SIENTE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«Estudié un montón y me fue mal igual.»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«Capaz que esta carrera no es para mí.»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Vergüenza de preguntar cómo estudian los demás.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Ansiedad por el volumen del programa.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0488" y="1691640"/>
            <a:ext cx="5449824" cy="2212848"/>
          </a:xfrm>
          <a:prstGeom prst="roundRect">
            <a:avLst>
              <a:gd name="adj" fmla="val 4959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07808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31B2E"/>
                </a:solidFill>
              </a:rPr>
              <a:t>DICE Y HACE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07808" y="22402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Dice «esta vez arranco antes».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Relee la carpeta y subraya con tres colores.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Estudia muchas horas seguidas sin ponerse a prueba.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Descarga apps de estudio y las abandona.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449824" cy="2212848"/>
          </a:xfrm>
          <a:prstGeom prst="roundRect">
            <a:avLst>
              <a:gd name="adj" fmla="val 4959"/>
            </a:avLst>
          </a:prstGeom>
          <a:solidFill>
            <a:srgbClr val="FFECEB"/>
          </a:solidFill>
          <a:ln w="12700">
            <a:solidFill>
              <a:srgbClr val="F7C9C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A1A1A"/>
                </a:solidFill>
              </a:rPr>
              <a:t>QUÉ LO FRUSTRA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7200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Rendir mal después de estudiar tres días.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No saber si el problema es él o su método.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Consejos de YouTube que no sabe aplicar a su materia.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Las fechas dispersas en WhatsApp y la galería.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0488" y="4023360"/>
            <a:ext cx="5449824" cy="2212848"/>
          </a:xfrm>
          <a:prstGeom prst="roundRect">
            <a:avLst>
              <a:gd name="adj" fmla="val 4959"/>
            </a:avLst>
          </a:prstGeom>
          <a:solidFill>
            <a:srgbClr val="E3FBEF"/>
          </a:solidFill>
          <a:ln w="12700">
            <a:solidFill>
              <a:srgbClr val="BFEE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07808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6C49"/>
                </a:solidFill>
              </a:rPr>
              <a:t>QUÉ LO MOTIVA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07808" y="457200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Aprobar el primer año completo.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Confirmar que eligió bien la carrera.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No decepcionar a su familia.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Trabajar algún día como desarrollador.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27448" y="2578608"/>
            <a:ext cx="2743200" cy="2743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0" descr="/home/claude/deck/assets/img/toma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64608" y="2715768"/>
            <a:ext cx="2468880" cy="2468880"/>
          </a:xfrm>
          <a:prstGeom prst="ellipse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858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BBFF"/>
                </a:solidFill>
              </a:rPr>
              <a:t>ETAPA 4 DE 13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12801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User persona</a:t>
            </a:r>
            <a:endParaRPr lang="en-US" sz="4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66928" y="39776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</a:rPr>
              <a:t>04</a:t>
            </a:r>
            <a:endParaRPr lang="en-US" sz="15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7178040" y="1463040"/>
            <a:ext cx="4526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De proto personas a user personas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Ficha con foto y datos personales y demográficos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Biografía, intereses y hábitos de consumo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Objetivos, sueños y metas; relación con la tecnología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Frustraciones, motivaciones, frase y justificación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04 · USER PERSONA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De proto personas a user personas: qué cambió con los datos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023360"/>
                <a:gridCol w="368503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B2E"/>
                          </a:solidFill>
                        </a:rPr>
                        <a:t>Supuesto de la proto persona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B2E"/>
                          </a:solidFill>
                        </a:rPr>
                        <a:t>Qué encontramos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B2E"/>
                          </a:solidFill>
                        </a:rPr>
                        <a:t>Cómo quedó la user persona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Tomás estudia mal porque no tiene tiempo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Tiempo tiene; le falta criterio. 4 de 6 no conocían otra técnica que releer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El foco pasa a ser el método, no la agenda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Una app con muchas opciones le serviría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56 % no dedicaría más de 5 minutos a configurar una app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Diagnóstico de 6 pasos y un plan armado por la app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Camila estudiaría desde la computadora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Usa casi solo el celular, en el colectivo y a la noche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Mobile first y sesiones de 25 a 45 minutos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Ambos sabrían que se aprende poniéndose a prueba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82 % no conoce la recuperación activa ni el repaso espaciado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La app explica cada técnica dentro de la sesión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Al que le va mal piensa que le faltó estudiar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7 respuestas abiertas hablan de dudar de la propia capacidad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Se agrega el miedo a «no servir para la carrera»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04 · USER PERSONA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User persona principal: Tomás Aguirre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017520" cy="4526280"/>
          </a:xfrm>
          <a:prstGeom prst="roundRect">
            <a:avLst>
              <a:gd name="adj" fmla="val 3636"/>
            </a:avLst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pic>
        <p:nvPicPr>
          <p:cNvPr id="6" name="Image 0" descr="/home/claude/deck/assets/img/toma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2560320" cy="2057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4005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Tomás Aguirre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38912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1FF"/>
                </a:solidFill>
              </a:rPr>
              <a:t>19 años · soltero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1FF"/>
                </a:solidFill>
              </a:rPr>
              <a:t>Vive con sus padres en Maipú, Mendoza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1FF"/>
                </a:solidFill>
              </a:rPr>
              <a:t>1.º año de Ing. en Sistemas de Información, UTN FRM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1FF"/>
                </a:solidFill>
              </a:rPr>
              <a:t>Secundario técnico completo (2025)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1FF"/>
                </a:solidFill>
              </a:rPr>
              <a:t>Nivel socioeconómico medio · no trabaja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3749040" y="16916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</a:rPr>
              <a:t>BIOGRAFÍA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749040" y="1938528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068"/>
                </a:solidFill>
              </a:rPr>
              <a:t>Fue buen alumno en una secundaria técnica sin estudiar demasiado. En la facultad repite lo de siempre: relee la carpeta y subraya. Estudió tres días seguidos para el primer parcial de Análisis Matemático I y desaprobó. Desde entonces duda de si eligió bien.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3749040" y="3127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</a:rPr>
              <a:t>INTERESES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749040" y="33832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Videojuegos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Fútbol 5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Programación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Series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3127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</a:rPr>
              <a:t>HÁBITOS DE CONSUMO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5760720" y="338328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Android de gama media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Mercado Libre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Spotify gratis, YouTube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Instagram, TikTok, WhatsApp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749040" y="44805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</a:rPr>
              <a:t>RELACIÓN CON LA TECNOLOGÍA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749040" y="47548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Celular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394960" y="4800600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394960" y="4800600"/>
            <a:ext cx="2057400" cy="12801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749040" y="50474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Redes sociales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394960" y="5093208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94960" y="5093208"/>
            <a:ext cx="1943100" cy="12801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749040" y="534009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Computadora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394960" y="5385816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394960" y="5385816"/>
            <a:ext cx="1600200" cy="12801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749040" y="56327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Apps de productividad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394960" y="5678424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394960" y="5678424"/>
            <a:ext cx="571500" cy="12801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749040" y="59253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Apps de estudio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394960" y="5971032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394960" y="5971032"/>
            <a:ext cx="457200" cy="12801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909560" y="1691640"/>
            <a:ext cx="3730752" cy="1188720"/>
          </a:xfrm>
          <a:prstGeom prst="roundRect">
            <a:avLst>
              <a:gd name="adj" fmla="val 9231"/>
            </a:avLst>
          </a:prstGeom>
          <a:solidFill>
            <a:srgbClr val="EEF1FF"/>
          </a:solidFill>
          <a:ln w="12700">
            <a:solidFill>
              <a:srgbClr val="D3DB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074152" y="17647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37B0"/>
                </a:solidFill>
              </a:rPr>
              <a:t>OBJETIVOS, SUEÑOS Y METAS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8074152" y="201168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Aprobar el primer año completo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Recibirse en cinco años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Trabajar como desarrollador de software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7909560" y="2971800"/>
            <a:ext cx="3730752" cy="1051560"/>
          </a:xfrm>
          <a:prstGeom prst="roundRect">
            <a:avLst>
              <a:gd name="adj" fmla="val 10435"/>
            </a:avLst>
          </a:prstGeom>
          <a:solidFill>
            <a:srgbClr val="FFECEB"/>
          </a:solidFill>
          <a:ln w="12700">
            <a:solidFill>
              <a:srgbClr val="F7C9C5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074152" y="3044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A1A1A"/>
                </a:solidFill>
              </a:rPr>
              <a:t>FRUSTRACIONES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8074152" y="3291840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Estudiar mucho y rendir mal igual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No saber si el problema es él o su método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7909560" y="4114800"/>
            <a:ext cx="3730752" cy="1051560"/>
          </a:xfrm>
          <a:prstGeom prst="roundRect">
            <a:avLst>
              <a:gd name="adj" fmla="val 10435"/>
            </a:avLst>
          </a:prstGeom>
          <a:solidFill>
            <a:srgbClr val="E3FBEF"/>
          </a:solidFill>
          <a:ln w="12700">
            <a:solidFill>
              <a:srgbClr val="BFEED6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074152" y="4187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C49"/>
                </a:solidFill>
              </a:rPr>
              <a:t>MOTIVACIONES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8074152" y="4434840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Confirmar que eligió bien la carrera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No decepcionar a su familia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7909560" y="5257800"/>
            <a:ext cx="3730752" cy="960120"/>
          </a:xfrm>
          <a:prstGeom prst="roundRect">
            <a:avLst>
              <a:gd name="adj" fmla="val 11429"/>
            </a:avLst>
          </a:prstGeom>
          <a:solidFill>
            <a:srgbClr val="FFF4E8"/>
          </a:solidFill>
          <a:ln w="12700">
            <a:solidFill>
              <a:srgbClr val="F6D9B5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8074152" y="5321808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825100"/>
                </a:solidFill>
              </a:rPr>
              <a:t>«Estudié tres días seguidos y me fue mal. No sé si el problema soy yo o cómo estudio.»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04 · USER PERSONA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User persona secundaria: Camila Ríos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017520" cy="4526280"/>
          </a:xfrm>
          <a:prstGeom prst="roundRect">
            <a:avLst>
              <a:gd name="adj" fmla="val 3636"/>
            </a:avLst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pic>
        <p:nvPicPr>
          <p:cNvPr id="6" name="Image 0" descr="/home/claude/deck/assets/img/camil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74520"/>
            <a:ext cx="2560320" cy="2057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4005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Camila Ríos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38912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1FF"/>
                </a:solidFill>
              </a:rPr>
              <a:t>24 años · soltera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1FF"/>
                </a:solidFill>
              </a:rPr>
              <a:t>Vive sola en la Ciudad de Mendoza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1FF"/>
                </a:solidFill>
              </a:rPr>
              <a:t>2.º año de Contador Público, cursada nocturna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1FF"/>
                </a:solidFill>
              </a:rPr>
              <a:t>Administrativa en un estudio contable, 9 a 18 h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CE1FF"/>
                </a:solidFill>
              </a:rPr>
              <a:t>Nivel socioeconómico medio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3749040" y="16916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</a:rPr>
              <a:t>BIOGRAFÍA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749040" y="1938528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068"/>
                </a:solidFill>
              </a:rPr>
              <a:t>Empezó la carrera más tarde, cuando consiguió trabajo estable. Estudia de noche y en el colectivo, en bloques de una o dos horas. Probó Notion, armó un sistema completo y lo abandonó a las tres semanas porque le llevaba más tiempo mantenerlo que estudiar.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3749040" y="3127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</a:rPr>
              <a:t>INTERESES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749040" y="33832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Running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Lectura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Finanzas personales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Podcasts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31272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</a:rPr>
              <a:t>HÁBITOS DE CONSUMO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5760720" y="338328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Android, uso casi exclusivo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Apps bancarias y billeteras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Compras online</a:t>
            </a:r>
            <a:endParaRPr lang="en-US" sz="1100" dirty="0"/>
          </a:p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Instagram y podcasts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749040" y="448056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</a:rPr>
              <a:t>RELACIÓN CON LA TECNOLOGÍA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749040" y="47548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Celular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394960" y="4800600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394960" y="4800600"/>
            <a:ext cx="2171700" cy="12801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749040" y="50474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Computadora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394960" y="5093208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94960" y="5093208"/>
            <a:ext cx="1943100" cy="12801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749040" y="534009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Apps de productividad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394960" y="5385816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394960" y="5385816"/>
            <a:ext cx="1714500" cy="12801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749040" y="563270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Redes sociales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394960" y="5678424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394960" y="5678424"/>
            <a:ext cx="1600200" cy="12801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749040" y="59253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Apps de estudio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394960" y="5971032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E6E8F0"/>
          </a:solidFill>
          <a:ln w="12700">
            <a:solidFill>
              <a:srgbClr val="E6E8F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394960" y="5971032"/>
            <a:ext cx="685800" cy="128016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909560" y="1691640"/>
            <a:ext cx="3730752" cy="1188720"/>
          </a:xfrm>
          <a:prstGeom prst="roundRect">
            <a:avLst>
              <a:gd name="adj" fmla="val 9231"/>
            </a:avLst>
          </a:prstGeom>
          <a:solidFill>
            <a:srgbClr val="EEF1FF"/>
          </a:solidFill>
          <a:ln w="12700">
            <a:solidFill>
              <a:srgbClr val="D3DBF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8074152" y="17647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37B0"/>
                </a:solidFill>
              </a:rPr>
              <a:t>OBJETIVOS, SUEÑOS Y METAS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8074152" y="2011680"/>
            <a:ext cx="3456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Recibirse de contadora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Ascender a analista en el estudio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Viajar a Europa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7909560" y="2971800"/>
            <a:ext cx="3730752" cy="1051560"/>
          </a:xfrm>
          <a:prstGeom prst="roundRect">
            <a:avLst>
              <a:gd name="adj" fmla="val 10435"/>
            </a:avLst>
          </a:prstGeom>
          <a:solidFill>
            <a:srgbClr val="FFECEB"/>
          </a:solidFill>
          <a:ln w="12700">
            <a:solidFill>
              <a:srgbClr val="F7C9C5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074152" y="3044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A1A1A"/>
                </a:solidFill>
              </a:rPr>
              <a:t>FRUSTRACIONES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8074152" y="3291840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Perder la mitad del tiempo decidiendo qué estudiar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Apps que piden configurar demasiado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7909560" y="4114800"/>
            <a:ext cx="3730752" cy="1051560"/>
          </a:xfrm>
          <a:prstGeom prst="roundRect">
            <a:avLst>
              <a:gd name="adj" fmla="val 10435"/>
            </a:avLst>
          </a:prstGeom>
          <a:solidFill>
            <a:srgbClr val="E3FBEF"/>
          </a:solidFill>
          <a:ln w="12700">
            <a:solidFill>
              <a:srgbClr val="BFEED6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8074152" y="4187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6C49"/>
                </a:solidFill>
              </a:rPr>
              <a:t>MOTIVACIONES</a:t>
            </a:r>
            <a:endParaRPr lang="en-US" sz="1000" dirty="0"/>
          </a:p>
        </p:txBody>
      </p:sp>
      <p:sp>
        <p:nvSpPr>
          <p:cNvPr id="39" name="Text 35"/>
          <p:cNvSpPr txBox="1"/>
          <p:nvPr/>
        </p:nvSpPr>
        <p:spPr>
          <a:xfrm>
            <a:off x="8074152" y="4434840"/>
            <a:ext cx="34564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Estudiar menos horas pero mejor</a:t>
            </a:r>
            <a:endParaRPr lang="en-US" sz="11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4A5068"/>
                </a:solidFill>
              </a:rPr>
              <a:t>Demostrar que empezar tarde no la deja afuera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7909560" y="5257800"/>
            <a:ext cx="3730752" cy="960120"/>
          </a:xfrm>
          <a:prstGeom prst="roundRect">
            <a:avLst>
              <a:gd name="adj" fmla="val 11429"/>
            </a:avLst>
          </a:prstGeom>
          <a:solidFill>
            <a:srgbClr val="FFF4E8"/>
          </a:solidFill>
          <a:ln w="12700">
            <a:solidFill>
              <a:srgbClr val="F6D9B5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8074152" y="5321808"/>
            <a:ext cx="3456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825100"/>
                </a:solidFill>
              </a:rPr>
              <a:t>«Tengo dos horas por día. No me puedo dar el lujo de estudiar mal.»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04 · USER PERSONA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Por qué estas dos personas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389120"/>
          </a:xfrm>
          <a:prstGeom prst="roundRect">
            <a:avLst>
              <a:gd name="adj" fmla="val 2500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pic>
        <p:nvPicPr>
          <p:cNvPr id="5" name="Image 0" descr="/home/claude/deck/assets/img/toma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2057400"/>
            <a:ext cx="1371600" cy="1371600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6888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7B0"/>
                </a:solidFill>
              </a:rPr>
              <a:t>Tomás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246888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Usuario principal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5760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1B2E"/>
                </a:solidFill>
              </a:rPr>
              <a:t>Es el caso central del problema: ingresante, sin método, con técnicas pasivas. Define el MVP: diagnóstico, técnica por sesión y quiz.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2578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189"/>
                </a:solidFill>
              </a:rPr>
              <a:t>Evidencia: </a:t>
            </a:r>
            <a:pPr indent="0" marL="0">
              <a:buNone/>
            </a:pPr>
            <a:r>
              <a:rPr lang="en-US" sz="1200" dirty="0">
                <a:solidFill>
                  <a:srgbClr val="6B7189"/>
                </a:solidFill>
              </a:rPr>
              <a:t>Encuesta P2, P3, P4, P6 y P7 · 4 observaciones · entrevistas E1 a E4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783080"/>
            <a:ext cx="5440680" cy="4389120"/>
          </a:xfrm>
          <a:prstGeom prst="roundRect">
            <a:avLst>
              <a:gd name="adj" fmla="val 2500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pic>
        <p:nvPicPr>
          <p:cNvPr id="11" name="Image 1" descr="/home/claude/deck/assets/img/camil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2057400"/>
            <a:ext cx="1371600" cy="1371600"/>
          </a:xfrm>
          <a:prstGeom prst="ellipse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09244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6C49"/>
                </a:solidFill>
              </a:rPr>
              <a:t>Camila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Usuaria secundaria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365760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31B2E"/>
                </a:solidFill>
              </a:rPr>
              <a:t>Es el caso extremo de falta de tiempo: trabaja y estudia de noche. Obliga a que todo sea corto, móvil y sin configuración.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52578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189"/>
                </a:solidFill>
              </a:rPr>
              <a:t>Evidencia: </a:t>
            </a:r>
            <a:pPr indent="0" marL="0">
              <a:buNone/>
            </a:pPr>
            <a:r>
              <a:rPr lang="en-US" sz="1200" dirty="0">
                <a:solidFill>
                  <a:srgbClr val="6B7189"/>
                </a:solidFill>
              </a:rPr>
              <a:t>Encuesta P5, P9 y P10 · entrevistas E5 y E6 · Musso et al. (2021)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858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BBFF"/>
                </a:solidFill>
              </a:rPr>
              <a:t>ETAPA 5 DE 13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12801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POV, storytelling y storyboard</a:t>
            </a:r>
            <a:endParaRPr lang="en-US" sz="4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66928" y="39776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</a:rPr>
              <a:t>05</a:t>
            </a:r>
            <a:endParaRPr lang="en-US" sz="15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7178040" y="1463040"/>
            <a:ext cx="4526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POV: usuario + necesita + porque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Storytelling: inicio, nudo y desenlace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Storyboard en 6 dibujos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05 · POINT OF VIEW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Nuestro punto de vista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920240"/>
          </a:xfrm>
          <a:prstGeom prst="roundRect">
            <a:avLst>
              <a:gd name="adj" fmla="val 5714"/>
            </a:avLst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 estudiante que recién empieza una carrera necesita un método de estudio propio y una forma de comprobar si aprendió antes de rendir, porque nunca le enseñaron a estudiar y confunde haber leído el material con saberlo.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EEF1FF"/>
          </a:solidFill>
          <a:ln w="12700">
            <a:solidFill>
              <a:srgbClr val="EEF1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37B0"/>
                </a:solidFill>
              </a:rPr>
              <a:t>USUARIO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9884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1B2E"/>
                </a:solidFill>
              </a:rPr>
              <a:t>Un estudiante que recién empieza una carrera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39776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E3FBEF"/>
          </a:solidFill>
          <a:ln w="12700">
            <a:solidFill>
              <a:srgbClr val="E3FB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6C49"/>
                </a:solidFill>
              </a:rPr>
              <a:t>NECESITA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449884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1B2E"/>
                </a:solidFill>
              </a:rPr>
              <a:t>un método propio y una forma de comprobar si aprendió antes de rendir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3977640"/>
            <a:ext cx="3520440" cy="1600200"/>
          </a:xfrm>
          <a:prstGeom prst="roundRect">
            <a:avLst>
              <a:gd name="adj" fmla="val 6857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25100"/>
                </a:solidFill>
              </a:rPr>
              <a:t>PORQUE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449884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1B2E"/>
                </a:solidFill>
              </a:rPr>
              <a:t>nunca le enseñaron a estudiar y confunde haber leído con saber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189"/>
                </a:solidFill>
              </a:rPr>
              <a:t>El insight sale del cruce de P6 y P7: el 53 % cree que entendió porque terminó de leer y el 91 % ya rindió mal habiendo estudiado.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05 · STORYTELLING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La historia de Tomás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EEF1FF"/>
          </a:solidFill>
          <a:ln w="12700">
            <a:solidFill>
              <a:srgbClr val="EEF1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37B0"/>
                </a:solidFill>
              </a:rPr>
              <a:t>INICIO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468880"/>
            <a:ext cx="2926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1B2E"/>
                </a:solidFill>
              </a:rPr>
              <a:t>Tomás llega a la UTN desde una secundaria técnica de Maipú, donde aprobaba sin estudiar demasiado. Para el primer parcial de Análisis Matemático I hace lo de siempre: relee la carpeta, subraya con tres colores y se queda hasta las tres de la mañana los últimos tres días.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FFECEB"/>
          </a:solidFill>
          <a:ln w="12700">
            <a:solidFill>
              <a:srgbClr val="FFEC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0288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A1A1A"/>
                </a:solidFill>
              </a:rPr>
              <a:t>NUDO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2468880"/>
            <a:ext cx="2926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1B2E"/>
                </a:solidFill>
              </a:rPr>
              <a:t>Se saca un 4 y desaprueba. Esa noche piensa que la carrera no es para él. En el grupo de la comisión, una compañera recomienda Asesor de Estudio. La descarga sin mucha fe: cree que va a ser otra agenda más.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E3FBEF"/>
          </a:solidFill>
          <a:ln w="12700">
            <a:solidFill>
              <a:srgbClr val="E3FB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9328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6C49"/>
                </a:solidFill>
              </a:rPr>
              <a:t>DESENLACE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39328" y="2468880"/>
            <a:ext cx="2926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1B2E"/>
                </a:solidFill>
              </a:rPr>
              <a:t>En cuatro minutos hace el diagnóstico, carga el programa y la app le arma un plan con una técnica para cada sesión. Al cerrar cada una escribe sus preguntas; los quizzes le muestran qué no sabía. Aprueba el recuperatorio con 8 y, por primera vez, sabe por qué.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05 · STORYBOARD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Storyboard: del 4 al 8 en seis escenas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pic>
        <p:nvPicPr>
          <p:cNvPr id="5" name="Image 0" descr="/home/claude/deck/v/s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19072"/>
            <a:ext cx="2651760" cy="1737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20440" y="1801368"/>
            <a:ext cx="384048" cy="384048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52044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3447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B2E"/>
                </a:solidFill>
              </a:rPr>
              <a:t>Estudia hasta las 3 de la mañana releyendo y subrayando.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664208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pic>
        <p:nvPicPr>
          <p:cNvPr id="10" name="Image 1" descr="/home/claude/deck/v/s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19072"/>
            <a:ext cx="2651760" cy="17373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269480" y="1801368"/>
            <a:ext cx="384048" cy="384048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26948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462272" y="3447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B2E"/>
                </a:solidFill>
              </a:rPr>
              <a:t>Se saca un 4 y piensa que no sirve para la carrera.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664208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pic>
        <p:nvPicPr>
          <p:cNvPr id="15" name="Image 2" descr="/home/claude/deck/v/sb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719072"/>
            <a:ext cx="2651760" cy="17373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1018520" y="1801368"/>
            <a:ext cx="384048" cy="384048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10185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211312" y="3447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B2E"/>
                </a:solidFill>
              </a:rPr>
              <a:t>Una compañera le recomienda la app y crea su cuenta.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995928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pic>
        <p:nvPicPr>
          <p:cNvPr id="20" name="Image 3" descr="/home/claude/deck/v/sb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50792"/>
            <a:ext cx="2651760" cy="173736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520440" y="4133088"/>
            <a:ext cx="384048" cy="384048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352044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13232" y="5779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B2E"/>
                </a:solidFill>
              </a:rPr>
              <a:t>Hace el diagnóstico y la app le arma un plan con técnica.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97680" y="3995928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pic>
        <p:nvPicPr>
          <p:cNvPr id="25" name="Image 4" descr="/home/claude/deck/v/sb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050792"/>
            <a:ext cx="2651760" cy="173736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269480" y="4133088"/>
            <a:ext cx="384048" cy="384048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72694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462272" y="5779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B2E"/>
                </a:solidFill>
              </a:rPr>
              <a:t>Estudia con cronómetro y al cerrar escribe sus preguntas.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46720" y="3995928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pic>
        <p:nvPicPr>
          <p:cNvPr id="30" name="Image 5" descr="/home/claude/deck/v/sb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4050792"/>
            <a:ext cx="2651760" cy="173736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11018520" y="4133088"/>
            <a:ext cx="384048" cy="384048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1101852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211312" y="5779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1B2E"/>
                </a:solidFill>
              </a:rPr>
              <a:t>Los quizzes le muestran qué le faltaba: aprueba con 8.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858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BBFF"/>
                </a:solidFill>
              </a:rPr>
              <a:t>ETAPA 6 DE 13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12801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MVP</a:t>
            </a:r>
            <a:endParaRPr lang="en-US" sz="4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66928" y="39776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</a:rPr>
              <a:t>06</a:t>
            </a:r>
            <a:endParaRPr lang="en-US" sz="15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7178040" y="1463040"/>
            <a:ext cx="4526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Lista de tareas del producto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Imprescindibles para el MVP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Deseables para la versión 2.0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Función principal y por qué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Informe: qué se desarrolla primero y por qué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06 · MVP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Lista de tareas: qué entra en el MVP y qué queda para la 2.0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355080" cy="4480560"/>
          </a:xfrm>
          <a:prstGeom prst="roundRect">
            <a:avLst>
              <a:gd name="adj" fmla="val 2449"/>
            </a:avLst>
          </a:prstGeom>
          <a:solidFill>
            <a:srgbClr val="EEF1FF"/>
          </a:solidFill>
          <a:ln w="12700">
            <a:solidFill>
              <a:srgbClr val="D3D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37B0"/>
                </a:solidFill>
              </a:rPr>
              <a:t>IMPRESCINDIBLES · MVP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971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1B2E"/>
                </a:solidFill>
              </a:rPr>
              <a:t>Registrarse e iniciar sesión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1B2E"/>
                </a:solidFill>
              </a:rPr>
              <a:t>Diagnóstico inicial en 6 pasos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1B2E"/>
                </a:solidFill>
              </a:rPr>
              <a:t>Cargar materia, fecha del parcial y unidades con dificultad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1B2E"/>
                </a:solidFill>
              </a:rPr>
              <a:t>Generar el plan con una técnica por sesión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1B2E"/>
                </a:solidFill>
              </a:rPr>
              <a:t>Ver el calendario semanal y reprogramar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1B2E"/>
                </a:solidFill>
              </a:rPr>
              <a:t>Sesión de estudio con cronómetro y pasos guiados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240280"/>
            <a:ext cx="2926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1B2E"/>
                </a:solidFill>
              </a:rPr>
              <a:t>Escribir preguntas al cerrar la sesión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1B2E"/>
                </a:solidFill>
              </a:rPr>
              <a:t>Quiz de repaso espaciado con autocalificación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1B2E"/>
                </a:solidFill>
              </a:rPr>
              <a:t>Progreso: leído vs. dominado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1B2E"/>
                </a:solidFill>
              </a:rPr>
              <a:t>Ajuste sugerido del plan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31B2E"/>
                </a:solidFill>
              </a:rPr>
              <a:t>Recordatorios y ajustes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86600" y="1737360"/>
            <a:ext cx="4553712" cy="4480560"/>
          </a:xfrm>
          <a:prstGeom prst="roundRect">
            <a:avLst>
              <a:gd name="adj" fmla="val 2449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189"/>
                </a:solidFill>
              </a:rPr>
              <a:t>DESEABLES · VERSIÓN 2.0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2240280"/>
            <a:ext cx="4114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Sincronizar con Google Calendar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Importar el programa desde un PDF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Modo sin conexión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Estadísticas de horas por materia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Grupos de estudio y preguntas compartidas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Widget de Android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Modo oscuro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Recordatorios según la franja de mejor rendimiento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Versión web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06 · MVP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La función principal y el orden de desarrollo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BBFF"/>
                </a:solidFill>
              </a:rPr>
              <a:t>FUNCIÓN PRINCIPAL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El ciclo sesión con técnica → preguntas propias → quiz espaciado → leído vs. dominado.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1FF"/>
                </a:solidFill>
              </a:rPr>
              <a:t>Por qué: ataca el dato central de la investigación. El 53 % cree que leer es saber y el 91 % rindió mal habiendo estudiado. Sin este ciclo, la app sería otra agenda.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QUÉ SE DESARROLLA PRIMERO Y POR QUÉ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2194560"/>
            <a:ext cx="420624" cy="420624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1214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B2E"/>
                </a:solidFill>
              </a:rPr>
              <a:t>Motor del plan y técnicas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121408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Sin plan no hay sesiones: todo lo demás depende de él.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2880360"/>
            <a:ext cx="420624" cy="420624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28072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B2E"/>
                </a:solidFill>
              </a:rPr>
              <a:t>Sesión de estudio y preguntas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807208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Produce el insumo del quiz: las preguntas del estudiante.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3566160"/>
            <a:ext cx="420624" cy="420624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4930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B2E"/>
                </a:solidFill>
              </a:rPr>
              <a:t>Quiz y repaso espaciado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493008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Es donde se comprueba la hipótesis del producto.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4251960"/>
            <a:ext cx="420624" cy="420624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41788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B2E"/>
                </a:solidFill>
              </a:rPr>
              <a:t>Progreso leído / dominado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4178808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Hace visible el resultado y sostiene la motivación.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4937760"/>
            <a:ext cx="420624" cy="420624"/>
          </a:xfrm>
          <a:prstGeom prst="ellipse">
            <a:avLst/>
          </a:prstGeom>
          <a:solidFill>
            <a:srgbClr val="6B7189"/>
          </a:solidFill>
          <a:ln w="12700">
            <a:solidFill>
              <a:srgbClr val="6B71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0" y="4937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48646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B2E"/>
                </a:solidFill>
              </a:rPr>
              <a:t>Diagnóstico y onboarding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864608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Personaliza el plan; se puede afinar con datos reales.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5623560"/>
            <a:ext cx="420624" cy="420624"/>
          </a:xfrm>
          <a:prstGeom prst="ellipse">
            <a:avLst/>
          </a:prstGeom>
          <a:solidFill>
            <a:srgbClr val="6B7189"/>
          </a:solidFill>
          <a:ln w="12700">
            <a:solidFill>
              <a:srgbClr val="6B718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29200" y="5623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623560" y="55504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B2E"/>
                </a:solidFill>
              </a:rPr>
              <a:t>Cuenta, ajustes y recordatorios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5550408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068"/>
                </a:solidFill>
              </a:rPr>
              <a:t>Necesarios para publicar, pero no validan la idea.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858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BBFF"/>
                </a:solidFill>
              </a:rPr>
              <a:t>ETAPA 7 DE 13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12801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Arquitectura de la información</a:t>
            </a:r>
            <a:endParaRPr lang="en-US" sz="4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66928" y="39776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</a:rPr>
              <a:t>07</a:t>
            </a:r>
            <a:endParaRPr lang="en-US" sz="15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7178040" y="1463040"/>
            <a:ext cx="4526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Card sorting abierto con 20 tarjetas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Introducción, preguntas de segmentación y preguntas finales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10 participantes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Matriz de similitud y dendrograma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Informe: aciertos, errores, correcciones y conclusiones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07 · CARD SORTING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Card sorting abierto: cómo lo hicimos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931920" cy="4526280"/>
          </a:xfrm>
          <a:prstGeom prst="roundRect">
            <a:avLst>
              <a:gd name="adj" fmla="val 2791"/>
            </a:avLst>
          </a:prstGeom>
          <a:solidFill>
            <a:srgbClr val="EEF1FF"/>
          </a:solidFill>
          <a:ln w="12700">
            <a:solidFill>
              <a:srgbClr val="D3DB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37B0"/>
                </a:solidFill>
              </a:rPr>
              <a:t>INTRODUCCIÓN (LEÍDA A CADA PARTICIPANTE)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76272"/>
            <a:ext cx="3520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131B2E"/>
                </a:solidFill>
              </a:rPr>
              <a:t>«Gracias por participar. Estamos diseñando una app que ayuda a los estudiantes a organizar y mejorar cómo estudian. Te damos 20 tarjetas con cosas que se pueden hacer en la app. Agrupalas como te parezca lógico y ponele un nombre a cada grupo. No hay respuestas correctas: evaluamos la organización, no a vos. Si podés, pensá en voz alta.»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1691640"/>
            <a:ext cx="3383280" cy="4526280"/>
          </a:xfrm>
          <a:prstGeom prst="roundRect">
            <a:avLst>
              <a:gd name="adj" fmla="val 3243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64608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D4ED8"/>
                </a:solidFill>
              </a:rPr>
              <a:t>PREGUNTAS DE SEGMENTACIÓN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864608" y="219456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¿Cuántos años tenés?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¿Qué carrera estudiás y en qué año estás?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¿Trabajás además de estudiar?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¿Usás alguna app para estudiar? ¿Cuál?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¿Cómo organizás hoy las fechas de los parciales?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0" y="1691640"/>
            <a:ext cx="3410712" cy="4526280"/>
          </a:xfrm>
          <a:prstGeom prst="roundRect">
            <a:avLst>
              <a:gd name="adj" fmla="val 3217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30768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D4ED8"/>
                </a:solidFill>
              </a:rPr>
              <a:t>PREGUNTAS FINALES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430768" y="2194560"/>
            <a:ext cx="3063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¿Qué tarjeta te costó más ubicar? ¿Por qué?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¿Hubo alguna que pondrías en dos grupos?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¿Le cambiarías el nombre a alguna tarjeta?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¿Sentís que falta algo?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A5068"/>
                </a:solidFill>
              </a:rPr>
              <a:t>¿Qué grupo mirarías primero al abrir la app?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07 · CARD SORTING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Las 20 tarjetas y los 10 participantes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737360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Registrarse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21408" y="1737360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194560" y="1737360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Iniciar / cerrar sesión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94176" y="1737360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67328" y="1737360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Mi perfil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66944" y="1737360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340096" y="1737360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Ajustes y recordatorios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33472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1792" y="2633472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Notificaciones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121408" y="2633472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194560" y="2633472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Hacer el diagnóstico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94176" y="2633472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767328" y="2633472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Agregar materia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66944" y="2633472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340096" y="2633472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Cargar unidades del programa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529584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21792" y="3529584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Fecha del parcial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121408" y="3529584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2194560" y="3529584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Ver mi plan de estudio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94176" y="3529584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767328" y="3529584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Calendario semanal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266944" y="3529584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340096" y="3529584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Reprogramar sesión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425696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21792" y="4425696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Empezar sesión de estudio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121408" y="4425696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2194560" y="4425696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Pausar cronómetro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694176" y="4425696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3767328" y="4425696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Escribir preguntas de repaso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266944" y="4425696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340096" y="4425696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Técnicas de estudio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5321808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21792" y="5321808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Repasar preguntas (quiz)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121408" y="5321808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2194560" y="5321808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Calificar cómo me acordaba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694176" y="5321808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3767328" y="5321808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Ver progreso de la materia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266944" y="5321808"/>
            <a:ext cx="146304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  <a:effectLst>
            <a:outerShdw sx="100000" sy="100000" kx="0" ky="0" algn="bl" rotWithShape="0" blurRad="38100" dist="19050" dir="5400000">
              <a:srgbClr val="131B2E">
                <a:alpha val="1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5340096" y="5321808"/>
            <a:ext cx="13167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1B2E"/>
                </a:solidFill>
              </a:rPr>
              <a:t>Temas leídos y dominados</a:t>
            </a:r>
            <a:endParaRPr lang="en-US" sz="11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737360"/>
          <a:ext cx="455371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097280"/>
                <a:gridCol w="594360"/>
                <a:gridCol w="235915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Participante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Edad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Carrera y año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P1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Lucía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19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Ing. Industrial, 1.º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P2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Mateo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18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Ing. en Sistemas, 1.º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P3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Agustina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20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Ing. Civil, 2.º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P4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Franco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23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Contador Público, 2.º · trabaja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P5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Sofía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19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Arquitectura, 1.º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P6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Tobías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18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Ing. Electromecánica, 1.º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P7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Valentina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21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Ing. Química, 2.º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P8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Joaquín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19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Ing. en Sistemas, 1.º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P9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Martina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24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Contador Público, 2.º · trabaja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P10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Bruno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20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068"/>
                          </a:solidFill>
                        </a:rPr>
                        <a:t>Ing. Civil, 1.º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07 · CARD SORTING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Los grupos que armaron los participantes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749040"/>
                <a:gridCol w="1463040"/>
                <a:gridCol w="386791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B2E"/>
                          </a:solidFill>
                        </a:rPr>
                        <a:t>Grupo estandarizado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B2E"/>
                          </a:solidFill>
                        </a:rPr>
                        <a:t>Nombres que usaron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B2E"/>
                          </a:solidFill>
                        </a:rPr>
                        <a:t>Participantes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31B2E"/>
                          </a:solidFill>
                        </a:rPr>
                        <a:t>Tarjetas núcleo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Cuenta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«Mi cuenta», «Perfil», «Configuración»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10 de 10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Registrarse, Iniciar sesión, Mi perfil, Ajustes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Materias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«Mis materias», «Cursada», «Cargar datos»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9 de 10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Agregar materia, Cargar unidades, Fecha del parcial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Plan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«Organización», «Calendario», «Mi plan»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10 de 10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Ver mi plan, Calendario semanal, Reprogramar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Estudiar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«Estudiar», «Sesión», «Ahora»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10 de 10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Empezar sesión, Pausar cronómetro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Repasar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«Repaso», «Quiz», «Practicar»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9 de 10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Repasar preguntas, Calificar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Progreso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«Mis avances», «Progreso», «Resultados»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8 de 10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068"/>
                          </a:solidFill>
                        </a:rPr>
                        <a:t>Ver progreso, Temas leídos y dominados</a:t>
                      </a:r>
                      <a:endParaRPr lang="en-US" sz="13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07 · CARD SORTING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Matriz de similitud: qué tarjetas se agruparon juntas</a:t>
            </a:r>
            <a:endParaRPr lang="en-US" sz="3000" dirty="0"/>
          </a:p>
        </p:txBody>
      </p:sp>
      <p:pic>
        <p:nvPicPr>
          <p:cNvPr id="4" name="Image 0" descr="/home/claude/deck/v/matr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4934002" cy="4617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783080"/>
            <a:ext cx="4142232" cy="4434840"/>
          </a:xfrm>
          <a:prstGeom prst="roundRect">
            <a:avLst>
              <a:gd name="adj" fmla="val 2649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</a:rPr>
              <a:t>CÓMO SE LEE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24028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Cada celda es el porcentaje de participantes que puso esas dos tarjetas en el mismo grupo. Más oscuro, más acuerdo.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320040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31B2E"/>
                </a:solidFill>
              </a:rPr>
              <a:t>100 %: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A5068"/>
                </a:solidFill>
              </a:rPr>
              <a:t>Registrarse con Iniciar sesión, Agregar materia con Cargar unidades, Empezar sesión con Pausar, Ver progreso con Temas dominados.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31B2E"/>
                </a:solidFill>
              </a:rPr>
              <a:t>90 %: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A5068"/>
                </a:solidFill>
              </a:rPr>
              <a:t>Ver mi plan con Calendario semanal.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31B2E"/>
                </a:solidFill>
              </a:rPr>
              <a:t>Divididas: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A5068"/>
                </a:solidFill>
              </a:rPr>
              <a:t>Hacer el diagnóstico (60 / 40), Técnicas de estudio (50 / 40 / 10) y Escribir preguntas (60 / 40).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07 · CARD SORTING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Dendrograma: seis grupos naturales</a:t>
            </a:r>
            <a:endParaRPr lang="en-US" sz="3000" dirty="0"/>
          </a:p>
        </p:txBody>
      </p:sp>
      <p:pic>
        <p:nvPicPr>
          <p:cNvPr id="4" name="Image 0" descr="/home/claude/deck/v/dend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663166" cy="4663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4ED8"/>
                </a:solidFill>
              </a:rPr>
              <a:t>GRUPOS AL CORTAR EN 30 % DE SIMILITUD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686800" y="2423160"/>
            <a:ext cx="201168" cy="20116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006840" y="2331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Progreso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0" y="2898648"/>
            <a:ext cx="201168" cy="201168"/>
          </a:xfrm>
          <a:prstGeom prst="ellipse">
            <a:avLst/>
          </a:prstGeom>
          <a:solidFill>
            <a:srgbClr val="006C49"/>
          </a:solidFill>
          <a:ln w="12700">
            <a:solidFill>
              <a:srgbClr val="006C4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006840" y="28072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Repasar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86800" y="3374136"/>
            <a:ext cx="201168" cy="201168"/>
          </a:xfrm>
          <a:prstGeom prst="ellipse">
            <a:avLst/>
          </a:prstGeom>
          <a:solidFill>
            <a:srgbClr val="825100"/>
          </a:solidFill>
          <a:ln w="12700">
            <a:solidFill>
              <a:srgbClr val="8251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006840" y="32826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Estudiar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686800" y="3849624"/>
            <a:ext cx="201168" cy="201168"/>
          </a:xfrm>
          <a:prstGeom prst="ellipse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006840" y="375818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Plan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686800" y="4325112"/>
            <a:ext cx="201168" cy="201168"/>
          </a:xfrm>
          <a:prstGeom prst="ellipse">
            <a:avLst/>
          </a:prstGeom>
          <a:solidFill>
            <a:srgbClr val="BA1A1A"/>
          </a:solidFill>
          <a:ln w="12700">
            <a:solidFill>
              <a:srgbClr val="BA1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006840" y="4233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Cuenta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686800" y="4800600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06840" y="47091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B2E"/>
                </a:solidFill>
              </a:rPr>
              <a:t>Materias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0" y="52578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189"/>
                </a:solidFill>
              </a:rPr>
              <a:t>Agrupamiento jerárquico por enlace promedio sobre la matriz de similitud.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07 · INFORME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Informe del card sorting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E3FBEF"/>
          </a:solidFill>
          <a:ln w="12700">
            <a:solidFill>
              <a:srgbClr val="BFE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C49"/>
                </a:solidFill>
              </a:rPr>
              <a:t>ACIERTOS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8600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Los 6 grupos coinciden con la navegación propuesta.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Los pares obvios se agruparon al 100 %.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Nadie mezcló estudiar con repasar en una sola sección: hay dos momentos distintos.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4992" y="173736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FECEB"/>
          </a:solidFill>
          <a:ln w="12700">
            <a:solidFill>
              <a:srgbClr val="F7C9C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A1A1A"/>
                </a:solidFill>
              </a:rPr>
              <a:t>ERRORES Y AMBIGÜEDADES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28600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«Hacer el diagnóstico» quedó entre Materias y Cuenta.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«Técnicas de estudio» se repartió en tres grupos.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«Escribir preguntas»: 6 en Estudiar y 4 en Repasar.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«Notificaciones»: 7 en Cuenta y 3 en Plan.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1344" y="173736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EEF1FF"/>
          </a:solidFill>
          <a:ln w="12700">
            <a:solidFill>
              <a:srgbClr val="D3DB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37B0"/>
                </a:solidFill>
              </a:rPr>
              <a:t>CORRECCIONES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228600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El diagnóstico pasa al onboarding y queda en Perfil › Mi diagnóstico.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Las técnicas se explican dentro de cada sesión y además en Perfil.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Las preguntas se escriben al cerrar la sesión y se repasan en Quizzes.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Notificaciones como campana en el HOME.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97696" y="173736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FF4E8"/>
          </a:solidFill>
          <a:ln w="12700">
            <a:solidFill>
              <a:srgbClr val="F6D9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98864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25100"/>
                </a:solidFill>
              </a:rPr>
              <a:t>CONCLUSIONES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98864" y="228600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La barra inferior queda con 5 destinos: Inicio, Calendario, Quizzes, Progreso y Perfil.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Materias vive en Perfil y se crea desde el HOME.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La sesión de estudio es un flujo, no una pestaña.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858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BBFF"/>
                </a:solidFill>
              </a:rPr>
              <a:t>ETAPA 8 DE 13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12801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Mapa de sitio</a:t>
            </a:r>
            <a:endParaRPr lang="en-US" sz="4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66928" y="39776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</a:rPr>
              <a:t>08</a:t>
            </a:r>
            <a:endParaRPr lang="en-US" sz="15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7178040" y="1463040"/>
            <a:ext cx="4526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Mapa vertical que nace en el HOME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Categorías → subcategorías → tareas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Basado en los grupos del card sorting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08 · MAPA DE SITIO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Mapa de sitio: del HOME a cada tarea</a:t>
            </a:r>
            <a:endParaRPr lang="en-US" sz="3000" dirty="0"/>
          </a:p>
        </p:txBody>
      </p:sp>
      <p:pic>
        <p:nvPicPr>
          <p:cNvPr id="4" name="Image 0" descr="/home/claude/deck/v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210" y="1371600"/>
            <a:ext cx="9792532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858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BBFF"/>
                </a:solidFill>
              </a:rPr>
              <a:t>ETAPA 9 DE 13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12801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Wireframes</a:t>
            </a:r>
            <a:endParaRPr lang="en-US" sz="4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66928" y="39776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</a:rPr>
              <a:t>09</a:t>
            </a:r>
            <a:endParaRPr lang="en-US" sz="15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7178040" y="1463040"/>
            <a:ext cx="4526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Bocetos a mano del happy path, desde Registrarse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Wireframes digitales de baja fidelidad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En escala de grises, sin texto específico ni imágenes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09 · BOCETOS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Bocetos del happy path (1 de 2): de Registrarse al plan</a:t>
            </a:r>
            <a:endParaRPr lang="en-US" sz="3000" dirty="0"/>
          </a:p>
        </p:txBody>
      </p:sp>
      <p:pic>
        <p:nvPicPr>
          <p:cNvPr id="4" name="Image 0" descr="/home/claude/deck/v/hoj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17810"/>
            <a:ext cx="11091672" cy="3662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068"/>
                </a:solidFill>
              </a:rPr>
              <a:t>Registrarse  →  Diagnóstico  →  Perfil de estudio  →  Nueva materia  →  Unidades  →  Plan listo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09 · BOCETOS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Bocetos del happy path (2 de 2): del HOME al progreso</a:t>
            </a:r>
            <a:endParaRPr lang="en-US" sz="3000" dirty="0"/>
          </a:p>
        </p:txBody>
      </p:sp>
      <p:pic>
        <p:nvPicPr>
          <p:cNvPr id="4" name="Image 0" descr="/home/claude/deck/v/hoj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17810"/>
            <a:ext cx="11091672" cy="3662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068"/>
                </a:solidFill>
              </a:rPr>
              <a:t>HOME  →  Calendario  →  Sesión activa  →  Preguntas  →  Quiz  →  Progreso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09 · WIREFRAMES DIGITALES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Wireframes de baja fidelidad (1 de 2)</a:t>
            </a:r>
            <a:endParaRPr lang="en-US" sz="3000" dirty="0"/>
          </a:p>
        </p:txBody>
      </p:sp>
      <p:pic>
        <p:nvPicPr>
          <p:cNvPr id="4" name="Image 0" descr="/home/claude/deck/v/wf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42629"/>
            <a:ext cx="11091672" cy="36128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068"/>
                </a:solidFill>
              </a:rPr>
              <a:t>Registrarse  →  Diagnóstico  →  Perfil de estudio  →  Nueva materia  →  Unidades  →  Plan listo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09 · WIREFRAMES DIGITALES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Wireframes de baja fidelidad (2 de 2)</a:t>
            </a:r>
            <a:endParaRPr lang="en-US" sz="3000" dirty="0"/>
          </a:p>
        </p:txBody>
      </p:sp>
      <p:pic>
        <p:nvPicPr>
          <p:cNvPr id="4" name="Image 0" descr="/home/claude/deck/v/wf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39541"/>
            <a:ext cx="11091672" cy="361899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068"/>
                </a:solidFill>
              </a:rPr>
              <a:t>HOME  →  Calendario  →  Sesión activa  →  Preguntas  →  Quiz  →  Progreso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858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BBFF"/>
                </a:solidFill>
              </a:rPr>
              <a:t>ETAPA 10 DE 13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12801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Patrones de diseño</a:t>
            </a:r>
            <a:endParaRPr lang="en-US" sz="4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66928" y="39776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</a:rPr>
              <a:t>10</a:t>
            </a:r>
            <a:endParaRPr lang="en-US" sz="15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7178040" y="1463040"/>
            <a:ext cx="4526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Patrones de navegación e interacción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Componentes de Material Design 3 (Android)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Marcados sobre una copia de los wireframes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10 · PATRONES DE DISEÑO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Patrones en Registrarse, HOME y Sesión activa</a:t>
            </a:r>
            <a:endParaRPr lang="en-US" sz="3000" dirty="0"/>
          </a:p>
        </p:txBody>
      </p:sp>
      <p:pic>
        <p:nvPicPr>
          <p:cNvPr id="4" name="Image 0" descr="/home/claude/deck/v/pa_regis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5438"/>
            <a:ext cx="2057400" cy="38929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943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068"/>
                </a:solidFill>
              </a:rPr>
              <a:t>Registrarse</a:t>
            </a:r>
            <a:endParaRPr lang="en-US" sz="1200" dirty="0"/>
          </a:p>
        </p:txBody>
      </p:sp>
      <p:pic>
        <p:nvPicPr>
          <p:cNvPr id="6" name="Image 1" descr="/home/claude/deck/v/pa_inic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825438"/>
            <a:ext cx="2057400" cy="38929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51760" y="5943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068"/>
                </a:solidFill>
              </a:rPr>
              <a:t>HOME</a:t>
            </a:r>
            <a:endParaRPr lang="en-US" sz="1200" dirty="0"/>
          </a:p>
        </p:txBody>
      </p:sp>
      <p:pic>
        <p:nvPicPr>
          <p:cNvPr id="8" name="Image 2" descr="/home/claude/deck/v/pa_activ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25438"/>
            <a:ext cx="2057400" cy="389292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800600" y="5943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068"/>
                </a:solidFill>
              </a:rPr>
              <a:t>Sesión activa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7086600" y="1691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</a:rPr>
              <a:t>REGISTRARSE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7086600" y="1965960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086600" y="1965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3" name="Text 8"/>
          <p:cNvSpPr txBox="1"/>
          <p:nvPr/>
        </p:nvSpPr>
        <p:spPr>
          <a:xfrm>
            <a:off x="7415784" y="19476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Top app bar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título y volver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086600" y="2226564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086600" y="22265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6" name="Text 11"/>
          <p:cNvSpPr txBox="1"/>
          <p:nvPr/>
        </p:nvSpPr>
        <p:spPr>
          <a:xfrm>
            <a:off x="7415784" y="22082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Linear progress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paso 1 de 3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086600" y="2487168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086600" y="2487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9" name="Text 14"/>
          <p:cNvSpPr txBox="1"/>
          <p:nvPr/>
        </p:nvSpPr>
        <p:spPr>
          <a:xfrm>
            <a:off x="7415784" y="2468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Outlined text field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nombre, email, clave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086600" y="2747772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086600" y="27477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2" name="Text 17"/>
          <p:cNvSpPr txBox="1"/>
          <p:nvPr/>
        </p:nvSpPr>
        <p:spPr>
          <a:xfrm>
            <a:off x="7415784" y="27294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Checkbox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aceptar términos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086600" y="3008376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086600" y="30083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5" name="Text 20"/>
          <p:cNvSpPr txBox="1"/>
          <p:nvPr/>
        </p:nvSpPr>
        <p:spPr>
          <a:xfrm>
            <a:off x="7415784" y="2990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Filled button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acción principal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7086600" y="33238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</a:rPr>
              <a:t>HOME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086600" y="3598164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086600" y="35981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29" name="Text 24"/>
          <p:cNvSpPr txBox="1"/>
          <p:nvPr/>
        </p:nvSpPr>
        <p:spPr>
          <a:xfrm>
            <a:off x="7415784" y="35798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Icon button con badge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notificaciones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086600" y="3858768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086600" y="38587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32" name="Text 27"/>
          <p:cNvSpPr txBox="1"/>
          <p:nvPr/>
        </p:nvSpPr>
        <p:spPr>
          <a:xfrm>
            <a:off x="7415784" y="38404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Cards de resumen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racha, plan, horas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7086600" y="4119372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086600" y="41193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35" name="Text 30"/>
          <p:cNvSpPr txBox="1"/>
          <p:nvPr/>
        </p:nvSpPr>
        <p:spPr>
          <a:xfrm>
            <a:off x="7415784" y="41010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Elevated card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próxima sesión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7086600" y="4379976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7086600" y="4379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38" name="Text 33"/>
          <p:cNvSpPr txBox="1"/>
          <p:nvPr/>
        </p:nvSpPr>
        <p:spPr>
          <a:xfrm>
            <a:off x="7415784" y="43616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Tonal button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empezar sesión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7086600" y="4640580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7086600" y="46405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41" name="Text 36"/>
          <p:cNvSpPr txBox="1"/>
          <p:nvPr/>
        </p:nvSpPr>
        <p:spPr>
          <a:xfrm>
            <a:off x="7415784" y="46222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Navigation bar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5 destinos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7086600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</a:rPr>
              <a:t>SESIÓN ACTIVA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7086600" y="5230368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7086600" y="5230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45" name="Text 40"/>
          <p:cNvSpPr txBox="1"/>
          <p:nvPr/>
        </p:nvSpPr>
        <p:spPr>
          <a:xfrm>
            <a:off x="7415784" y="5212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Circular progress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cronómetro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7086600" y="5490972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7086600" y="54909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48" name="Text 43"/>
          <p:cNvSpPr txBox="1"/>
          <p:nvPr/>
        </p:nvSpPr>
        <p:spPr>
          <a:xfrm>
            <a:off x="7415784" y="54726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Tonal + outlined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pausar y terminar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7086600" y="5751576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7086600" y="57515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51" name="Text 46"/>
          <p:cNvSpPr txBox="1"/>
          <p:nvPr/>
        </p:nvSpPr>
        <p:spPr>
          <a:xfrm>
            <a:off x="7415784" y="57332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Lista de pasos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guía de la técnica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7086600" y="6012180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7086600" y="60121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54" name="Text 49"/>
          <p:cNvSpPr txBox="1"/>
          <p:nvPr/>
        </p:nvSpPr>
        <p:spPr>
          <a:xfrm>
            <a:off x="7415784" y="59938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Banner informativo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qué viene después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10 · PATRONES DE DISEÑO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Patrones en Preguntas, Quiz y Progreso</a:t>
            </a:r>
            <a:endParaRPr lang="en-US" sz="3000" dirty="0"/>
          </a:p>
        </p:txBody>
      </p:sp>
      <p:pic>
        <p:nvPicPr>
          <p:cNvPr id="4" name="Image 0" descr="/home/claude/deck/v/pa_pregun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5438"/>
            <a:ext cx="2057400" cy="38929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943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068"/>
                </a:solidFill>
              </a:rPr>
              <a:t>Preguntas</a:t>
            </a:r>
            <a:endParaRPr lang="en-US" sz="1200" dirty="0"/>
          </a:p>
        </p:txBody>
      </p:sp>
      <p:pic>
        <p:nvPicPr>
          <p:cNvPr id="6" name="Image 1" descr="/home/claude/deck/v/pa_qui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825438"/>
            <a:ext cx="2057400" cy="38929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51760" y="5943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068"/>
                </a:solidFill>
              </a:rPr>
              <a:t>Quiz</a:t>
            </a:r>
            <a:endParaRPr lang="en-US" sz="1200" dirty="0"/>
          </a:p>
        </p:txBody>
      </p:sp>
      <p:pic>
        <p:nvPicPr>
          <p:cNvPr id="8" name="Image 2" descr="/home/claude/deck/v/pa_progres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25438"/>
            <a:ext cx="2057400" cy="389292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800600" y="5943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068"/>
                </a:solidFill>
              </a:rPr>
              <a:t>Progreso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7086600" y="16916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</a:rPr>
              <a:t>PREGUNTAS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7086600" y="1965960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086600" y="1965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3" name="Text 8"/>
          <p:cNvSpPr txBox="1"/>
          <p:nvPr/>
        </p:nvSpPr>
        <p:spPr>
          <a:xfrm>
            <a:off x="7415784" y="19476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Banner de éxito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sesión completada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086600" y="2226564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086600" y="22265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6" name="Text 11"/>
          <p:cNvSpPr txBox="1"/>
          <p:nvPr/>
        </p:nvSpPr>
        <p:spPr>
          <a:xfrm>
            <a:off x="7415784" y="22082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Assist chips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disparadores de preguntas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086600" y="2487168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086600" y="2487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9" name="Text 14"/>
          <p:cNvSpPr txBox="1"/>
          <p:nvPr/>
        </p:nvSpPr>
        <p:spPr>
          <a:xfrm>
            <a:off x="7415784" y="2468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Text field multilínea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pregunta y respuesta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086600" y="2747772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086600" y="27477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2" name="Text 17"/>
          <p:cNvSpPr txBox="1"/>
          <p:nvPr/>
        </p:nvSpPr>
        <p:spPr>
          <a:xfrm>
            <a:off x="7415784" y="27294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Filled button + snackbar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guardar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7086600" y="3063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</a:rPr>
              <a:t>QUIZ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086600" y="3337560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086600" y="3337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26" name="Text 21"/>
          <p:cNvSpPr txBox="1"/>
          <p:nvPr/>
        </p:nvSpPr>
        <p:spPr>
          <a:xfrm>
            <a:off x="7415784" y="33192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Linear progress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pregunta 1 de 2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086600" y="3598164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086600" y="35981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29" name="Text 24"/>
          <p:cNvSpPr txBox="1"/>
          <p:nvPr/>
        </p:nvSpPr>
        <p:spPr>
          <a:xfrm>
            <a:off x="7415784" y="35798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Card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pregunta escrita por el usuario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086600" y="3858768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086600" y="38587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32" name="Text 27"/>
          <p:cNvSpPr txBox="1"/>
          <p:nvPr/>
        </p:nvSpPr>
        <p:spPr>
          <a:xfrm>
            <a:off x="7415784" y="38404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Segmented buttons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cómo me acordaba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7086600" y="4119372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086600" y="41193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35" name="Text 30"/>
          <p:cNvSpPr txBox="1"/>
          <p:nvPr/>
        </p:nvSpPr>
        <p:spPr>
          <a:xfrm>
            <a:off x="7415784" y="41010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Filled button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ver respuesta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7086600" y="4434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4ED8"/>
                </a:solidFill>
              </a:rPr>
              <a:t>PROGRESO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7086600" y="4709160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7086600" y="4709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39" name="Text 34"/>
          <p:cNvSpPr txBox="1"/>
          <p:nvPr/>
        </p:nvSpPr>
        <p:spPr>
          <a:xfrm>
            <a:off x="7415784" y="46908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Filter chips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materias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7086600" y="4969764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7086600" y="49697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42" name="Text 37"/>
          <p:cNvSpPr txBox="1"/>
          <p:nvPr/>
        </p:nvSpPr>
        <p:spPr>
          <a:xfrm>
            <a:off x="7415784" y="49514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Cards de estado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leídos y dominados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7086600" y="5230368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7086600" y="5230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45" name="Text 40"/>
          <p:cNvSpPr txBox="1"/>
          <p:nvPr/>
        </p:nvSpPr>
        <p:spPr>
          <a:xfrm>
            <a:off x="7415784" y="5212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Linear progress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avance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7086600" y="5490972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7086600" y="54909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48" name="Text 43"/>
          <p:cNvSpPr txBox="1"/>
          <p:nvPr/>
        </p:nvSpPr>
        <p:spPr>
          <a:xfrm>
            <a:off x="7415784" y="54726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List + status chip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cada unidad</a:t>
            </a:r>
            <a:endParaRPr lang="en-US" sz="1100" dirty="0"/>
          </a:p>
        </p:txBody>
      </p:sp>
      <p:sp>
        <p:nvSpPr>
          <p:cNvPr id="49" name="Shape 44"/>
          <p:cNvSpPr/>
          <p:nvPr/>
        </p:nvSpPr>
        <p:spPr>
          <a:xfrm>
            <a:off x="7086600" y="5751576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7086600" y="57515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51" name="Text 46"/>
          <p:cNvSpPr txBox="1"/>
          <p:nvPr/>
        </p:nvSpPr>
        <p:spPr>
          <a:xfrm>
            <a:off x="7415784" y="57332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Icon button → bottom sheet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ayuda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7086600" y="6012180"/>
            <a:ext cx="219456" cy="219456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7086600" y="60121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54" name="Text 49"/>
          <p:cNvSpPr txBox="1"/>
          <p:nvPr/>
        </p:nvSpPr>
        <p:spPr>
          <a:xfrm>
            <a:off x="7415784" y="59938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1B2E"/>
                </a:solidFill>
              </a:rPr>
              <a:t>Navigation bar</a:t>
            </a:r>
            <a:pPr indent="0" marL="0">
              <a:buNone/>
            </a:pPr>
            <a:r>
              <a:rPr lang="en-US" sz="1100" dirty="0">
                <a:solidFill>
                  <a:srgbClr val="4A5068"/>
                </a:solidFill>
              </a:rPr>
              <a:t> · destino activo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858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BBFF"/>
                </a:solidFill>
              </a:rPr>
              <a:t>ETAPA 11 DE 13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12801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Wireflow</a:t>
            </a:r>
            <a:endParaRPr lang="en-US" sz="4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66928" y="39776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</a:rPr>
              <a:t>11</a:t>
            </a:r>
            <a:endParaRPr lang="en-US" sz="15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7178040" y="1463040"/>
            <a:ext cx="4526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Wireflow del happy path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Pantallas, acciones y decisiones conectadas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11 · WIREFLOW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Wireflow del happy path, con sus dos decisiones</a:t>
            </a:r>
            <a:endParaRPr lang="en-US" sz="3000" dirty="0"/>
          </a:p>
        </p:txBody>
      </p:sp>
      <p:pic>
        <p:nvPicPr>
          <p:cNvPr id="4" name="Image 0" descr="/home/claude/deck/v/wire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916" y="1417320"/>
            <a:ext cx="10231120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858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BBFF"/>
                </a:solidFill>
              </a:rPr>
              <a:t>ETAPA 12 DE 13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12801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Prototipo funcional</a:t>
            </a:r>
            <a:endParaRPr lang="en-US" sz="4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66928" y="39776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</a:rPr>
              <a:t>12</a:t>
            </a:r>
            <a:endParaRPr lang="en-US" sz="15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7178040" y="1463040"/>
            <a:ext cx="4526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Evolución: boceto → baja fidelidad → patrones → alta fidelidad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Pantallas del happy path en alta fidelidad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Link al prototipo navegable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12 · PROTOTIPO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Evolución de una pantalla: del boceto al prototipo</a:t>
            </a:r>
            <a:endParaRPr lang="en-US" sz="3000" dirty="0"/>
          </a:p>
        </p:txBody>
      </p:sp>
      <p:pic>
        <p:nvPicPr>
          <p:cNvPr id="4" name="Image 0" descr="/home/claude/deck/v/sk_ini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05735"/>
            <a:ext cx="1298448" cy="242377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12064" y="5715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5068"/>
                </a:solidFill>
              </a:rPr>
              <a:t>Boceto a mano</a:t>
            </a:r>
            <a:endParaRPr lang="en-US" sz="1050" dirty="0"/>
          </a:p>
        </p:txBody>
      </p:sp>
      <p:pic>
        <p:nvPicPr>
          <p:cNvPr id="6" name="Image 1" descr="/home/claude/deck/v/lo_inic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589186"/>
            <a:ext cx="1298448" cy="245686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883664" y="5715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5068"/>
                </a:solidFill>
              </a:rPr>
              <a:t>Wireframe digital</a:t>
            </a:r>
            <a:endParaRPr lang="en-US" sz="1050" dirty="0"/>
          </a:p>
        </p:txBody>
      </p:sp>
      <p:pic>
        <p:nvPicPr>
          <p:cNvPr id="8" name="Image 2" descr="/home/claude/deck/v/pa_inic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589186"/>
            <a:ext cx="1298448" cy="245686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255264" y="5715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5068"/>
                </a:solidFill>
              </a:rPr>
              <a:t>Patrones Material 3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4663440" y="2432304"/>
            <a:ext cx="1313941" cy="2715768"/>
          </a:xfrm>
          <a:prstGeom prst="roundRect">
            <a:avLst>
              <a:gd name="adj" fmla="val 11135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11" name="Image 3" descr="/home/claude/deck/assets/img/11_inic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487168"/>
            <a:ext cx="1204213" cy="26060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626864" y="5715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5068"/>
                </a:solidFill>
              </a:rPr>
              <a:t>Alta fidelidad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7B0"/>
                </a:solidFill>
              </a:rPr>
              <a:t>HOME</a:t>
            </a:r>
            <a:endParaRPr lang="en-US" sz="1500" dirty="0"/>
          </a:p>
        </p:txBody>
      </p:sp>
      <p:pic>
        <p:nvPicPr>
          <p:cNvPr id="14" name="Image 4" descr="/home/claude/deck/v/sk_activ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605735"/>
            <a:ext cx="1298448" cy="242377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135624" y="5715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5068"/>
                </a:solidFill>
              </a:rPr>
              <a:t>Boceto a mano</a:t>
            </a:r>
            <a:endParaRPr lang="en-US" sz="1050" dirty="0"/>
          </a:p>
        </p:txBody>
      </p:sp>
      <p:pic>
        <p:nvPicPr>
          <p:cNvPr id="16" name="Image 5" descr="/home/claude/deck/v/lo_activ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2589186"/>
            <a:ext cx="1298448" cy="2456867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507224" y="5715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5068"/>
                </a:solidFill>
              </a:rPr>
              <a:t>Wireframe digital</a:t>
            </a:r>
            <a:endParaRPr lang="en-US" sz="1050" dirty="0"/>
          </a:p>
        </p:txBody>
      </p:sp>
      <p:pic>
        <p:nvPicPr>
          <p:cNvPr id="18" name="Image 6" descr="/home/claude/deck/v/pa_activ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2589186"/>
            <a:ext cx="1298448" cy="2456867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8878824" y="5715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5068"/>
                </a:solidFill>
              </a:rPr>
              <a:t>Patrones Material 3</a:t>
            </a:r>
            <a:endParaRPr lang="en-US" sz="1050" dirty="0"/>
          </a:p>
        </p:txBody>
      </p:sp>
      <p:sp>
        <p:nvSpPr>
          <p:cNvPr id="20" name="Shape 11"/>
          <p:cNvSpPr/>
          <p:nvPr/>
        </p:nvSpPr>
        <p:spPr>
          <a:xfrm>
            <a:off x="10287000" y="2432304"/>
            <a:ext cx="1313941" cy="2715768"/>
          </a:xfrm>
          <a:prstGeom prst="roundRect">
            <a:avLst>
              <a:gd name="adj" fmla="val 11135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21" name="Image 7" descr="/home/claude/deck/assets/img/14_sesion_activ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1864" y="2487168"/>
            <a:ext cx="1204213" cy="260604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0250424" y="5715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5068"/>
                </a:solidFill>
              </a:rPr>
              <a:t>Alta fidelidad</a:t>
            </a:r>
            <a:endParaRPr lang="en-US" sz="1050" dirty="0"/>
          </a:p>
        </p:txBody>
      </p:sp>
      <p:sp>
        <p:nvSpPr>
          <p:cNvPr id="23" name="Text 13"/>
          <p:cNvSpPr txBox="1"/>
          <p:nvPr/>
        </p:nvSpPr>
        <p:spPr>
          <a:xfrm>
            <a:off x="617220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7B0"/>
                </a:solidFill>
              </a:rPr>
              <a:t>Sesión activa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12 · PROTOTIPO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Alta fidelidad (1 de 3): cuenta y diagnóstico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5" name="Image 0" descr="/home/claude/deck/assets/img/02_acce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83080"/>
            <a:ext cx="164787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4747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Acceso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44144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8" name="Image 1" descr="/home/claude/deck/assets/img/04_regist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1783080"/>
            <a:ext cx="1647870" cy="35661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22199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Registrarse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1596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11" name="Image 2" descr="/home/claude/deck/assets/img/05_bienvenid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783080"/>
            <a:ext cx="1647870" cy="35661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9651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Bienvenida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19048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14" name="Image 3" descr="/home/claude/deck/assets/img/06_diagnostic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783080"/>
            <a:ext cx="1647870" cy="35661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97103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Diagnóstico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806500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17" name="Image 4" descr="/home/claude/deck/assets/img/07_perfil_estudi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1783080"/>
            <a:ext cx="1647870" cy="35661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84555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Perfil de estudio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993952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20" name="Image 5" descr="/home/claude/deck/assets/img/08_materia_nuev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2" y="1783080"/>
            <a:ext cx="1647870" cy="35661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72007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Nueva materia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12 · PROTOTIPO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Alta fidelidad (2 de 3): plan, HOME y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5" name="Image 0" descr="/home/claude/deck/assets/img/09_p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83080"/>
            <a:ext cx="164787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4747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Unidades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44144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8" name="Image 1" descr="/home/claude/deck/assets/img/10_plan_lis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1783080"/>
            <a:ext cx="1647870" cy="35661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22199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Plan listo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1596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11" name="Image 2" descr="/home/claude/deck/assets/img/11_inic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783080"/>
            <a:ext cx="1647870" cy="35661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9651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HOME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19048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14" name="Image 3" descr="/home/claude/deck/assets/img/12_calendar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783080"/>
            <a:ext cx="1647870" cy="35661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97103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Calendario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806500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17" name="Image 4" descr="/home/claude/deck/assets/img/14_sesion_activ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1783080"/>
            <a:ext cx="1647870" cy="35661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84555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Sesión activa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993952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20" name="Image 5" descr="/home/claude/deck/assets/img/15_pregunta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2" y="1783080"/>
            <a:ext cx="1647870" cy="35661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72007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Preguntas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12 · PROTOTIPO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Alta fidelidad (3 de 3): repaso y progreso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5" name="Image 0" descr="/home/claude/deck/assets/img/17_quiz_pregun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83080"/>
            <a:ext cx="1647870" cy="3566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4747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Quiz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44144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8" name="Image 1" descr="/home/claude/deck/assets/img/18_quiz_respues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1783080"/>
            <a:ext cx="1647870" cy="35661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22199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Calificar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1596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11" name="Image 2" descr="/home/claude/deck/assets/img/19_quiz_resulta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783080"/>
            <a:ext cx="1647870" cy="35661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9651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Resultado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19048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14" name="Image 3" descr="/home/claude/deck/assets/img/21_progres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783080"/>
            <a:ext cx="1647870" cy="35661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97103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Progreso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806500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17" name="Image 4" descr="/home/claude/deck/assets/img/26_ayuda_estado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1783080"/>
            <a:ext cx="1647870" cy="35661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84555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Ayuda de estados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9939528" y="1728216"/>
            <a:ext cx="1757598" cy="3675888"/>
          </a:xfrm>
          <a:prstGeom prst="roundRect">
            <a:avLst>
              <a:gd name="adj" fmla="val 8324"/>
            </a:avLst>
          </a:prstGeom>
          <a:solidFill>
            <a:srgbClr val="10162A"/>
          </a:solidFill>
          <a:ln w="12700">
            <a:solidFill>
              <a:srgbClr val="10162A"/>
            </a:solidFill>
            <a:prstDash val="solid"/>
          </a:ln>
          <a:effectLst>
            <a:outerShdw sx="100000" sy="100000" kx="0" ky="0" algn="bl" rotWithShape="0" blurRad="101600" dist="38100" dir="5400000">
              <a:srgbClr val="131B2E">
                <a:alpha val="25000"/>
              </a:srgbClr>
            </a:outerShdw>
          </a:effectLst>
        </p:spPr>
      </p:sp>
      <p:pic>
        <p:nvPicPr>
          <p:cNvPr id="20" name="Image 5" descr="/home/claude/deck/assets/img/23_perfi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2" y="1783080"/>
            <a:ext cx="1647870" cy="35661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720072" y="5458968"/>
            <a:ext cx="2196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068"/>
                </a:solidFill>
              </a:rPr>
              <a:t>Perfil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12 · PROTOTIPO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Cómo funciona el prototipo por dentro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794760" cy="20574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7B0"/>
                </a:solidFill>
              </a:rPr>
              <a:t>Plan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068"/>
                </a:solidFill>
              </a:rPr>
              <a:t>Reparte cada unidad en pasadas según su dificultad: fácil 2, media 3, difícil 4. Cada pasada usa una técnica distinta: lectura activa, recuperación, ejercitación y práctica intercalada.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26280" y="1783080"/>
            <a:ext cx="3794760" cy="20574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7B0"/>
                </a:solidFill>
              </a:rPr>
              <a:t>Calendario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23774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068"/>
                </a:solidFill>
              </a:rPr>
              <a:t>Ubica las sesiones en la franja horaria de mejor rendimiento, respeta los minutos por día y separa las pasadas de una misma unidad.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023360"/>
            <a:ext cx="3794760" cy="20574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7B0"/>
                </a:solidFill>
              </a:rPr>
              <a:t>Repaso espaciado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6177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068"/>
                </a:solidFill>
              </a:rPr>
              <a:t>Según cómo calificó cada pregunta (no / más o menos / me acordé), la próxima aparición se acerca o se aleja.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26280" y="4023360"/>
            <a:ext cx="3794760" cy="2057400"/>
          </a:xfrm>
          <a:prstGeom prst="roundRect">
            <a:avLst>
              <a:gd name="adj" fmla="val 5333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7B0"/>
                </a:solidFill>
              </a:rPr>
              <a:t>Leído vs. dominado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46177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068"/>
                </a:solidFill>
              </a:rPr>
              <a:t>Una unidad leída pasa a dominada cuando el quiz llega al 70 %. Si no llega, la app sugiere un repaso extra y el estudiante decide.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549640" y="1783080"/>
            <a:ext cx="3090672" cy="4297680"/>
          </a:xfrm>
          <a:prstGeom prst="roundRect">
            <a:avLst>
              <a:gd name="adj" fmla="val 3550"/>
            </a:avLst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7824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BBFF"/>
                </a:solidFill>
              </a:rPr>
              <a:t>LINK AL PROTOTIPO</a:t>
            </a:r>
            <a:endParaRPr lang="en-US" sz="1100" dirty="0"/>
          </a:p>
        </p:txBody>
      </p:sp>
      <p:sp>
        <p:nvSpPr>
          <p:cNvPr id="19" name="Text 16">
            <a:hlinkClick r:id="rId1" tooltip="Abrir el prototipo"/>
          </p:cNvPr>
          <p:cNvSpPr txBox="1"/>
          <p:nvPr/>
        </p:nvSpPr>
        <p:spPr>
          <a:xfrm>
            <a:off x="8778240" y="23317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hlinkClick r:id="rId1" invalidUrl="" action="" tgtFrame="" tooltip="Abrir el prototi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asesor-de-estudio-grupo-c.vercel.app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32004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1FF"/>
                </a:solidFill>
              </a:rPr>
              <a:t>Se abre en el navegador del celular o de la computadora. Desde el panel lateral se puede recorrer desde cero o reiniciar los datos de prueba.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778240" y="48463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BFF"/>
                </a:solidFill>
              </a:rPr>
              <a:t>Hecho en HTML, CSS y JavaScript, con los tokens de Material 3 del diseño.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8580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9BBFF"/>
                </a:solidFill>
              </a:rPr>
              <a:t>ETAPA 13 DE 13</a:t>
            </a:r>
            <a:endParaRPr lang="en-US" sz="13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85800" y="128016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Pruebas de usabilidad</a:t>
            </a:r>
            <a:endParaRPr lang="en-US" sz="40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566928" y="397764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b="1" dirty="0">
                <a:solidFill>
                  <a:srgbClr val="FFFFFF"/>
                </a:solidFill>
              </a:rPr>
              <a:t>13</a:t>
            </a:r>
            <a:endParaRPr lang="en-US" sz="15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7178040" y="1463040"/>
            <a:ext cx="4526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5 usuarios con el perfil de la user persona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Escenario, tareas, preguntas antes y después, introducción y cierre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Planillas de registro por usuario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Cuadros de eficacia, tiempo y pasos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Satisfacción (Google Forms, en %)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EF1FF"/>
                </a:solidFill>
              </a:rPr>
              <a:t>✓  Informe: qué funcionó, qué no y recomendaciones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BB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13 · PRUEBAS DE USABILIDAD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Plan de la prueba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486400" cy="2057400"/>
          </a:xfrm>
          <a:prstGeom prst="roundRect">
            <a:avLst>
              <a:gd name="adj" fmla="val 5333"/>
            </a:avLst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BBFF"/>
                </a:solidFill>
              </a:rPr>
              <a:t>ESCENARIO HIPOTÉTICO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76272"/>
            <a:ext cx="5074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</a:rPr>
              <a:t>«Empezaste primer año y en tres semanas tenés el primer parcial de Análisis Matemático I. Un compañero te pasó esta app. Usala como lo harías en tu casa: creá tu cuenta, armá tu plan y estudiá la primera sesión.»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</a:rPr>
              <a:t>PARTICIPANTES · PERFIL USER PERSONA</a:t>
            </a:r>
            <a:endParaRPr lang="en-US" sz="11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24528"/>
          <a:ext cx="548640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548640"/>
                <a:gridCol w="2560320"/>
                <a:gridCol w="868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B2E"/>
                          </a:solidFill>
                        </a:rPr>
                        <a:t>Usuario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B2E"/>
                          </a:solidFill>
                        </a:rPr>
                        <a:t>Edad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B2E"/>
                          </a:solidFill>
                        </a:rPr>
                        <a:t>Carrera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1B2E"/>
                          </a:solidFill>
                        </a:rPr>
                        <a:t>Persona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U1 · Julieta M.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Ing. en Sistemas, 1.º año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Tomás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U2 · Nicolás P.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Ing. Industrial, 1.º año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Tomás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U3 · Florencia G.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Ing. Civil, 1.º año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Tomás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U4 · Ramiro L.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Contador Público, 2.º año · trabaja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Camila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U5 · Milagros S.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Ing. Química, 1.º año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068"/>
                          </a:solidFill>
                        </a:rPr>
                        <a:t>Tomás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30936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4ED8"/>
                </a:solidFill>
              </a:rPr>
              <a:t>TAREAS</a:t>
            </a:r>
            <a:endParaRPr lang="en-US" sz="1100" dirty="0"/>
          </a:p>
        </p:txBody>
      </p:sp>
      <p:graphicFrame>
        <p:nvGraphicFramePr>
          <p:cNvPr id="1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84248"/>
          <a:ext cx="5330952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874520"/>
                <a:gridCol w="1517904"/>
                <a:gridCol w="777240"/>
                <a:gridCol w="777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1B2E"/>
                          </a:solidFill>
                        </a:rPr>
                        <a:t>Tarea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1B2E"/>
                          </a:solidFill>
                        </a:rPr>
                        <a:t>Criterio de éxito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1B2E"/>
                          </a:solidFill>
                        </a:rPr>
                        <a:t>Pasos óptimos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31B2E"/>
                          </a:solidFill>
                        </a:rPr>
                        <a:t>Tiempo esperado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T1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Crear una cuenta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Llega al diagnóstico con la cuenta creada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60 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T2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Completar el diagnóstico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Ve su perfil de estudio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120 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T3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Cargar Análisis Matemático I con 4 unidades y generar el plan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Llega a «Tu plan está listo»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12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180 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T4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Hacer la sesión de hoy y escribir dos preguntas al terminar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Guarda 2 preguntas y ve el cierre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90 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T5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Repasar las preguntas y averiguar si la unidad quedó dominada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Encuentra el estado de la unidad en Progreso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A5068"/>
                          </a:solidFill>
                        </a:rPr>
                        <a:t>75 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13 · PRUEBAS DE USABILIDAD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Guion: introducción, preguntas y cierre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EEF1FF"/>
          </a:solidFill>
          <a:ln w="12700">
            <a:solidFill>
              <a:srgbClr val="D3DB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37B0"/>
                </a:solidFill>
              </a:rPr>
              <a:t>INTRODUCCIÓN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28600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Gracias por venir. Vamos a probar una app, no a vos: si algo no sale, es un problema de la app.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Pensá en voz alta mientras la usás.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Vamos a tomar notas y medir el tiempo; no grabamos tu cara.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Dura unos 20 minutos.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4992" y="173736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4ED8"/>
                </a:solidFill>
              </a:rPr>
              <a:t>PREGUNTAS ANTES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28600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¿Cómo estudiaste para tu último parcial?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¿Cómo te das cuenta de que ya sabés un tema?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¿Usaste alguna app para estudiar? ¿Qué pasó?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¿Cuánto tiempo por día le dedicás?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1344" y="173736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4ED8"/>
                </a:solidFill>
              </a:rPr>
              <a:t>PREGUNTAS DESPUÉS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228600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¿Qué fue lo más fácil y lo más difícil?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¿Entendiste por qué la app te asignó esa técnica?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¿Te sirvió escribir tus propias preguntas?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¿Qué significa para vos «dominada»?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¿La usarías durante el cuatrimestre?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97696" y="173736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E3FBEF"/>
          </a:solidFill>
          <a:ln w="12700">
            <a:solidFill>
              <a:srgbClr val="BFEE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98864" y="1901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6C49"/>
                </a:solidFill>
              </a:rPr>
              <a:t>CIERRE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98864" y="2286000"/>
            <a:ext cx="22860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Agradecemos y respondemos dudas.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Pedimos completar el formulario de satisfacción (Google Forms, 2 minutos).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1B2E"/>
                </a:solidFill>
              </a:rPr>
              <a:t>Explicamos qué vamos a cambiar con lo que encontramos.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13 · PLANILLA DE REGISTRO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Planilla de registro · U1 · Julieta M., 19 años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Ing. en Sistemas, 1.º año · perfil Tomás · prueba del 5 de octubre de 2026</a:t>
            </a:r>
            <a:endParaRPr lang="en-US" sz="13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1325880"/>
                <a:gridCol w="822960"/>
                <a:gridCol w="2743200"/>
                <a:gridCol w="24505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Tarea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Éxito (1/0)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Pasos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Tiempo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Problemas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Observaciones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T1 · Crear una cuenta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 (óptimo 7)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52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Completó sin dudas.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T2 · Completar el diagnóstico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 (óptimo 8)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95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Leyó todas las opciones antes de elegir.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T3 · Cargar Análisis Matemático I con 4 unidades y generar el plan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13 (óptimo 12)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170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Buscó cómo cambiar la dificultad de una unidad.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Entendió los chips al segundo intento.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T4 · Hacer la sesión de hoy y escribir dos preguntas al terminar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 (óptimo 7)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84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Dudó qué escribir como pregunta.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Pidió un ejemplo de pregunta.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T5 · Repasar las preguntas y averiguar si la unidad quedó dominada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 (óptimo 6)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92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No encontraba dónde ver si la unidad quedó dominada.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Buscó en Perfil antes que en el HOME.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B2E"/>
                </a:solidFill>
              </a:rPr>
              <a:t>Resumen: </a:t>
            </a:r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5 de 5 tareas completadas · 8 min 13 s en total · 44 pasos (óptimo 40)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13 · PLANILLA DE REGISTRO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Planilla de registro · U2 · Nicolás P., 18 años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Ing. Industrial, 1.º año · perfil Tomás · prueba del 6 de octubre de 2026</a:t>
            </a:r>
            <a:endParaRPr lang="en-US" sz="13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1325880"/>
                <a:gridCol w="822960"/>
                <a:gridCol w="2743200"/>
                <a:gridCol w="24505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Tarea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Éxito (1/0)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Pasos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Tiempo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Problemas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Observaciones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T1 · Crear una cuenta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 (óptimo 7)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71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Puso una contraseña de menos de 6 caracteres.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Corrigió con el mensaje de error.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T2 · Completar el diagnóstico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 (óptimo 8)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88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T3 · Cargar Análisis Matemático I con 4 unidades y generar el plan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12 (óptimo 12)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150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Recorrido óptimo.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T4 · Hacer la sesión de hoy y escribir dos preguntas al terminar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 (óptimo 7)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Escribió preguntas cortas y concretas.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T5 · Repasar las preguntas y averiguar si la unidad quedó dominada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 (óptimo 6)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Confundió «leído» con «dominado».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Preguntó qué diferencia había.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B2E"/>
                </a:solidFill>
              </a:rPr>
              <a:t>Resumen: </a:t>
            </a:r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5 de 5 tareas completadas · 7 min 39 s en total · 42 pasos (óptimo 40)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13 · PLANILLA DE REGISTRO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Planilla de registro · U3 · Florencia G., 20 años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Ing. Civil, 1.º año · perfil Tomás · prueba del 7 de octubre de 2026</a:t>
            </a:r>
            <a:endParaRPr lang="en-US" sz="13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1325880"/>
                <a:gridCol w="822960"/>
                <a:gridCol w="2743200"/>
                <a:gridCol w="24505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Tarea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Éxito (1/0)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Pasos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Tiempo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Problemas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Observaciones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T1 · Crear una cuenta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 (óptimo 7)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58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T2 · Completar el diagnóstico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9 (óptimo 8)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140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Volvió atrás para cambiar una respuesta.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Dudó en el paso de la franja horaria.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T3 · Cargar Análisis Matemático I con 4 unidades y generar el plan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15 (óptimo 12)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236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No vio el botón «Agregar unidad»: había que bajar.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Lo encontró al hacer scroll.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T4 · Hacer la sesión de hoy y escribir dos preguntas al terminar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A1A1A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11 (óptimo 7)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150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Tocó «Omitir por hoy» y cerró sin preguntas.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«No sabía qué preguntarme.»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T5 · Repasar las preguntas y averiguar si la unidad quedó dominada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9 (óptimo 6)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110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Entró a Calendario buscando el quiz.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Volvió al HOME y usó la tarjeta de preguntas.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B2E"/>
                </a:solidFill>
              </a:rPr>
              <a:t>Resumen: </a:t>
            </a:r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4 de 5 tareas completadas · 11 min 34 s en total · 51 pasos (óptimo 40)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13 · PLANILLA DE REGISTRO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Planilla de registro · U4 · Ramiro L., 23 años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Contador Público, 2.º año · trabaja · perfil Camila · prueba del 8 de octubre de 2026</a:t>
            </a:r>
            <a:endParaRPr lang="en-US" sz="13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1325880"/>
                <a:gridCol w="822960"/>
                <a:gridCol w="2743200"/>
                <a:gridCol w="24505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Tarea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Éxito (1/0)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Pasos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Tiempo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Problemas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Observaciones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T1 · Crear una cuenta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 (óptimo 7)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49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T2 · Completar el diagnóstico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 (óptimo 8)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76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Valoró que dure menos de 5 minutos.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T3 · Cargar Análisis Matemático I con 4 unidades y generar el plan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12 (óptimo 12)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162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T4 · Hacer la sesión de hoy y escribir dos preguntas al terminar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 (óptimo 7)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81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Usaría la sesión en el colectivo.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T5 · Repasar las preguntas y averiguar si la unidad quedó dominada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A1A1A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12 (óptimo 6)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168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No encontró el progreso y abandonó.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«¿Dónde veo si ya lo sé?»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B2E"/>
                </a:solidFill>
              </a:rPr>
              <a:t>Resumen: </a:t>
            </a:r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4 de 5 tareas completadas · 8 min 56 s en total · 46 pasos (óptimo 40)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13 · PLANILLA DE REGISTRO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Planilla de registro · U5 · Milagros S., 19 años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Ing. Química, 1.º año · perfil Tomás · prueba del 9 de octubre de 2026</a:t>
            </a:r>
            <a:endParaRPr lang="en-US" sz="130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1325880"/>
                <a:gridCol w="822960"/>
                <a:gridCol w="2743200"/>
                <a:gridCol w="24505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Tarea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Éxito (1/0)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Pasos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Tiempo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Problemas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1B2E"/>
                          </a:solidFill>
                        </a:rPr>
                        <a:t>Observaciones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T1 · Crear una cuenta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9 (óptimo 7)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83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No veía la contraseña que escribía.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Pidió un botón para mostrarla.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T2 · Completar el diagnóstico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 (óptimo 8)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102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T3 · Cargar Análisis Matemático I con 4 unidades y generar el plan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14 (óptimo 12)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205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Dudó con la fecha del parcial.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T4 · Hacer la sesión de hoy y escribir dos preguntas al terminar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9 (óptimo 7)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112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Le costó ver «Empezar sesión»: el botón era chico.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Tocó primero la tarjeta entera.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T5 · Repasar las preguntas y averiguar si la unidad quedó dominada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10 (óptimo 6)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121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No entendía la diferencia entre leído y dominado.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436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1B2E"/>
                </a:solidFill>
              </a:rPr>
              <a:t>Resumen: </a:t>
            </a:r>
            <a:pPr indent="0" marL="0">
              <a:buNone/>
            </a:pPr>
            <a:r>
              <a:rPr lang="en-US" sz="1300" dirty="0">
                <a:solidFill>
                  <a:srgbClr val="4A5068"/>
                </a:solidFill>
              </a:rPr>
              <a:t>5 de 5 tareas completadas · 10 min 23 s en total · 50 pasos (óptimo 40)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13 · RESULTADOS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Cuadro de eficacia: 23 de 25 tareas completadas (92 %)</a:t>
            </a:r>
            <a:endParaRPr lang="en-US" sz="30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309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731520"/>
                <a:gridCol w="731520"/>
                <a:gridCol w="731520"/>
                <a:gridCol w="73152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Usuario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T3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T5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Eficacia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U1 · Julieta M.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100 %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U2 · Nicolás P.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100 %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U3 · Florencia G.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A1A1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80 %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U4 · Ramiro L.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A1A1A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80 %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U5 · Milagros S.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100 %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Eficacia por tarea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100 %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100 %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100 %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80 %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80 %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7132320" y="1691640"/>
          <a:ext cx="4507992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13 · RESULTADOS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Cuadro de tiempo: T5 tardó un 52 % más de lo esperado</a:t>
            </a:r>
            <a:endParaRPr lang="en-US" sz="30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309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731520"/>
                <a:gridCol w="731520"/>
                <a:gridCol w="731520"/>
                <a:gridCol w="73152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Usuario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T3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T5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Promedio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U1 · Julieta M.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52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95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170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84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92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99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U2 · Nicolás P.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71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88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150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92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U3 · Florencia G.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58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140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236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150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110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139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U4 · Ramiro L.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49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76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162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81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168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107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U5 · Milagros S.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83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102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205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112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121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125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Promedio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63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100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185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99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114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189"/>
                          </a:solidFill>
                        </a:rPr>
                        <a:t>Tiempo esperado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189"/>
                          </a:solidFill>
                        </a:rPr>
                        <a:t>60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189"/>
                          </a:solidFill>
                        </a:rPr>
                        <a:t>120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189"/>
                          </a:solidFill>
                        </a:rPr>
                        <a:t>180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189"/>
                          </a:solidFill>
                        </a:rPr>
                        <a:t>90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189"/>
                          </a:solidFill>
                        </a:rPr>
                        <a:t>75 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132320" y="1691640"/>
          <a:ext cx="4507992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13 · RESULTADOS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Cuadro de pasos: los desvíos se concentran en T3, T4 y T5</a:t>
            </a:r>
            <a:endParaRPr lang="en-US" sz="30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309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731520"/>
                <a:gridCol w="731520"/>
                <a:gridCol w="731520"/>
                <a:gridCol w="73152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Usuario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T3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T5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Promedio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U1 · Julieta M.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8.8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U2 · Nicolás P.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8.4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U3 · Florencia G.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10.2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U4 · Ramiro L.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9.2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U5 · Milagros S.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31B2E"/>
                          </a:solidFill>
                        </a:rPr>
                        <a:t>10.0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Promedio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7.6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8.2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13.2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8.4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37B0"/>
                          </a:solidFill>
                        </a:rPr>
                        <a:t>9.2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7189"/>
                          </a:solidFill>
                        </a:rPr>
                        <a:t>Pasos óptimos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189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189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189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189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7189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132320" y="1691640"/>
          <a:ext cx="4507992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13 · SATISFACCIÓN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Satisfacción: formulario de Google, 5 respuestas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74980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8321040" y="1783080"/>
            <a:ext cx="3319272" cy="2103120"/>
          </a:xfrm>
          <a:prstGeom prst="roundRect">
            <a:avLst>
              <a:gd name="adj" fmla="val 5217"/>
            </a:avLst>
          </a:prstGeom>
          <a:solidFill>
            <a:srgbClr val="EEF1FF"/>
          </a:solidFill>
          <a:ln w="12700">
            <a:solidFill>
              <a:srgbClr val="D3DB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54964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037B0"/>
                </a:solidFill>
              </a:rPr>
              <a:t>4,2</a:t>
            </a:r>
            <a:endParaRPr lang="en-US" sz="5400" dirty="0"/>
          </a:p>
        </p:txBody>
      </p:sp>
      <p:sp>
        <p:nvSpPr>
          <p:cNvPr id="8" name="Text 4"/>
          <p:cNvSpPr txBox="1"/>
          <p:nvPr/>
        </p:nvSpPr>
        <p:spPr>
          <a:xfrm>
            <a:off x="8549640" y="2880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1B2E"/>
                </a:solidFill>
              </a:rPr>
              <a:t>satisfacción general promedio, sobre 5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321040" y="4069080"/>
            <a:ext cx="3319272" cy="2103120"/>
          </a:xfrm>
          <a:prstGeom prst="roundRect">
            <a:avLst>
              <a:gd name="adj" fmla="val 5217"/>
            </a:avLst>
          </a:prstGeom>
          <a:solidFill>
            <a:srgbClr val="FFECEB"/>
          </a:solidFill>
          <a:ln w="12700">
            <a:solidFill>
              <a:srgbClr val="F7C9C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49640" y="4206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BA1A1A"/>
                </a:solidFill>
              </a:rPr>
              <a:t>40 %</a:t>
            </a:r>
            <a:endParaRPr lang="en-US" sz="5400" dirty="0"/>
          </a:p>
        </p:txBody>
      </p:sp>
      <p:sp>
        <p:nvSpPr>
          <p:cNvPr id="11" name="Text 7"/>
          <p:cNvSpPr txBox="1"/>
          <p:nvPr/>
        </p:nvSpPr>
        <p:spPr>
          <a:xfrm>
            <a:off x="8549640" y="5166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1B2E"/>
                </a:solidFill>
              </a:rPr>
              <a:t>entendió la diferencia entre leído y dominado: la prioridad uno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13 · INFORME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Informe de usabilidad: qué funcionó y qué 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E3FBEF"/>
          </a:solidFill>
          <a:ln w="12700">
            <a:solidFill>
              <a:srgbClr val="BFE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01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C49"/>
                </a:solidFill>
              </a:rPr>
              <a:t>QUÉ FUNCIONÓ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31B2E"/>
                </a:solidFill>
              </a:rPr>
              <a:t>Registro y diagnóstico: 100 % de eficacia y por debajo del tiempo esperado.</a:t>
            </a:r>
            <a:endParaRPr lang="en-US" sz="165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31B2E"/>
                </a:solidFill>
              </a:rPr>
              <a:t>El plan generado se entendió sin explicación; 4 de 5 aceptaron la técnica propuesta sin objetar.</a:t>
            </a:r>
            <a:endParaRPr lang="en-US" sz="165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31B2E"/>
                </a:solidFill>
              </a:rPr>
              <a:t>La sesión guiada con cronómetro: «sé qué hacer, no solo cuánto».</a:t>
            </a:r>
            <a:endParaRPr lang="en-US" sz="165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31B2E"/>
                </a:solidFill>
              </a:rPr>
              <a:t>El diseño: 100 % lo calificó con 4 o 5.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199632" y="173736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ECEB"/>
          </a:solidFill>
          <a:ln w="12700">
            <a:solidFill>
              <a:srgbClr val="F7C9C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28232" y="1901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A1A1A"/>
                </a:solidFill>
              </a:rPr>
              <a:t>QUÉ NO FUNCIONÓ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28232" y="233172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31B2E"/>
                </a:solidFill>
              </a:rPr>
              <a:t>Progreso estaba escondido en Perfil: 1 abandono y 3 usuarios lo buscaron en otro lado (T5).</a:t>
            </a:r>
            <a:endParaRPr lang="en-US" sz="165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31B2E"/>
                </a:solidFill>
              </a:rPr>
              <a:t>«Leído» y «dominado» no se entienden sin explicación: 40 % de comprensión.</a:t>
            </a:r>
            <a:endParaRPr lang="en-US" sz="165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31B2E"/>
                </a:solidFill>
              </a:rPr>
              <a:t>La hoja en blanco al escribir preguntas: 1 usuaria omitió el paso (T4).</a:t>
            </a:r>
            <a:endParaRPr lang="en-US" sz="1650" dirty="0"/>
          </a:p>
          <a:p>
            <a:pPr marL="152400" indent="-152400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131B2E"/>
                </a:solidFill>
              </a:rPr>
              <a:t>Botón «Empezar sesión» chico; «Agregar unidad» fuera de la vista; contraseña sin opción de mostrar.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ETAPA 13 · INFORME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Recomendaciones y cambios aplicados en el prototipo</a:t>
            </a:r>
            <a:endParaRPr lang="en-US" sz="30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5239512"/>
                <a:gridCol w="109728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1B2E"/>
                          </a:solidFill>
                        </a:rPr>
                        <a:t>Problema observado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1B2E"/>
                          </a:solidFill>
                        </a:rPr>
                        <a:t>Recomendación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1B2E"/>
                          </a:solidFill>
                        </a:rPr>
                        <a:t>Prioridad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1B2E"/>
                          </a:solidFill>
                        </a:rPr>
                        <a:t>Estado</a:t>
                      </a:r>
                      <a:endParaRPr lang="en-US" sz="12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No encontraban el progreso (T5)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Progreso como 5.º destino de la barra de navegación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A1A1A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Aplicado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Leído vs. dominado poco claro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Leyenda en Progreso y hoja de ayuda que explica los tres estados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A1A1A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Aplicado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Hoja en blanco al escribir preguntas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Chips disparadores: ¿Qué es…?, ¿Por qué…?, ¿Cómo se aplica…?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A1A1A"/>
                          </a:solidFill>
                        </a:rPr>
                        <a:t>Alta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Aplicado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Omitir preguntas sin saber qué implica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Diálogo que avisa que la unidad quedará «leída sin probar»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25100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Aplicado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«Empezar sesión» difícil de ver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Botón de ancho completo en la tarjeta de próxima sesión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25100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Aplicado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«Agregar unidad» fuera de la vista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Botón fijo sobre el pie, junto a «Guardar»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25100"/>
                          </a:solidFill>
                        </a:rPr>
                        <a:t>Media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Aplicado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No veían la contraseña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Botón para mostrar u ocultar la contraseña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189"/>
                          </a:solidFill>
                        </a:rPr>
                        <a:t>Baja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C49"/>
                          </a:solidFill>
                        </a:rPr>
                        <a:t>Aplicado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Un usuario quería elegir la técnica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5068"/>
                          </a:solidFill>
                        </a:rPr>
                        <a:t>No se aplica: contradice la premisa de que la app decide el método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189"/>
                          </a:solidFill>
                        </a:rPr>
                        <a:t>Baja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189"/>
                          </a:solidFill>
                        </a:rPr>
                        <a:t>Descartado</a:t>
                      </a:r>
                      <a:endParaRPr lang="en-US" sz="12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4ED8"/>
                </a:solidFill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1B2E"/>
                </a:solidFill>
              </a:rPr>
              <a:t>Qué nos llevamos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1B2E"/>
                </a:solidFill>
              </a:rPr>
              <a:t>Diseñar sobre evidencia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63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El dato del 53 % cambió el producto: pasó de agenda a herramienta de autoevaluación.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011680"/>
            <a:ext cx="457200" cy="457200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1B2E"/>
                </a:solidFill>
              </a:rPr>
              <a:t>Validar con usuarios reales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063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El card sorting definió la navegación y las pruebas encontraron lo que nosotros no veíamos.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5F6FB"/>
          </a:solidFill>
          <a:ln w="12700">
            <a:solidFill>
              <a:srgbClr val="E2E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457200" cy="457200"/>
          </a:xfrm>
          <a:prstGeom prst="ellipse">
            <a:avLst/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1B2E"/>
                </a:solidFill>
              </a:rPr>
              <a:t>Iterar rápido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063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068"/>
                </a:solidFill>
              </a:rPr>
              <a:t>Siete de ocho recomendaciones ya están en el prototipo funcional.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11091672" cy="1828800"/>
          </a:xfrm>
          <a:prstGeom prst="roundRect">
            <a:avLst>
              <a:gd name="adj" fmla="val 6000"/>
            </a:avLst>
          </a:prstGeom>
          <a:solidFill>
            <a:srgbClr val="0037B0"/>
          </a:solidFill>
          <a:ln w="12700">
            <a:solidFill>
              <a:srgbClr val="0037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9BBFF"/>
                </a:solidFill>
              </a:rPr>
              <a:t>Próximo paso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93776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Validar el MVP con 6 estudiantes durante 3 semanas de cursada real, midiendo sesiones completadas sobre planificadas, preguntas escritas por unidad y la diferencia entre la nota que se autoasignan y la que obtienen.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6422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18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3317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¡Gracias!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383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CE1FF"/>
                </a:solidFill>
              </a:rPr>
              <a:t>Asesor de Estudio · Grupo C «Figma locos»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BBFF"/>
                </a:solidFill>
              </a:rPr>
              <a:t>Dallape, Vincenzo · Flores, Martín · Lovos, David · Ortiz, Renzo · Podesta, Isidro · Saini, Alejo</a:t>
            </a:r>
            <a:endParaRPr lang="en-US" sz="1500" dirty="0"/>
          </a:p>
        </p:txBody>
      </p:sp>
      <p:sp>
        <p:nvSpPr>
          <p:cNvPr id="6" name="Text 3">
            <a:hlinkClick r:id="rId2" tooltip=""/>
          </p:cNvPr>
          <p:cNvSpPr txBox="1"/>
          <p:nvPr/>
        </p:nvSpPr>
        <p:spPr>
          <a:xfrm>
            <a:off x="548640" y="4846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rgbClr val="6CF8B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Prototipo: asesor-de-estudio-grupo-c.vercel.app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BFF"/>
                </a:solidFill>
              </a:rPr>
              <a:t>Diseño UX-UI 2026 · UTN Facultad Regional Mendoza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esor de Estudio">
  <a:themeElements>
    <a:clrScheme name="Asesor de Estudio">
      <a:dk1>
        <a:srgbClr val="131B2E"/>
      </a:dk1>
      <a:lt1>
        <a:srgbClr val="FFFFFF"/>
      </a:lt1>
      <a:dk2>
        <a:srgbClr val="0037B0"/>
      </a:dk2>
      <a:lt2>
        <a:srgbClr val="F3F4F9"/>
      </a:lt2>
      <a:accent1>
        <a:srgbClr val="1D4ED8"/>
      </a:accent1>
      <a:accent2>
        <a:srgbClr val="006C49"/>
      </a:accent2>
      <a:accent3>
        <a:srgbClr val="825100"/>
      </a:accent3>
      <a:accent4>
        <a:srgbClr val="BA1A1A"/>
      </a:accent4>
      <a:accent5>
        <a:srgbClr val="6CF8BB"/>
      </a:accent5>
      <a:accent6>
        <a:srgbClr val="FFDDB8"/>
      </a:accent6>
      <a:hlink>
        <a:srgbClr val="1D4ED8"/>
      </a:hlink>
      <a:folHlink>
        <a:srgbClr val="4A5068"/>
      </a:folHlink>
    </a:clrScheme>
    <a:fontScheme name="Asesor de Estudi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77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>UTN Facultad Regional Mendoza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Asesor de Estudio — Proyecto final Diseño UX-UI 2026</dc:title>
  <dc:subject>Proyecto final de Diseño UX-UI</dc:subject>
  <dc:creator>Grupo C «Figma locos»</dc:creator>
  <cp:lastModifiedBy>Grupo C «Figma locos»</cp:lastModifiedBy>
  <cp:revision>1</cp:revision>
  <dcterms:created xsi:type="dcterms:W3CDTF">2026-10-15T14:56:09Z</dcterms:created>
  <dcterms:modified xsi:type="dcterms:W3CDTF">2026-10-15T14:56:09Z</dcterms:modified>
</cp:coreProperties>
</file>