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charts/chart6.xml" ContentType="application/vnd.openxmlformats-officedocument.drawingml.chart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charts/chart7.xml" ContentType="application/vnd.openxmlformats-officedocument.drawingml.chart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charts/chart8.xml" ContentType="application/vnd.openxmlformats-officedocument.drawingml.chart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charts/chart9.xml" ContentType="application/vnd.openxmlformats-officedocument.drawingml.chart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</p:sldIdLst>
  <p:notesMasterIdLst>
    <p:notesMasterId r:id="rId8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ortada" id="{89b3d1b3-bd61-3265-0fcd-4523d6e13bfc}">
          <p14:sldIdLst>
            <p14:sldId id="256"/>
          </p14:sldIdLst>
        </p14:section>
        <p14:section name="Índice" id="{30c1cd0b-6f05-e582-0093-d5ddc872be96}">
          <p14:sldIdLst>
            <p14:sldId id="257"/>
            <p14:sldId id="258"/>
          </p14:sldIdLst>
        </p14:section>
        <p14:section name="01 · Planteamiento y research" id="{3a4d3d39-d949-888b-200e-b69e7b5b8ba9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02 · Benchmarking" id="{0ba8f117-3d2e-b0fa-217f-6d3085e87746}">
          <p14:sldIdLst>
            <p14:sldId id="270"/>
            <p14:sldId id="271"/>
            <p14:sldId id="272"/>
            <p14:sldId id="273"/>
            <p14:sldId id="274"/>
            <p14:sldId id="275"/>
            <p14:sldId id="276"/>
          </p14:sldIdLst>
        </p14:section>
        <p14:section name="03 · Mapa de empatía" id="{e1c8165e-a8aa-277a-89af-062506c6ae32}">
          <p14:sldIdLst>
            <p14:sldId id="277"/>
            <p14:sldId id="278"/>
            <p14:sldId id="279"/>
          </p14:sldIdLst>
        </p14:section>
        <p14:section name="04 · User persona" id="{88a1e184-9653-3bea-9dcd-241a6e83c57b}">
          <p14:sldIdLst>
            <p14:sldId id="280"/>
            <p14:sldId id="281"/>
            <p14:sldId id="282"/>
            <p14:sldId id="283"/>
            <p14:sldId id="284"/>
          </p14:sldIdLst>
        </p14:section>
        <p14:section name="05 · POV, storytelling y storyboard" id="{292a6fa6-ae0e-1a9a-3f8c-2905d09511f7}">
          <p14:sldIdLst>
            <p14:sldId id="285"/>
            <p14:sldId id="286"/>
            <p14:sldId id="287"/>
            <p14:sldId id="288"/>
          </p14:sldIdLst>
        </p14:section>
        <p14:section name="06 · MVP" id="{e42afb1f-f36f-8253-8ac1-c40a76cc6436}">
          <p14:sldIdLst>
            <p14:sldId id="289"/>
            <p14:sldId id="290"/>
            <p14:sldId id="291"/>
          </p14:sldIdLst>
        </p14:section>
        <p14:section name="07 · Arquitectura de la información" id="{dfec5ab4-5d97-120b-7bb0-2114a5559e6a}">
          <p14:sldIdLst>
            <p14:sldId id="292"/>
            <p14:sldId id="293"/>
            <p14:sldId id="294"/>
            <p14:sldId id="295"/>
            <p14:sldId id="296"/>
            <p14:sldId id="297"/>
            <p14:sldId id="298"/>
          </p14:sldIdLst>
        </p14:section>
        <p14:section name="08 · Mapa de sitio" id="{2818ed20-3e4e-2869-72bf-29d0e423d28f}">
          <p14:sldIdLst>
            <p14:sldId id="299"/>
            <p14:sldId id="300"/>
          </p14:sldIdLst>
        </p14:section>
        <p14:section name="09 · Wireframes" id="{aa80a6bf-c69d-d94d-028c-dd7d07544267}">
          <p14:sldIdLst>
            <p14:sldId id="301"/>
            <p14:sldId id="302"/>
            <p14:sldId id="303"/>
            <p14:sldId id="304"/>
            <p14:sldId id="305"/>
          </p14:sldIdLst>
        </p14:section>
        <p14:section name="10 · Patrones de diseño" id="{4162e5e5-45db-c7d1-19e2-bd2738812ba0}">
          <p14:sldIdLst>
            <p14:sldId id="306"/>
            <p14:sldId id="307"/>
            <p14:sldId id="308"/>
          </p14:sldIdLst>
        </p14:section>
        <p14:section name="11 · Wireflow" id="{491ecab4-e7e7-651e-702b-e95bfb5262df}">
          <p14:sldIdLst>
            <p14:sldId id="309"/>
            <p14:sldId id="310"/>
          </p14:sldIdLst>
        </p14:section>
        <p14:section name="12 · Prototipo funcional" id="{899f3440-4112-f652-ca35-841333eb4d31}">
          <p14:sldIdLst>
            <p14:sldId id="311"/>
            <p14:sldId id="312"/>
            <p14:sldId id="313"/>
            <p14:sldId id="314"/>
            <p14:sldId id="315"/>
            <p14:sldId id="316"/>
            <p14:sldId id="317"/>
          </p14:sldIdLst>
        </p14:section>
        <p14:section name="13 · Pruebas de usabilidad" id="{c8c14fb6-6097-e155-b181-16a5e4f2374e}">
          <p14:sldIdLst>
            <p14:sldId id="318"/>
            <p14:sldId id="319"/>
            <p14:sldId id="320"/>
            <p14:sldId id="321"/>
            <p14:sldId id="322"/>
            <p14:sldId id="323"/>
            <p14:sldId id="324"/>
            <p14:sldId id="325"/>
            <p14:sldId id="326"/>
            <p14:sldId id="327"/>
            <p14:sldId id="328"/>
            <p14:sldId id="329"/>
            <p14:sldId id="330"/>
            <p14:sldId id="331"/>
          </p14:sldIdLst>
        </p14:section>
        <p14:section name="Cierre" id="{814ab8a5-919f-a004-b01a-154f994d59df}">
          <p14:sldIdLst>
            <p14:sldId id="332"/>
            <p14:sldId id="33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notesMaster" Target="notesMasters/notesMaster1.xml"/><Relationship Id="rId81" Type="http://schemas.openxmlformats.org/officeDocument/2006/relationships/presProps" Target="presProps.xml"/><Relationship Id="rId82" Type="http://schemas.openxmlformats.org/officeDocument/2006/relationships/viewProps" Target="viewProps.xml"/><Relationship Id="rId83" Type="http://schemas.openxmlformats.org/officeDocument/2006/relationships/theme" Target="theme/theme1.xml"/><Relationship Id="rId8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31B2E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31B2E"/>
                </a:solidFill>
                <a:latin typeface="+mn-lt"/>
              </a:rPr>
              <a:t>P3 · ¿Qué hacés cuando estudiás para un parcial? (opción múltiple)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Estudiantes</c:v>
                </c:pt>
              </c:strCache>
            </c:strRef>
          </c:tx>
          <c:spPr>
            <a:solidFill>
              <a:srgbClr val="1D4ED8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31B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Releer el apunte</c:v>
                  </c:pt>
                  <c:pt idx="1">
                    <c:v>Subrayar</c:v>
                  </c:pt>
                  <c:pt idx="2">
                    <c:v>Hacer resúmenes</c:v>
                  </c:pt>
                  <c:pt idx="3">
                    <c:v>Resolver ejercicios</c:v>
                  </c:pt>
                  <c:pt idx="4">
                    <c:v>Ver videos</c:v>
                  </c:pt>
                  <c:pt idx="5">
                    <c:v>Explicárselo a otro</c:v>
                  </c:pt>
                  <c:pt idx="6">
                    <c:v>Autoevaluarse con preguntas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85</c:v>
                </c:pt>
                <c:pt idx="1">
                  <c:v>71</c:v>
                </c:pt>
                <c:pt idx="2">
                  <c:v>62</c:v>
                </c:pt>
                <c:pt idx="3">
                  <c:v>38</c:v>
                </c:pt>
                <c:pt idx="4">
                  <c:v>32</c:v>
                </c:pt>
                <c:pt idx="5">
                  <c:v>24</c:v>
                </c:pt>
                <c:pt idx="6">
                  <c:v>18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200" u="none">
                  <a:solidFill>
                    <a:srgbClr val="131B2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06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31B2E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31B2E"/>
                </a:solidFill>
                <a:latin typeface="+mn-lt"/>
              </a:rPr>
              <a:t>P6 · ¿Cómo te das cuenta de que entendiste un tema?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Estudiantes</c:v>
                </c:pt>
              </c:strCache>
            </c:strRef>
          </c:tx>
          <c:spPr>
            <a:solidFill>
              <a:srgbClr val="825100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31B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Porque leí todo el material</c:v>
                  </c:pt>
                  <c:pt idx="1">
                    <c:v>Resolviendo ejercicios</c:v>
                  </c:pt>
                  <c:pt idx="2">
                    <c:v>Explicándoselo a alguien</c:v>
                  </c:pt>
                  <c:pt idx="3">
                    <c:v>No lo sé hasta que rindo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53</c:v>
                </c:pt>
                <c:pt idx="1">
                  <c:v>26</c:v>
                </c:pt>
                <c:pt idx="2">
                  <c:v>12</c:v>
                </c:pt>
                <c:pt idx="3">
                  <c:v>9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200" u="none">
                  <a:solidFill>
                    <a:srgbClr val="131B2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06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31B2E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31B2E"/>
                </a:solidFill>
                <a:latin typeface="+mn-lt"/>
              </a:rPr>
              <a:t>P7 · ¿Rendiste mal aunque habías estudiado?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Estudiantes</c:v>
                </c:pt>
              </c:strCache>
            </c:strRef>
          </c:tx>
          <c:spPr>
            <a:solidFill>
              <a:srgbClr val="BA1A1A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31B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Sí, varias veces</c:v>
                  </c:pt>
                  <c:pt idx="1">
                    <c:v>Alguna vez</c:v>
                  </c:pt>
                  <c:pt idx="2">
                    <c:v>No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65</c:v>
                </c:pt>
                <c:pt idx="1">
                  <c:v>26</c:v>
                </c:pt>
                <c:pt idx="2">
                  <c:v>9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200" u="none">
                  <a:solidFill>
                    <a:srgbClr val="131B2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06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31B2E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31B2E"/>
                </a:solidFill>
                <a:latin typeface="+mn-lt"/>
              </a:rPr>
              <a:t>P10 · ¿Cuánto tiempo configurarías una app?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Estudiantes</c:v>
                </c:pt>
              </c:strCache>
            </c:strRef>
          </c:tx>
          <c:spPr>
            <a:solidFill>
              <a:srgbClr val="006C49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31B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Menos de 5 min</c:v>
                  </c:pt>
                  <c:pt idx="1">
                    <c:v>Entre 5 y 15 min</c:v>
                  </c:pt>
                  <c:pt idx="2">
                    <c:v>Más de 15 min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56</c:v>
                </c:pt>
                <c:pt idx="1">
                  <c:v>35</c:v>
                </c:pt>
                <c:pt idx="2">
                  <c:v>9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200" u="none">
                  <a:solidFill>
                    <a:srgbClr val="131B2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06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31B2E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31B2E"/>
                </a:solidFill>
                <a:latin typeface="+mn-lt"/>
              </a:rPr>
              <a:t>P9 · ¿Con qué organizás tu estudio?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Estudiantes</c:v>
                </c:pt>
              </c:strCache>
            </c:strRef>
          </c:tx>
          <c:spPr>
            <a:solidFill>
              <a:srgbClr val="6B7189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31B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Notas del celular</c:v>
                  </c:pt>
                  <c:pt idx="1">
                    <c:v>WhatsApp de la materia</c:v>
                  </c:pt>
                  <c:pt idx="2">
                    <c:v>Agenda de papel</c:v>
                  </c:pt>
                  <c:pt idx="3">
                    <c:v>Nada / de memoria</c:v>
                  </c:pt>
                  <c:pt idx="4">
                    <c:v>Google Calendar</c:v>
                  </c:pt>
                  <c:pt idx="5">
                    <c:v>App de estudio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71</c:v>
                </c:pt>
                <c:pt idx="1">
                  <c:v>65</c:v>
                </c:pt>
                <c:pt idx="2">
                  <c:v>56</c:v>
                </c:pt>
                <c:pt idx="3">
                  <c:v>26</c:v>
                </c:pt>
                <c:pt idx="4">
                  <c:v>24</c:v>
                </c:pt>
                <c:pt idx="5">
                  <c:v>18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200" u="none">
                  <a:solidFill>
                    <a:srgbClr val="131B2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06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31B2E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31B2E"/>
                </a:solidFill>
                <a:latin typeface="+mn-lt"/>
              </a:rPr>
              <a:t>Porcentaje de usuarios que completó cada tarea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Eficacia</c:v>
                </c:pt>
              </c:strCache>
            </c:strRef>
          </c:tx>
          <c:spPr>
            <a:solidFill>
              <a:srgbClr val="006C49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31B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T1</c:v>
                  </c:pt>
                  <c:pt idx="1">
                    <c:v>T2</c:v>
                  </c:pt>
                  <c:pt idx="2">
                    <c:v>T3</c:v>
                  </c:pt>
                  <c:pt idx="3">
                    <c:v>T4</c:v>
                  </c:pt>
                  <c:pt idx="4">
                    <c:v>T5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80</c:v>
                </c:pt>
                <c:pt idx="4">
                  <c:v>80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100" u="none">
                  <a:solidFill>
                    <a:srgbClr val="131B2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06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31B2E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31B2E"/>
                </a:solidFill>
                <a:latin typeface="+mn-lt"/>
              </a:rPr>
              <a:t>Tiempo promedio por tarea vs. tiempo esperado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Promedio real (s)</c:v>
                </c:pt>
              </c:strCache>
            </c:strRef>
          </c:tx>
          <c:spPr>
            <a:solidFill>
              <a:srgbClr val="1D4ED8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31B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T1</c:v>
                  </c:pt>
                  <c:pt idx="1">
                    <c:v>T2</c:v>
                  </c:pt>
                  <c:pt idx="2">
                    <c:v>T3</c:v>
                  </c:pt>
                  <c:pt idx="3">
                    <c:v>T4</c:v>
                  </c:pt>
                  <c:pt idx="4">
                    <c:v>T5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63</c:v>
                </c:pt>
                <c:pt idx="1">
                  <c:v>100</c:v>
                </c:pt>
                <c:pt idx="2">
                  <c:v>185</c:v>
                </c:pt>
                <c:pt idx="3">
                  <c:v>99</c:v>
                </c:pt>
                <c:pt idx="4">
                  <c:v>114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Esperado (s)</c:v>
                </c:pt>
              </c:strCache>
            </c:strRef>
          </c:tx>
          <c:spPr>
            <a:solidFill>
              <a:srgbClr val="B8C2E0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31B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T1</c:v>
                  </c:pt>
                  <c:pt idx="1">
                    <c:v>T2</c:v>
                  </c:pt>
                  <c:pt idx="2">
                    <c:v>T3</c:v>
                  </c:pt>
                  <c:pt idx="3">
                    <c:v>T4</c:v>
                  </c:pt>
                  <c:pt idx="4">
                    <c:v>T5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60</c:v>
                </c:pt>
                <c:pt idx="1">
                  <c:v>120</c:v>
                </c:pt>
                <c:pt idx="2">
                  <c:v>180</c:v>
                </c:pt>
                <c:pt idx="3">
                  <c:v>90</c:v>
                </c:pt>
                <c:pt idx="4">
                  <c:v>75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1" i="0" strike="noStrike" sz="1100" u="none">
                  <a:solidFill>
                    <a:srgbClr val="131B2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06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31B2E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31B2E"/>
                </a:solidFill>
                <a:latin typeface="+mn-lt"/>
              </a:rPr>
              <a:t>Pasos promedio por tarea vs. camino óptimo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Pasos promedio</c:v>
                </c:pt>
              </c:strCache>
            </c:strRef>
          </c:tx>
          <c:spPr>
            <a:solidFill>
              <a:srgbClr val="825100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31B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T1</c:v>
                  </c:pt>
                  <c:pt idx="1">
                    <c:v>T2</c:v>
                  </c:pt>
                  <c:pt idx="2">
                    <c:v>T3</c:v>
                  </c:pt>
                  <c:pt idx="3">
                    <c:v>T4</c:v>
                  </c:pt>
                  <c:pt idx="4">
                    <c:v>T5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7.6</c:v>
                </c:pt>
                <c:pt idx="1">
                  <c:v>8.2</c:v>
                </c:pt>
                <c:pt idx="2">
                  <c:v>13.2</c:v>
                </c:pt>
                <c:pt idx="3">
                  <c:v>8.4</c:v>
                </c:pt>
                <c:pt idx="4">
                  <c:v>9.2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Pasos óptimos</c:v>
                </c:pt>
              </c:strCache>
            </c:strRef>
          </c:tx>
          <c:spPr>
            <a:solidFill>
              <a:srgbClr val="E8D3B5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31B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T1</c:v>
                  </c:pt>
                  <c:pt idx="1">
                    <c:v>T2</c:v>
                  </c:pt>
                  <c:pt idx="2">
                    <c:v>T3</c:v>
                  </c:pt>
                  <c:pt idx="3">
                    <c:v>T4</c:v>
                  </c:pt>
                  <c:pt idx="4">
                    <c:v>T5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7</c:v>
                </c:pt>
                <c:pt idx="1">
                  <c:v>8</c:v>
                </c:pt>
                <c:pt idx="2">
                  <c:v>12</c:v>
                </c:pt>
                <c:pt idx="3">
                  <c:v>7</c:v>
                </c:pt>
                <c:pt idx="4">
                  <c:v>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1" i="0" strike="noStrike" sz="1100" u="none">
                  <a:solidFill>
                    <a:srgbClr val="131B2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06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31B2E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31B2E"/>
                </a:solidFill>
                <a:latin typeface="+mn-lt"/>
              </a:rPr>
              <a:t>% de usuarios que respondió 4 o 5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Satisfacción</c:v>
                </c:pt>
              </c:strCache>
            </c:strRef>
          </c:tx>
          <c:spPr>
            <a:solidFill>
              <a:srgbClr val="1D4ED8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31B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El diseño me resultó claro y agradable</c:v>
                  </c:pt>
                  <c:pt idx="1">
                    <c:v>Fue fácil crear la cuenta</c:v>
                  </c:pt>
                  <c:pt idx="2">
                    <c:v>El diagnóstico fue corto y claro</c:v>
                  </c:pt>
                  <c:pt idx="3">
                    <c:v>Recomendaría la app a un compañero</c:v>
                  </c:pt>
                  <c:pt idx="4">
                    <c:v>Entendí por qué me asignó cada técnica</c:v>
                  </c:pt>
                  <c:pt idx="5">
                    <c:v>Escribir mis preguntas fue fácil</c:v>
                  </c:pt>
                  <c:pt idx="6">
                    <c:v>Encontré fácilmente mi progreso</c:v>
                  </c:pt>
                  <c:pt idx="7">
                    <c:v>Entendí la diferencia entre leído y dominado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100</c:v>
                </c:pt>
                <c:pt idx="1">
                  <c:v>100</c:v>
                </c:pt>
                <c:pt idx="2">
                  <c:v>80</c:v>
                </c:pt>
                <c:pt idx="3">
                  <c:v>80</c:v>
                </c:pt>
                <c:pt idx="4">
                  <c:v>80</c:v>
                </c:pt>
                <c:pt idx="5">
                  <c:v>60</c:v>
                </c:pt>
                <c:pt idx="6">
                  <c:v>40</c:v>
                </c:pt>
                <c:pt idx="7">
                  <c:v>40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200" u="none">
                  <a:solidFill>
                    <a:srgbClr val="131B2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06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Presentación del equipo y del proyecto. Asesor de Estudio es una app móvil que ayuda al estudiante de primer año a construir un método de estudio: decide qué estudiar, cuándo y con qué técnica, y le permite comprobar si aprendió antes del parcial.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Antes de entrar en el proceso, mostramos el producto terminado: cuatro pasos que se repiten durante todo el cuatrimestre.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usuario es el ingresante; el problema no es el esfuerzo sino el método; la solución decide la técnica y comprueba el aprendizaje.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que hace el estudiante viene de la secundaria. Funcionaba para contenidos cortos evaluados seguido; no para un programa de doce unidades con dos parciales.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Tres técnicas cualitativas para entender qué hace el estudiante y una cuantitativa para dimensionar el problema.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Base: 34 respuestas válidas de estudiantes de primer y segundo año de UTN FRM, UNCuyo e institutos terciarios de Mendoza.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Síntesis de entrevistas, observación y encuesta. Es la base del mapa de empatía y de las personas.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Dos medios distintos coinciden: la deserción se concentra en el primer año y una causa central es la distancia entre la secundaria y las exigencias académicas.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Publicaciones reales en X (capturas del 15/10/2026). El tono es de humor, pero el contenido coincide con lo que vimos en las entrevistas: maratones de estudio, frustración y falta de ganas.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Elegimos tres apps que hacen lo mismo que nosotros en algún punto: autoevaluación con tarjetas y, en Vaia, también plan. Relevamiento del 1 al 4 de septiembre de 2026, Google Play Argentina.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proto personas se armaron con supuestos del equipo. Las validamos con 6 entrevistas, 4 observaciones y 34 encuestas, y ajustamos lo que no se sostenía.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Justificación: es el perfil que concentra el problema central (primer año, sin método) y el que define las decisiones del MVP. Se apoya en las preguntas 2, 3, 4, 6 y 7 de la encuesta, las 4 observaciones y las entrevistas E1 a E4.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Justificación: representa al estudiante que trabaja, perfil asociado a la deserción (Musso et al., 2021) y al 32 % de la encuesta. La restricción de tiempo hace inviable un método ineficiente. Basada en E5 y E6 y en las preguntas 5, 9 y 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 14 al 19 de septiembre de 2026, presencial en la facultad, con tarjetas de papel. Cada participante armó y nombró sus propios grupos. Duración: 12 a 20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Aunque el sorting era abierto, los nombres convergieron en seis grupos. La tabla muestra cómo los llamaron y cuántos participantes armaron cada uno.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Material 3 adaptable: en el celular la navegación va en una barra inferior; en ventanas anchas pasa a un panel lateral y el contenido se ordena en dos columnas. El acceso se parte en dos: el formulario y un panel que explica el producto.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 una maqueta funcional: todas las pantallas y reglas funcionan, con datos de prueba en memoria y sin servidor ni base de datos.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Pruebas moderadas, presenciales, del 5 al 9 de octubre de 2026, con el prototipo funcional en un celular Android. Un integrante moderó y otro registró.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T4 y T5 son las únicas con fallas. Las dos tocan el corazón del producto: escribir preguntas y entender cuándo una unidad está dominada.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Escala de 1 a 5. El porcentaje es la proporción de usuarios que respondió 4 o 5. Satisfacción general promedio: 4,2 sobre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Todas las recomendaciones de prioridad alta y media ya están implementadas en el prototipo funcional que presentamos.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382512"/>
            <a:ext cx="237744" cy="23774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6422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189"/>
                </a:solidFill>
              </a:rPr>
              <a:t>Asesor de Estudio · Grupo C «Figma locos» · Diseño UX-UI 2026</a:t>
            </a:r>
            <a:endParaRPr lang="en-US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rgbClr val="1D4ED8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131B2E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PARADOR">
    <p:bg>
      <p:bgPr>
        <a:solidFill>
          <a:srgbClr val="0037B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29400" y="0"/>
            <a:ext cx="5562295" cy="6858000"/>
          </a:xfrm>
          <a:prstGeom prst="rect">
            <a:avLst/>
          </a:prstGeom>
          <a:solidFill>
            <a:srgbClr val="002A8A"/>
          </a:solidFill>
          <a:ln/>
        </p:spPr>
      </p:sp>
      <p:sp>
        <p:nvSpPr>
          <p:cNvPr id="3" name="Text 1"/>
          <p:cNvSpPr/>
          <p:nvPr/>
        </p:nvSpPr>
        <p:spPr>
          <a:xfrm>
            <a:off x="7178040" y="9601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9BBFF"/>
                </a:solidFill>
              </a:rPr>
              <a:t>QUÉ PIDE LA CONSIGNA  ·  DÓNDE ESTÁ</a:t>
            </a:r>
            <a:endParaRPr lang="en-US" sz="1200" dirty="0"/>
          </a:p>
        </p:txBody>
      </p:sp>
      <p:sp>
        <p:nvSpPr>
          <p:cNvPr id="4" name="Text 2"/>
          <p:cNvSpPr/>
          <p:nvPr>
            <p:ph idx="102" type="body" hasCustomPrompt="1"/>
          </p:nvPr>
        </p:nvSpPr>
        <p:spPr>
          <a:xfrm>
            <a:off x="685800" y="868680"/>
            <a:ext cx="54864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spc="300" kern="0" dirty="0">
                <a:solidFill>
                  <a:srgbClr val="A9BBFF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5" name="Text 2"/>
          <p:cNvSpPr/>
          <p:nvPr>
            <p:ph idx="103" type="title" hasCustomPrompt="1"/>
          </p:nvPr>
        </p:nvSpPr>
        <p:spPr>
          <a:xfrm>
            <a:off x="685800" y="1280160"/>
            <a:ext cx="557784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6" name="Text 2"/>
          <p:cNvSpPr/>
          <p:nvPr>
            <p:ph idx="104" type="body" hasCustomPrompt="1"/>
          </p:nvPr>
        </p:nvSpPr>
        <p:spPr>
          <a:xfrm>
            <a:off x="566928" y="3977640"/>
            <a:ext cx="5486400" cy="21945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5000" b="1" dirty="0">
                <a:solidFill>
                  <a:srgbClr val="FFFFFF"/>
                </a:solidFill>
              </a:defRPr>
            </a:lvl1pPr>
          </a:lstStyle>
          <a:p>
            <a:pPr indent="0" marL="0">
              <a:buNone/>
            </a:pPr>
            <a:endParaRPr lang="en-US" sz="15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178040" y="1463040"/>
            <a:ext cx="4526280" cy="47548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500" dirty="0">
                <a:solidFill>
                  <a:srgbClr val="EEF1FF"/>
                </a:solidFill>
              </a:defRPr>
            </a:lvl1pPr>
          </a:lstStyle>
          <a:p>
            <a:pPr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9BBF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rgbClr val="0037B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chart" Target="/ppt/charts/chart5.xml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image" Target="../media/image-29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image" Target="../media/image-33-4.png"/><Relationship Id="rId5" Type="http://schemas.openxmlformats.org/officeDocument/2006/relationships/image" Target="../media/image-33-5.png"/><Relationship Id="rId6" Type="http://schemas.openxmlformats.org/officeDocument/2006/relationships/image" Target="../media/image-33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image" Target="../media/image-52-2.png"/><Relationship Id="rId3" Type="http://schemas.openxmlformats.org/officeDocument/2006/relationships/image" Target="../media/image-5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image" Target="../media/image-53-2.png"/><Relationship Id="rId3" Type="http://schemas.openxmlformats.org/officeDocument/2006/relationships/image" Target="../media/image-5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image" Target="../media/image-57-2.png"/><Relationship Id="rId3" Type="http://schemas.openxmlformats.org/officeDocument/2006/relationships/image" Target="../media/image-57-3.png"/><Relationship Id="rId4" Type="http://schemas.openxmlformats.org/officeDocument/2006/relationships/image" Target="../media/image-57-4.png"/><Relationship Id="rId5" Type="http://schemas.openxmlformats.org/officeDocument/2006/relationships/image" Target="../media/image-57-5.png"/><Relationship Id="rId6" Type="http://schemas.openxmlformats.org/officeDocument/2006/relationships/image" Target="../media/image-57-6.png"/><Relationship Id="rId7" Type="http://schemas.openxmlformats.org/officeDocument/2006/relationships/image" Target="../media/image-57-7.png"/><Relationship Id="rId8" Type="http://schemas.openxmlformats.org/officeDocument/2006/relationships/image" Target="../media/image-57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image" Target="../media/image-58-2.png"/><Relationship Id="rId3" Type="http://schemas.openxmlformats.org/officeDocument/2006/relationships/image" Target="../media/image-58-3.png"/><Relationship Id="rId4" Type="http://schemas.openxmlformats.org/officeDocument/2006/relationships/image" Target="../media/image-58-4.png"/><Relationship Id="rId5" Type="http://schemas.openxmlformats.org/officeDocument/2006/relationships/image" Target="../media/image-58-5.png"/><Relationship Id="rId6" Type="http://schemas.openxmlformats.org/officeDocument/2006/relationships/image" Target="../media/image-58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image" Target="../media/image-59-2.png"/><Relationship Id="rId3" Type="http://schemas.openxmlformats.org/officeDocument/2006/relationships/image" Target="../media/image-59-3.png"/><Relationship Id="rId4" Type="http://schemas.openxmlformats.org/officeDocument/2006/relationships/image" Target="../media/image-59-4.png"/><Relationship Id="rId5" Type="http://schemas.openxmlformats.org/officeDocument/2006/relationships/image" Target="../media/image-59-5.png"/><Relationship Id="rId6" Type="http://schemas.openxmlformats.org/officeDocument/2006/relationships/image" Target="../media/image-59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image" Target="../media/image-60-2.png"/><Relationship Id="rId3" Type="http://schemas.openxmlformats.org/officeDocument/2006/relationships/image" Target="../media/image-60-3.png"/><Relationship Id="rId4" Type="http://schemas.openxmlformats.org/officeDocument/2006/relationships/image" Target="../media/image-60-4.png"/><Relationship Id="rId5" Type="http://schemas.openxmlformats.org/officeDocument/2006/relationships/image" Target="../media/image-60-5.png"/><Relationship Id="rId6" Type="http://schemas.openxmlformats.org/officeDocument/2006/relationships/image" Target="../media/image-60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image" Target="../media/image-61-2.png"/><Relationship Id="rId3" Type="http://schemas.openxmlformats.org/officeDocument/2006/relationships/image" Target="../media/image-6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hyperlink" Target="https://asesor-de-estudio-grupo-c.vercel.app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hyperlink" Target="https://asesor-de-estudio-grupo-c.vercel.app" TargetMode="External"/><Relationship Id="rId1" Type="http://schemas.openxmlformats.org/officeDocument/2006/relationships/image" Target="../media/image-78-1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7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18120" y="0"/>
            <a:ext cx="4373575" cy="6858000"/>
          </a:xfrm>
          <a:prstGeom prst="rect">
            <a:avLst/>
          </a:prstGeom>
          <a:solidFill>
            <a:srgbClr val="002A8A"/>
          </a:solidFill>
          <a:ln w="12700">
            <a:solidFill>
              <a:srgbClr val="002A8A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640080"/>
            <a:ext cx="640080" cy="6400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463040" y="749808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9BBFF"/>
                </a:solidFill>
              </a:rPr>
              <a:t>PROYECTO FINAL · DISEÑO UX-UI · 2026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600200"/>
            <a:ext cx="6949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Asesor de Estudio</a:t>
            </a:r>
            <a:endParaRPr lang="en-US" sz="54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2606040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DCE1FF"/>
                </a:solidFill>
              </a:rPr>
              <a:t>Una app que le enseña al estudiante de primer año cómo estudiar, no solo cuándo.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3611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CF8BB"/>
                </a:solidFill>
              </a:rPr>
              <a:t>GRUPO C · «FIGMA LOCOS»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39319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Alvarez, Joaquín</a:t>
            </a:r>
            <a:pPr indent="0" marL="0">
              <a:buNone/>
            </a:pPr>
            <a:r>
              <a:rPr lang="en-US" sz="1200" dirty="0">
                <a:solidFill>
                  <a:srgbClr val="A9BBFF"/>
                </a:solidFill>
              </a:rPr>
              <a:t>   Legajo 49930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3977640" y="39319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Dallape, Vincenzo</a:t>
            </a:r>
            <a:pPr indent="0" marL="0">
              <a:buNone/>
            </a:pPr>
            <a:r>
              <a:rPr lang="en-US" sz="1200" dirty="0">
                <a:solidFill>
                  <a:srgbClr val="A9BBFF"/>
                </a:solidFill>
              </a:rPr>
              <a:t>   Legajo 49996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42976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Flores, Martín</a:t>
            </a:r>
            <a:pPr indent="0" marL="0">
              <a:buNone/>
            </a:pPr>
            <a:r>
              <a:rPr lang="en-US" sz="1200" dirty="0">
                <a:solidFill>
                  <a:srgbClr val="A9BBFF"/>
                </a:solidFill>
              </a:rPr>
              <a:t>   Legajo 48985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3977640" y="42976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Lovos, David</a:t>
            </a:r>
            <a:pPr indent="0" marL="0">
              <a:buNone/>
            </a:pPr>
            <a:r>
              <a:rPr lang="en-US" sz="1200" dirty="0">
                <a:solidFill>
                  <a:srgbClr val="A9BBFF"/>
                </a:solidFill>
              </a:rPr>
              <a:t>   Legajo 50072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685800" y="46634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Ortiz, Renzo</a:t>
            </a:r>
            <a:pPr indent="0" marL="0">
              <a:buNone/>
            </a:pPr>
            <a:r>
              <a:rPr lang="en-US" sz="1200" dirty="0">
                <a:solidFill>
                  <a:srgbClr val="A9BBFF"/>
                </a:solidFill>
              </a:rPr>
              <a:t>   Legajo 49067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3977640" y="46634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Podesta, Isidro</a:t>
            </a:r>
            <a:pPr indent="0" marL="0">
              <a:buNone/>
            </a:pPr>
            <a:r>
              <a:rPr lang="en-US" sz="1200" dirty="0">
                <a:solidFill>
                  <a:srgbClr val="A9BBFF"/>
                </a:solidFill>
              </a:rPr>
              <a:t>   Legajo 50223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685800" y="50292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Saini, Alejo</a:t>
            </a:r>
            <a:pPr indent="0" marL="0">
              <a:buNone/>
            </a:pPr>
            <a:r>
              <a:rPr lang="en-US" sz="1200" dirty="0">
                <a:solidFill>
                  <a:srgbClr val="A9BBFF"/>
                </a:solidFill>
              </a:rPr>
              <a:t>   Legajo 50161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685800" y="5468112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CE1FF"/>
                </a:solidFill>
              </a:rPr>
              <a:t>Profesoras: Andrea Rotella y Carina Rotella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685800" y="5779008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BBFF"/>
                </a:solidFill>
              </a:rPr>
              <a:t>Universidad Tecnológica Nacional · Facultad Regional Mendoza · Departamento de Sistemas de Información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8403336" y="630936"/>
            <a:ext cx="2644913" cy="5596128"/>
          </a:xfrm>
          <a:prstGeom prst="roundRect">
            <a:avLst>
              <a:gd name="adj" fmla="val 5532"/>
            </a:avLst>
          </a:prstGeom>
          <a:solidFill>
            <a:srgbClr val="10162A"/>
          </a:solidFill>
          <a:ln w="12700">
            <a:solidFill>
              <a:srgbClr val="10162A"/>
            </a:solidFill>
            <a:prstDash val="solid"/>
          </a:ln>
          <a:effectLst>
            <a:outerShdw sx="100000" sy="100000" kx="0" ky="0" algn="bl" rotWithShape="0" blurRad="101600" dist="38100" dir="5400000">
              <a:srgbClr val="131B2E">
                <a:alpha val="25000"/>
              </a:srgbClr>
            </a:outerShdw>
          </a:effectLst>
        </p:spPr>
      </p:sp>
      <p:pic>
        <p:nvPicPr>
          <p:cNvPr id="18" name="Image 1" descr="/home/claude/deck/assets/img/11_inici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8200" y="685800"/>
            <a:ext cx="2535185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RECORRIDO DE LA PRESENTACIÓN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Las 13 etapas del proyecto, en el orden de la consigna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94960" cy="493776"/>
          </a:xfrm>
          <a:prstGeom prst="roundRect">
            <a:avLst>
              <a:gd name="adj" fmla="val 22222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856232"/>
            <a:ext cx="347472" cy="347472"/>
          </a:xfrm>
          <a:prstGeom prst="ellipse">
            <a:avLst/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58368" y="185623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143000" y="1783080"/>
            <a:ext cx="3291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1B2E"/>
                </a:solidFill>
              </a:rPr>
              <a:t>Planteamiento y research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114800" y="1783080"/>
            <a:ext cx="16916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6B7189"/>
                </a:solidFill>
              </a:rPr>
              <a:t>EMPATIZAR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48640" y="2386584"/>
            <a:ext cx="5394960" cy="493776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2459736"/>
            <a:ext cx="347472" cy="347472"/>
          </a:xfrm>
          <a:prstGeom prst="ellipse">
            <a:avLst/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8368" y="245973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1143000" y="2386584"/>
            <a:ext cx="3291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1B2E"/>
                </a:solidFill>
              </a:rPr>
              <a:t>Benchmarking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114800" y="2386584"/>
            <a:ext cx="16916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6B7189"/>
                </a:solidFill>
              </a:rPr>
              <a:t>EMPATIZAR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48640" y="2990088"/>
            <a:ext cx="5394960" cy="493776"/>
          </a:xfrm>
          <a:prstGeom prst="roundRect">
            <a:avLst>
              <a:gd name="adj" fmla="val 22222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8368" y="3063240"/>
            <a:ext cx="347472" cy="347472"/>
          </a:xfrm>
          <a:prstGeom prst="ellipse">
            <a:avLst/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" y="30632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1143000" y="2990088"/>
            <a:ext cx="3291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1B2E"/>
                </a:solidFill>
              </a:rPr>
              <a:t>Mapa de empatía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114800" y="2990088"/>
            <a:ext cx="16916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6B7189"/>
                </a:solidFill>
              </a:rPr>
              <a:t>EMPATIZAR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8640" y="3593592"/>
            <a:ext cx="5394960" cy="493776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8368" y="3666744"/>
            <a:ext cx="347472" cy="347472"/>
          </a:xfrm>
          <a:prstGeom prst="ellipse">
            <a:avLst/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8368" y="366674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1143000" y="3593592"/>
            <a:ext cx="3291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1B2E"/>
                </a:solidFill>
              </a:rPr>
              <a:t>User persona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4114800" y="3593592"/>
            <a:ext cx="16916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6B7189"/>
                </a:solidFill>
              </a:rPr>
              <a:t>EMPATIZAR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48640" y="4197096"/>
            <a:ext cx="5394960" cy="493776"/>
          </a:xfrm>
          <a:prstGeom prst="roundRect">
            <a:avLst>
              <a:gd name="adj" fmla="val 22222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" y="4270248"/>
            <a:ext cx="347472" cy="347472"/>
          </a:xfrm>
          <a:prstGeom prst="ellipse">
            <a:avLst/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58368" y="42702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5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1143000" y="4197096"/>
            <a:ext cx="3291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1B2E"/>
                </a:solidFill>
              </a:rPr>
              <a:t>POV, storytelling y storyboard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4114800" y="4197096"/>
            <a:ext cx="16916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6B7189"/>
                </a:solidFill>
              </a:rPr>
              <a:t>DEFINIR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48640" y="4800600"/>
            <a:ext cx="5394960" cy="493776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8368" y="4873752"/>
            <a:ext cx="347472" cy="347472"/>
          </a:xfrm>
          <a:prstGeom prst="ellipse">
            <a:avLst/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58368" y="48737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6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1143000" y="4800600"/>
            <a:ext cx="3291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1B2E"/>
                </a:solidFill>
              </a:rPr>
              <a:t>MVP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4114800" y="4800600"/>
            <a:ext cx="16916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6B7189"/>
                </a:solidFill>
              </a:rPr>
              <a:t>DEFINIR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48640" y="5404104"/>
            <a:ext cx="5394960" cy="493776"/>
          </a:xfrm>
          <a:prstGeom prst="roundRect">
            <a:avLst>
              <a:gd name="adj" fmla="val 22222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58368" y="5477256"/>
            <a:ext cx="347472" cy="347472"/>
          </a:xfrm>
          <a:prstGeom prst="ellipse">
            <a:avLst/>
          </a:prstGeom>
          <a:solidFill>
            <a:srgbClr val="006C49"/>
          </a:solidFill>
          <a:ln w="12700">
            <a:solidFill>
              <a:srgbClr val="006C49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58368" y="54772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1143000" y="5404104"/>
            <a:ext cx="3291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1B2E"/>
                </a:solidFill>
              </a:rPr>
              <a:t>Arquitectura de la información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4114800" y="5404104"/>
            <a:ext cx="16916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6B7189"/>
                </a:solidFill>
              </a:rPr>
              <a:t>IDEAR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217920" y="1783080"/>
            <a:ext cx="5394960" cy="493776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327648" y="1856232"/>
            <a:ext cx="347472" cy="347472"/>
          </a:xfrm>
          <a:prstGeom prst="ellipse">
            <a:avLst/>
          </a:prstGeom>
          <a:solidFill>
            <a:srgbClr val="006C49"/>
          </a:solidFill>
          <a:ln w="12700">
            <a:solidFill>
              <a:srgbClr val="006C49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327648" y="185623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8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6812280" y="1783080"/>
            <a:ext cx="3291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1B2E"/>
                </a:solidFill>
              </a:rPr>
              <a:t>Mapa de sitio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9784080" y="1783080"/>
            <a:ext cx="16916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6B7189"/>
                </a:solidFill>
              </a:rPr>
              <a:t>IDEAR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6217920" y="2386584"/>
            <a:ext cx="5394960" cy="493776"/>
          </a:xfrm>
          <a:prstGeom prst="roundRect">
            <a:avLst>
              <a:gd name="adj" fmla="val 22222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327648" y="2459736"/>
            <a:ext cx="347472" cy="347472"/>
          </a:xfrm>
          <a:prstGeom prst="ellipse">
            <a:avLst/>
          </a:prstGeom>
          <a:solidFill>
            <a:srgbClr val="006C49"/>
          </a:solidFill>
          <a:ln w="12700">
            <a:solidFill>
              <a:srgbClr val="006C49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6327648" y="245973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9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6812280" y="2386584"/>
            <a:ext cx="3291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1B2E"/>
                </a:solidFill>
              </a:rPr>
              <a:t>Wireframes</a:t>
            </a:r>
            <a:endParaRPr lang="en-US" sz="1500" dirty="0"/>
          </a:p>
        </p:txBody>
      </p:sp>
      <p:sp>
        <p:nvSpPr>
          <p:cNvPr id="48" name="Text 46"/>
          <p:cNvSpPr txBox="1"/>
          <p:nvPr/>
        </p:nvSpPr>
        <p:spPr>
          <a:xfrm>
            <a:off x="9784080" y="2386584"/>
            <a:ext cx="16916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6B7189"/>
                </a:solidFill>
              </a:rPr>
              <a:t>IDEAR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6217920" y="2990088"/>
            <a:ext cx="5394960" cy="493776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327648" y="3063240"/>
            <a:ext cx="347472" cy="347472"/>
          </a:xfrm>
          <a:prstGeom prst="ellipse">
            <a:avLst/>
          </a:prstGeom>
          <a:solidFill>
            <a:srgbClr val="006C49"/>
          </a:solidFill>
          <a:ln w="12700">
            <a:solidFill>
              <a:srgbClr val="006C49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6327648" y="30632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10</a:t>
            </a:r>
            <a:endParaRPr lang="en-US" sz="1100" dirty="0"/>
          </a:p>
        </p:txBody>
      </p:sp>
      <p:sp>
        <p:nvSpPr>
          <p:cNvPr id="52" name="Text 50"/>
          <p:cNvSpPr txBox="1"/>
          <p:nvPr/>
        </p:nvSpPr>
        <p:spPr>
          <a:xfrm>
            <a:off x="6812280" y="2990088"/>
            <a:ext cx="3291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1B2E"/>
                </a:solidFill>
              </a:rPr>
              <a:t>Patrones de diseño</a:t>
            </a:r>
            <a:endParaRPr lang="en-US" sz="1500" dirty="0"/>
          </a:p>
        </p:txBody>
      </p:sp>
      <p:sp>
        <p:nvSpPr>
          <p:cNvPr id="53" name="Text 51"/>
          <p:cNvSpPr txBox="1"/>
          <p:nvPr/>
        </p:nvSpPr>
        <p:spPr>
          <a:xfrm>
            <a:off x="9784080" y="2990088"/>
            <a:ext cx="16916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6B7189"/>
                </a:solidFill>
              </a:rPr>
              <a:t>IDEAR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6217920" y="3593592"/>
            <a:ext cx="5394960" cy="493776"/>
          </a:xfrm>
          <a:prstGeom prst="roundRect">
            <a:avLst>
              <a:gd name="adj" fmla="val 22222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6327648" y="3666744"/>
            <a:ext cx="347472" cy="347472"/>
          </a:xfrm>
          <a:prstGeom prst="ellipse">
            <a:avLst/>
          </a:prstGeom>
          <a:solidFill>
            <a:srgbClr val="006C49"/>
          </a:solidFill>
          <a:ln w="12700">
            <a:solidFill>
              <a:srgbClr val="006C49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6327648" y="366674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11</a:t>
            </a:r>
            <a:endParaRPr lang="en-US" sz="1100" dirty="0"/>
          </a:p>
        </p:txBody>
      </p:sp>
      <p:sp>
        <p:nvSpPr>
          <p:cNvPr id="57" name="Text 55"/>
          <p:cNvSpPr txBox="1"/>
          <p:nvPr/>
        </p:nvSpPr>
        <p:spPr>
          <a:xfrm>
            <a:off x="6812280" y="3593592"/>
            <a:ext cx="3291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1B2E"/>
                </a:solidFill>
              </a:rPr>
              <a:t>Wireflow</a:t>
            </a:r>
            <a:endParaRPr lang="en-US" sz="1500" dirty="0"/>
          </a:p>
        </p:txBody>
      </p:sp>
      <p:sp>
        <p:nvSpPr>
          <p:cNvPr id="58" name="Text 56"/>
          <p:cNvSpPr txBox="1"/>
          <p:nvPr/>
        </p:nvSpPr>
        <p:spPr>
          <a:xfrm>
            <a:off x="9784080" y="3593592"/>
            <a:ext cx="16916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6B7189"/>
                </a:solidFill>
              </a:rPr>
              <a:t>IDEAR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6217920" y="4197096"/>
            <a:ext cx="5394960" cy="493776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327648" y="4270248"/>
            <a:ext cx="347472" cy="347472"/>
          </a:xfrm>
          <a:prstGeom prst="ellipse">
            <a:avLst/>
          </a:prstGeom>
          <a:solidFill>
            <a:srgbClr val="825100"/>
          </a:solidFill>
          <a:ln w="12700">
            <a:solidFill>
              <a:srgbClr val="825100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6327648" y="42702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12</a:t>
            </a:r>
            <a:endParaRPr lang="en-US" sz="1100" dirty="0"/>
          </a:p>
        </p:txBody>
      </p:sp>
      <p:sp>
        <p:nvSpPr>
          <p:cNvPr id="62" name="Text 60"/>
          <p:cNvSpPr txBox="1"/>
          <p:nvPr/>
        </p:nvSpPr>
        <p:spPr>
          <a:xfrm>
            <a:off x="6812280" y="4197096"/>
            <a:ext cx="3291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1B2E"/>
                </a:solidFill>
              </a:rPr>
              <a:t>Prototipo funcional</a:t>
            </a:r>
            <a:endParaRPr lang="en-US" sz="1500" dirty="0"/>
          </a:p>
        </p:txBody>
      </p:sp>
      <p:sp>
        <p:nvSpPr>
          <p:cNvPr id="63" name="Text 61"/>
          <p:cNvSpPr txBox="1"/>
          <p:nvPr/>
        </p:nvSpPr>
        <p:spPr>
          <a:xfrm>
            <a:off x="9784080" y="4197096"/>
            <a:ext cx="16916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6B7189"/>
                </a:solidFill>
              </a:rPr>
              <a:t>PROTOTIPAR Y TESTEAR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6217920" y="4800600"/>
            <a:ext cx="5394960" cy="493776"/>
          </a:xfrm>
          <a:prstGeom prst="roundRect">
            <a:avLst>
              <a:gd name="adj" fmla="val 22222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6327648" y="4873752"/>
            <a:ext cx="347472" cy="347472"/>
          </a:xfrm>
          <a:prstGeom prst="ellipse">
            <a:avLst/>
          </a:prstGeom>
          <a:solidFill>
            <a:srgbClr val="825100"/>
          </a:solidFill>
          <a:ln w="12700">
            <a:solidFill>
              <a:srgbClr val="825100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6327648" y="48737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13</a:t>
            </a:r>
            <a:endParaRPr lang="en-US" sz="1100" dirty="0"/>
          </a:p>
        </p:txBody>
      </p:sp>
      <p:sp>
        <p:nvSpPr>
          <p:cNvPr id="67" name="Text 65"/>
          <p:cNvSpPr txBox="1"/>
          <p:nvPr/>
        </p:nvSpPr>
        <p:spPr>
          <a:xfrm>
            <a:off x="6812280" y="4800600"/>
            <a:ext cx="3291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1B2E"/>
                </a:solidFill>
              </a:rPr>
              <a:t>Pruebas de usabilidad</a:t>
            </a:r>
            <a:endParaRPr lang="en-US" sz="1500" dirty="0"/>
          </a:p>
        </p:txBody>
      </p:sp>
      <p:sp>
        <p:nvSpPr>
          <p:cNvPr id="68" name="Text 66"/>
          <p:cNvSpPr txBox="1"/>
          <p:nvPr/>
        </p:nvSpPr>
        <p:spPr>
          <a:xfrm>
            <a:off x="9784080" y="4800600"/>
            <a:ext cx="16916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6B7189"/>
                </a:solidFill>
              </a:rPr>
              <a:t>PROTOTIPAR Y TESTEAR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6217920" y="5458968"/>
            <a:ext cx="5394960" cy="493776"/>
          </a:xfrm>
          <a:prstGeom prst="roundRect">
            <a:avLst>
              <a:gd name="adj" fmla="val 22222"/>
            </a:avLst>
          </a:prstGeom>
          <a:solidFill>
            <a:srgbClr val="EEF1FF"/>
          </a:solidFill>
          <a:ln w="12700">
            <a:solidFill>
              <a:srgbClr val="D3DBFF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6355080" y="5458968"/>
            <a:ext cx="51206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37B0"/>
                </a:solidFill>
              </a:rPr>
              <a:t>Cierre: cómo funciona la app y conclusiones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LA IDEA EN UN MINUTO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Cómo funciona Asesor de Estudio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1060704" y="1636776"/>
            <a:ext cx="1546333" cy="3218688"/>
          </a:xfrm>
          <a:prstGeom prst="roundRect">
            <a:avLst>
              <a:gd name="adj" fmla="val 9461"/>
            </a:avLst>
          </a:prstGeom>
          <a:solidFill>
            <a:srgbClr val="10162A"/>
          </a:solidFill>
          <a:ln w="12700">
            <a:solidFill>
              <a:srgbClr val="10162A"/>
            </a:solidFill>
            <a:prstDash val="solid"/>
          </a:ln>
          <a:effectLst>
            <a:outerShdw sx="100000" sy="100000" kx="0" ky="0" algn="bl" rotWithShape="0" blurRad="101600" dist="38100" dir="5400000">
              <a:srgbClr val="131B2E">
                <a:alpha val="25000"/>
              </a:srgbClr>
            </a:outerShdw>
          </a:effectLst>
        </p:spPr>
      </p:sp>
      <p:pic>
        <p:nvPicPr>
          <p:cNvPr id="6" name="Image 0" descr="/home/claude/deck/assets/img/06_diagnostic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5568" y="1691640"/>
            <a:ext cx="1436605" cy="31089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498348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37B0"/>
                </a:solidFill>
              </a:rPr>
              <a:t>1. Diagnóstico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5321808"/>
            <a:ext cx="2606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068"/>
                </a:solidFill>
              </a:rPr>
              <a:t>Seis preguntas cortas sobre cómo estudia hoy, cuánto tiempo tiene y cuándo rinde mejor.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3877056" y="1636776"/>
            <a:ext cx="1546333" cy="3218688"/>
          </a:xfrm>
          <a:prstGeom prst="roundRect">
            <a:avLst>
              <a:gd name="adj" fmla="val 9461"/>
            </a:avLst>
          </a:prstGeom>
          <a:solidFill>
            <a:srgbClr val="10162A"/>
          </a:solidFill>
          <a:ln w="12700">
            <a:solidFill>
              <a:srgbClr val="10162A"/>
            </a:solidFill>
            <a:prstDash val="solid"/>
          </a:ln>
          <a:effectLst>
            <a:outerShdw sx="100000" sy="100000" kx="0" ky="0" algn="bl" rotWithShape="0" blurRad="101600" dist="38100" dir="5400000">
              <a:srgbClr val="131B2E">
                <a:alpha val="25000"/>
              </a:srgbClr>
            </a:outerShdw>
          </a:effectLst>
        </p:spPr>
      </p:sp>
      <p:pic>
        <p:nvPicPr>
          <p:cNvPr id="10" name="Image 1" descr="/home/claude/deck/assets/img/10_plan_list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1920" y="1691640"/>
            <a:ext cx="1436605" cy="310896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3364992" y="498348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37B0"/>
                </a:solidFill>
              </a:rPr>
              <a:t>2. Plan con técnica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3364992" y="5321808"/>
            <a:ext cx="2606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068"/>
                </a:solidFill>
              </a:rPr>
              <a:t>Con el programa y la fecha del parcial, reparte las unidades en sesiones y le asigna una técnica a cada una.</a:t>
            </a:r>
            <a:endParaRPr lang="en-US" sz="1200" dirty="0"/>
          </a:p>
        </p:txBody>
      </p:sp>
      <p:sp>
        <p:nvSpPr>
          <p:cNvPr id="13" name="Shape 8"/>
          <p:cNvSpPr/>
          <p:nvPr/>
        </p:nvSpPr>
        <p:spPr>
          <a:xfrm>
            <a:off x="6693408" y="1636776"/>
            <a:ext cx="1546333" cy="3218688"/>
          </a:xfrm>
          <a:prstGeom prst="roundRect">
            <a:avLst>
              <a:gd name="adj" fmla="val 9461"/>
            </a:avLst>
          </a:prstGeom>
          <a:solidFill>
            <a:srgbClr val="10162A"/>
          </a:solidFill>
          <a:ln w="12700">
            <a:solidFill>
              <a:srgbClr val="10162A"/>
            </a:solidFill>
            <a:prstDash val="solid"/>
          </a:ln>
          <a:effectLst>
            <a:outerShdw sx="100000" sy="100000" kx="0" ky="0" algn="bl" rotWithShape="0" blurRad="101600" dist="38100" dir="5400000">
              <a:srgbClr val="131B2E">
                <a:alpha val="25000"/>
              </a:srgbClr>
            </a:outerShdw>
          </a:effectLst>
        </p:spPr>
      </p:sp>
      <p:pic>
        <p:nvPicPr>
          <p:cNvPr id="14" name="Image 2" descr="/home/claude/deck/assets/img/15_pregunta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8272" y="1691640"/>
            <a:ext cx="1436605" cy="310896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181344" y="498348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37B0"/>
                </a:solidFill>
              </a:rPr>
              <a:t>3. Sesión y preguntas</a:t>
            </a:r>
            <a:endParaRPr lang="en-US" sz="1600" dirty="0"/>
          </a:p>
        </p:txBody>
      </p:sp>
      <p:sp>
        <p:nvSpPr>
          <p:cNvPr id="16" name="Text 10"/>
          <p:cNvSpPr txBox="1"/>
          <p:nvPr/>
        </p:nvSpPr>
        <p:spPr>
          <a:xfrm>
            <a:off x="6181344" y="5321808"/>
            <a:ext cx="2606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068"/>
                </a:solidFill>
              </a:rPr>
              <a:t>Estudia con cronómetro y pasos guiados; al cerrar escribe sus propias preguntas.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9509760" y="1636776"/>
            <a:ext cx="1546333" cy="3218688"/>
          </a:xfrm>
          <a:prstGeom prst="roundRect">
            <a:avLst>
              <a:gd name="adj" fmla="val 9461"/>
            </a:avLst>
          </a:prstGeom>
          <a:solidFill>
            <a:srgbClr val="10162A"/>
          </a:solidFill>
          <a:ln w="12700">
            <a:solidFill>
              <a:srgbClr val="10162A"/>
            </a:solidFill>
            <a:prstDash val="solid"/>
          </a:ln>
          <a:effectLst>
            <a:outerShdw sx="100000" sy="100000" kx="0" ky="0" algn="bl" rotWithShape="0" blurRad="101600" dist="38100" dir="5400000">
              <a:srgbClr val="131B2E">
                <a:alpha val="25000"/>
              </a:srgbClr>
            </a:outerShdw>
          </a:effectLst>
        </p:spPr>
      </p:sp>
      <p:pic>
        <p:nvPicPr>
          <p:cNvPr id="18" name="Image 3" descr="/home/claude/deck/assets/img/21_progres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64624" y="1691640"/>
            <a:ext cx="1436605" cy="310896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8997696" y="498348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37B0"/>
                </a:solidFill>
              </a:rPr>
              <a:t>4. Quiz y progreso</a:t>
            </a:r>
            <a:endParaRPr lang="en-US" sz="1600" dirty="0"/>
          </a:p>
        </p:txBody>
      </p:sp>
      <p:sp>
        <p:nvSpPr>
          <p:cNvPr id="20" name="Text 13"/>
          <p:cNvSpPr txBox="1"/>
          <p:nvPr/>
        </p:nvSpPr>
        <p:spPr>
          <a:xfrm>
            <a:off x="8997696" y="5321808"/>
            <a:ext cx="2606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068"/>
                </a:solidFill>
              </a:rPr>
              <a:t>Días después responde esas preguntas. Con 70 % o más, la unidad pasa de leída a dominada.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685800" y="868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A9BBFF"/>
                </a:solidFill>
              </a:rPr>
              <a:t>ETAPA 1 DE 13</a:t>
            </a:r>
            <a:endParaRPr lang="en-US" sz="13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685800" y="1280160"/>
            <a:ext cx="5577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Planteamiento y research</a:t>
            </a:r>
            <a:endParaRPr lang="en-US" sz="4000" dirty="0"/>
          </a:p>
        </p:txBody>
      </p:sp>
      <p:sp>
        <p:nvSpPr>
          <p:cNvPr id="4" name="Text 2"/>
          <p:cNvSpPr/>
          <p:nvPr>
            <p:ph idx="104" type="body" hasCustomPrompt="1"/>
          </p:nvPr>
        </p:nvSpPr>
        <p:spPr>
          <a:xfrm>
            <a:off x="566928" y="3977640"/>
            <a:ext cx="54864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b="1" dirty="0">
                <a:solidFill>
                  <a:srgbClr val="FFFFFF"/>
                </a:solidFill>
              </a:rPr>
              <a:t>01</a:t>
            </a:r>
            <a:endParaRPr lang="en-US" sz="15000" dirty="0"/>
          </a:p>
        </p:txBody>
      </p:sp>
      <p:sp>
        <p:nvSpPr>
          <p:cNvPr id="5" name="Text 2"/>
          <p:cNvSpPr/>
          <p:nvPr>
            <p:ph idx="105" type="body" hasCustomPrompt="1"/>
          </p:nvPr>
        </p:nvSpPr>
        <p:spPr>
          <a:xfrm>
            <a:off x="7178040" y="1463040"/>
            <a:ext cx="452628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EEF1FF"/>
                </a:solidFill>
              </a:rPr>
              <a:t>✓  Usuario, problema y solución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EEF1FF"/>
                </a:solidFill>
              </a:rPr>
              <a:t>✓  Técnicas de investigación y encuesta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EEF1FF"/>
                </a:solidFill>
              </a:rPr>
              <a:t>✓  ¿Qué hace, piensa, dice, en qué cree, qué lo frustra, qué lo motiva, qué le preocupa?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EEF1FF"/>
                </a:solidFill>
              </a:rPr>
              <a:t>✓  Notas periodísticas y capturas de redes sociales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EEF1FF"/>
                </a:solidFill>
              </a:rPr>
              <a:t>✓  Conclusiones de la investigación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9BBF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01 · PLANTEAMIENTO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Usuario, problema y solución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48640" y="1783080"/>
            <a:ext cx="3520440" cy="4343400"/>
          </a:xfrm>
          <a:prstGeom prst="roundRect">
            <a:avLst>
              <a:gd name="adj" fmla="val 3117"/>
            </a:avLst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68680" y="20574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9BBFF"/>
                </a:solidFill>
              </a:rPr>
              <a:t>USUARIO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514600"/>
            <a:ext cx="29260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CE1FF"/>
                </a:solidFill>
              </a:rPr>
              <a:t>Estudiantes de primer y segundo año de carreras universitarias y terciarias, de 18 a 25 años, que organizan su estudio solos por primera vez y nunca recibieron formación sobre cómo hacerlo.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297680" y="1783080"/>
            <a:ext cx="3520440" cy="4343400"/>
          </a:xfrm>
          <a:prstGeom prst="roundRect">
            <a:avLst>
              <a:gd name="adj" fmla="val 3117"/>
            </a:avLst>
          </a:prstGeom>
          <a:solidFill>
            <a:srgbClr val="FFF4E8"/>
          </a:solidFill>
          <a:ln w="12700">
            <a:solidFill>
              <a:srgbClr val="F6D9B5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617720" y="20574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25100"/>
                </a:solidFill>
              </a:rPr>
              <a:t>PROBLEMA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4617720" y="2514600"/>
            <a:ext cx="29260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5068"/>
                </a:solidFill>
              </a:rPr>
              <a:t>Repiten las técnicas pasivas de la secundaria (releer, subrayar, resumir la semana previa), no saben cuánto les lleva una unidad y no tienen forma de comprobar si aprendieron antes del examen. Resultado: estudian mucho, rinden mal y dudan de la carrera.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8046720" y="1783080"/>
            <a:ext cx="3520440" cy="4343400"/>
          </a:xfrm>
          <a:prstGeom prst="roundRect">
            <a:avLst>
              <a:gd name="adj" fmla="val 3117"/>
            </a:avLst>
          </a:prstGeom>
          <a:solidFill>
            <a:srgbClr val="E3FBEF"/>
          </a:solidFill>
          <a:ln w="12700">
            <a:solidFill>
              <a:srgbClr val="BFEED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366760" y="20574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06C49"/>
                </a:solidFill>
              </a:rPr>
              <a:t>SOLUCIÓN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8366760" y="2514600"/>
            <a:ext cx="29260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5068"/>
                </a:solidFill>
              </a:rPr>
              <a:t>Una app móvil que, a partir de un diagnóstico breve, el programa de cada materia y su tiempo real, arma un plan que dice qué estudiar, cuándo y con qué técnica, y comprueba lo aprendido con quizzes hechos con las preguntas que el propio estudiante escribe.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01 · CONTEXTO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Cómo se estudia hoy y por qué no alcanza</a:t>
            </a:r>
            <a:endParaRPr lang="en-US" sz="3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3017520"/>
                <a:gridCol w="505663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31B2E"/>
                          </a:solidFill>
                        </a:rPr>
                        <a:t>Qué hace el estudiante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31B2E"/>
                          </a:solidFill>
                        </a:rPr>
                        <a:t>Por qué lo hace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31B2E"/>
                          </a:solidFill>
                        </a:rPr>
                        <a:t>Por qué le falla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068"/>
                          </a:solidFill>
                        </a:rPr>
                        <a:t>Relee el apunte varias veces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068"/>
                          </a:solidFill>
                        </a:rPr>
                        <a:t>Es lo que aprendió en la secundaria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068"/>
                          </a:solidFill>
                        </a:rPr>
                        <a:t>Genera familiaridad, no recuerdo: confunde «me suena» con «lo sé»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068"/>
                          </a:solidFill>
                        </a:rPr>
                        <a:t>Subraya casi todo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068"/>
                          </a:solidFill>
                        </a:rPr>
                        <a:t>Le da sensación de avance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068"/>
                          </a:solidFill>
                        </a:rPr>
                        <a:t>Sin jerarquía, no distingue lo importante de lo accesorio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068"/>
                          </a:solidFill>
                        </a:rPr>
                        <a:t>Arma resúmenes extensos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068"/>
                          </a:solidFill>
                        </a:rPr>
                        <a:t>Siente que así procesa el material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068"/>
                          </a:solidFill>
                        </a:rPr>
                        <a:t>Suelen ser copia casi textual y consumen la mayor parte del tiempo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068"/>
                          </a:solidFill>
                        </a:rPr>
                        <a:t>Empieza la semana del parcial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068"/>
                          </a:solidFill>
                        </a:rPr>
                        <a:t>Así funcionaba en la escuela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068"/>
                          </a:solidFill>
                        </a:rPr>
                        <a:t>El programa no entra en una semana: llega con la mitad sin ver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068"/>
                          </a:solidFill>
                        </a:rPr>
                        <a:t>Estudia hasta «haber leído todo»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068"/>
                          </a:solidFill>
                        </a:rPr>
                        <a:t>No tiene otro criterio de corte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068"/>
                          </a:solidFill>
                        </a:rPr>
                        <a:t>Nunca se pone a prueba: descubre lo que no sabe en el examen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548640" y="5349240"/>
            <a:ext cx="11091672" cy="777240"/>
          </a:xfrm>
          <a:prstGeom prst="roundRect">
            <a:avLst>
              <a:gd name="adj" fmla="val 14118"/>
            </a:avLst>
          </a:prstGeom>
          <a:solidFill>
            <a:srgbClr val="EEF1FF"/>
          </a:solidFill>
          <a:ln w="12700">
            <a:solidFill>
              <a:srgbClr val="D3DBFF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777240" y="544068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37B0"/>
                </a:solidFill>
              </a:rPr>
              <a:t>Base científica. </a:t>
            </a:r>
            <a:pPr indent="0" marL="0">
              <a:buNone/>
            </a:pPr>
            <a:r>
              <a:rPr lang="en-US" sz="1300" dirty="0">
                <a:solidFill>
                  <a:srgbClr val="4A5068"/>
                </a:solidFill>
              </a:rPr>
              <a:t>Dunlosky et al. (2013) ubican la práctica de recuperación y el repaso espaciado en el nivel de mayor utilidad, y releer y subrayar en el más bajo. Por eso la app personaliza sobre hábitos, tiempo y tipo de materia, no sobre «estilos de aprendizaje» (Pashler et al., 2008).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01 · RESEARCH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Cuatro técnicas de investigación, del 11 al 30 de agosto de 2026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48640" y="1783080"/>
            <a:ext cx="5440680" cy="2057400"/>
          </a:xfrm>
          <a:prstGeom prst="roundRect">
            <a:avLst>
              <a:gd name="adj" fmla="val 5333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22960" y="2057400"/>
            <a:ext cx="411480" cy="411480"/>
          </a:xfrm>
          <a:prstGeom prst="ellipse">
            <a:avLst/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20574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1417320" y="2029968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31B2E"/>
                </a:solidFill>
              </a:rPr>
              <a:t>Observación no participante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1417320" y="235000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D4ED8"/>
                </a:solidFill>
              </a:rPr>
              <a:t>4 sesiones · 4 estudiantes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2770632"/>
            <a:ext cx="4937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068"/>
                </a:solidFill>
              </a:rPr>
              <a:t>En ninguna sesión el estudiante cerró el apunte para intentar recordar. Las 4 terminaron por cansancio o por el celular, no por cumplir una meta.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72200" y="1783080"/>
            <a:ext cx="5440680" cy="2057400"/>
          </a:xfrm>
          <a:prstGeom prst="roundRect">
            <a:avLst>
              <a:gd name="adj" fmla="val 5333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446520" y="2057400"/>
            <a:ext cx="411480" cy="411480"/>
          </a:xfrm>
          <a:prstGeom prst="ellipse">
            <a:avLst/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46520" y="20574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7040880" y="2029968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31B2E"/>
                </a:solidFill>
              </a:rPr>
              <a:t>Entrevistas exploratorias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7040880" y="235000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D4ED8"/>
                </a:solidFill>
              </a:rPr>
              <a:t>6 entrevistas de 20–30 min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6446520" y="2770632"/>
            <a:ext cx="4937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068"/>
                </a:solidFill>
              </a:rPr>
              <a:t>El método se hereda, no se elige. El criterio de «ya lo sé» es haber terminado de leer. 4 de 6 dudaron de su carrera después de un parcial.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48640" y="4023360"/>
            <a:ext cx="5440680" cy="2057400"/>
          </a:xfrm>
          <a:prstGeom prst="roundRect">
            <a:avLst>
              <a:gd name="adj" fmla="val 5333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22960" y="4297680"/>
            <a:ext cx="411480" cy="411480"/>
          </a:xfrm>
          <a:prstGeom prst="ellipse">
            <a:avLst/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22960" y="42976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417320" y="4270248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31B2E"/>
                </a:solidFill>
              </a:rPr>
              <a:t>Análisis de artefactos</a:t>
            </a:r>
            <a:endParaRPr lang="en-US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1417320" y="459028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D4ED8"/>
                </a:solidFill>
              </a:rPr>
              <a:t>9 materiales de 6 estudiantes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822960" y="5010912"/>
            <a:ext cx="4937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068"/>
                </a:solidFill>
              </a:rPr>
              <a:t>Ninguno de los 9 incluía una sola pregunta. 3 de 4 resúmenes eran copia casi literal del apunte.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172200" y="4023360"/>
            <a:ext cx="5440680" cy="2057400"/>
          </a:xfrm>
          <a:prstGeom prst="roundRect">
            <a:avLst>
              <a:gd name="adj" fmla="val 5333"/>
            </a:avLst>
          </a:prstGeom>
          <a:solidFill>
            <a:srgbClr val="EEF1FF"/>
          </a:solidFill>
          <a:ln w="12700">
            <a:solidFill>
              <a:srgbClr val="D3DBF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446520" y="4297680"/>
            <a:ext cx="411480" cy="411480"/>
          </a:xfrm>
          <a:prstGeom prst="ellipse">
            <a:avLst/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446520" y="42976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7040880" y="4270248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31B2E"/>
                </a:solidFill>
              </a:rPr>
              <a:t>Encuesta online</a:t>
            </a:r>
            <a:endParaRPr lang="en-US" sz="1700" dirty="0"/>
          </a:p>
        </p:txBody>
      </p:sp>
      <p:sp>
        <p:nvSpPr>
          <p:cNvPr id="27" name="Text 24"/>
          <p:cNvSpPr txBox="1"/>
          <p:nvPr/>
        </p:nvSpPr>
        <p:spPr>
          <a:xfrm>
            <a:off x="7040880" y="459028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D4ED8"/>
                </a:solidFill>
              </a:rPr>
              <a:t>47 respuestas · 34 válidas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6446520" y="5010912"/>
            <a:ext cx="4937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068"/>
                </a:solidFill>
              </a:rPr>
              <a:t>Google Forms, 11 preguntas, del 25 al 30 de agosto. Filtro: primer o segundo año. Muestreo por conveniencia.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01 · ENCUESTA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Los cuatro datos que definieron el producto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48640" y="1828800"/>
            <a:ext cx="2633472" cy="2926080"/>
          </a:xfrm>
          <a:prstGeom prst="roundRect">
            <a:avLst>
              <a:gd name="adj" fmla="val 4167"/>
            </a:avLst>
          </a:prstGeom>
          <a:solidFill>
            <a:srgbClr val="EEF1FF"/>
          </a:solidFill>
          <a:ln w="12700">
            <a:solidFill>
              <a:srgbClr val="EEF1F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210312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0037B0"/>
                </a:solidFill>
              </a:rPr>
              <a:t>68 %</a:t>
            </a:r>
            <a:endParaRPr lang="en-US" sz="54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20040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31B2E"/>
                </a:solidFill>
              </a:rPr>
              <a:t>nunca recibió formación sobre cómo estudiar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3364992" y="1828800"/>
            <a:ext cx="2633472" cy="2926080"/>
          </a:xfrm>
          <a:prstGeom prst="roundRect">
            <a:avLst>
              <a:gd name="adj" fmla="val 4167"/>
            </a:avLst>
          </a:prstGeom>
          <a:solidFill>
            <a:srgbClr val="FFF4E8"/>
          </a:solidFill>
          <a:ln w="12700">
            <a:solidFill>
              <a:srgbClr val="FFF4E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639312" y="210312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825100"/>
                </a:solidFill>
              </a:rPr>
              <a:t>53 %</a:t>
            </a:r>
            <a:endParaRPr lang="en-US" sz="5400" dirty="0"/>
          </a:p>
        </p:txBody>
      </p:sp>
      <p:sp>
        <p:nvSpPr>
          <p:cNvPr id="10" name="Text 7"/>
          <p:cNvSpPr txBox="1"/>
          <p:nvPr/>
        </p:nvSpPr>
        <p:spPr>
          <a:xfrm>
            <a:off x="3639312" y="320040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31B2E"/>
                </a:solidFill>
              </a:rPr>
              <a:t>cree que entendió un tema porque terminó de leerlo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181344" y="1828800"/>
            <a:ext cx="2633472" cy="2926080"/>
          </a:xfrm>
          <a:prstGeom prst="roundRect">
            <a:avLst>
              <a:gd name="adj" fmla="val 4167"/>
            </a:avLst>
          </a:prstGeom>
          <a:solidFill>
            <a:srgbClr val="FFECEB"/>
          </a:solidFill>
          <a:ln w="12700">
            <a:solidFill>
              <a:srgbClr val="FFECE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55664" y="210312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BA1A1A"/>
                </a:solidFill>
              </a:rPr>
              <a:t>91 %</a:t>
            </a:r>
            <a:endParaRPr lang="en-US" sz="5400" dirty="0"/>
          </a:p>
        </p:txBody>
      </p:sp>
      <p:sp>
        <p:nvSpPr>
          <p:cNvPr id="13" name="Text 10"/>
          <p:cNvSpPr txBox="1"/>
          <p:nvPr/>
        </p:nvSpPr>
        <p:spPr>
          <a:xfrm>
            <a:off x="6455664" y="320040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31B2E"/>
                </a:solidFill>
              </a:rPr>
              <a:t>rindió mal alguna vez aunque sentía que había estudiado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997696" y="1828800"/>
            <a:ext cx="2633472" cy="2926080"/>
          </a:xfrm>
          <a:prstGeom prst="roundRect">
            <a:avLst>
              <a:gd name="adj" fmla="val 4167"/>
            </a:avLst>
          </a:prstGeom>
          <a:solidFill>
            <a:srgbClr val="E3FBEF"/>
          </a:solidFill>
          <a:ln w="12700">
            <a:solidFill>
              <a:srgbClr val="E3FBE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272016" y="210312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006C49"/>
                </a:solidFill>
              </a:rPr>
              <a:t>56 %</a:t>
            </a:r>
            <a:endParaRPr lang="en-US" sz="5400" dirty="0"/>
          </a:p>
        </p:txBody>
      </p:sp>
      <p:sp>
        <p:nvSpPr>
          <p:cNvPr id="16" name="Text 13"/>
          <p:cNvSpPr txBox="1"/>
          <p:nvPr/>
        </p:nvSpPr>
        <p:spPr>
          <a:xfrm>
            <a:off x="9272016" y="320040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31B2E"/>
                </a:solidFill>
              </a:rPr>
              <a:t>no dedicaría más de 5 minutos a configurar una app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50749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31B2E"/>
                </a:solidFill>
              </a:rPr>
              <a:t>Lectura: </a:t>
            </a:r>
            <a:pPr indent="0" marL="0">
              <a:buNone/>
            </a:pPr>
            <a:r>
              <a:rPr lang="en-US" sz="1500" dirty="0">
                <a:solidFill>
                  <a:srgbClr val="4A5068"/>
                </a:solidFill>
              </a:rPr>
              <a:t>el problema no es la falta de esfuerzo sino el método. El 85 % relee y el 71 % subraya, pero solo el 18 % se autoevalúa antes del examen. Y cualquier solución tiene que dar valor en menos de cinco minutos.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01 · ENCUESTA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Qué hacen al estudiar y cómo deciden que ya saben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737360"/>
          <a:ext cx="548640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Chart 1" descr=""/>
          <p:cNvGraphicFramePr/>
          <p:nvPr/>
        </p:nvGraphicFramePr>
        <p:xfrm>
          <a:off x="6309360" y="1737360"/>
          <a:ext cx="530352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57607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068"/>
                </a:solidFill>
              </a:rPr>
              <a:t>Las tres técnicas más usadas son pasivas; autoevaluarse es la menos frecuente.</a:t>
            </a:r>
            <a:endParaRPr lang="en-US" sz="1300" dirty="0"/>
          </a:p>
        </p:txBody>
      </p:sp>
      <p:sp>
        <p:nvSpPr>
          <p:cNvPr id="7" name="Text 3"/>
          <p:cNvSpPr txBox="1"/>
          <p:nvPr/>
        </p:nvSpPr>
        <p:spPr>
          <a:xfrm>
            <a:off x="6309360" y="576072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068"/>
                </a:solidFill>
              </a:rPr>
              <a:t>Para más de la mitad, «ya lo sé» significa «ya lo leí»: es el dato central del relevamiento.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01 · ENCUESTA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Rinden mal habiendo estudiado y no quieren configurar nada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91640"/>
          <a:ext cx="3566160" cy="2697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Chart 1" descr=""/>
          <p:cNvGraphicFramePr/>
          <p:nvPr/>
        </p:nvGraphicFramePr>
        <p:xfrm>
          <a:off x="4297680" y="1691640"/>
          <a:ext cx="3566160" cy="2697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6" name="Chart 2" descr=""/>
          <p:cNvGraphicFramePr/>
          <p:nvPr/>
        </p:nvGraphicFramePr>
        <p:xfrm>
          <a:off x="8046720" y="1691640"/>
          <a:ext cx="3593592" cy="2697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26280"/>
          <a:ext cx="11091672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1097280"/>
                <a:gridCol w="597103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Pregunta abierta: ¿qué es lo más difícil de estudiar en la facultad?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Menciones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Ejemplo de respuesta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Volumen inabarcable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13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«Es muchísimo material y no sé por dónde empezar.»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Desorientación sobre el método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11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«No sé si lo estoy estudiando bien.»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Falsa seguridad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9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«Creía que lo sabía y en el parcial me quedé en blanco.»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Dudas sobre la propia capacidad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7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«Pensé que no servía para esta carrera.»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01 · EL USUARIO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¿Qué hace, piensa, dice, en qué cree, qué lo frustra, qué lo motiva y qué le preocupa?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48640" y="1965960"/>
            <a:ext cx="2633472" cy="1920240"/>
          </a:xfrm>
          <a:prstGeom prst="roundRect">
            <a:avLst>
              <a:gd name="adj" fmla="val 5714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49808" y="21488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37B0"/>
                </a:solidFill>
              </a:rPr>
              <a:t>¿Qué hace?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49808" y="2560320"/>
            <a:ext cx="2286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068"/>
                </a:solidFill>
              </a:rPr>
              <a:t>Relee, subraya y resume. Empieza la semana del parcial. Saca las fechas del grupo de WhatsApp.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364992" y="1965960"/>
            <a:ext cx="2633472" cy="1920240"/>
          </a:xfrm>
          <a:prstGeom prst="roundRect">
            <a:avLst>
              <a:gd name="adj" fmla="val 5714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566160" y="21488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37B0"/>
                </a:solidFill>
              </a:rPr>
              <a:t>¿Qué piensa?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3566160" y="2560320"/>
            <a:ext cx="2286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068"/>
                </a:solidFill>
              </a:rPr>
              <a:t>«Si lo leí todo, lo sé.» «Estudié un montón; algo estoy haciendo mal.»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81344" y="1965960"/>
            <a:ext cx="2633472" cy="1920240"/>
          </a:xfrm>
          <a:prstGeom prst="roundRect">
            <a:avLst>
              <a:gd name="adj" fmla="val 5714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382512" y="21488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37B0"/>
                </a:solidFill>
              </a:rPr>
              <a:t>¿Qué dice?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6382512" y="2560320"/>
            <a:ext cx="2286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068"/>
                </a:solidFill>
              </a:rPr>
              <a:t>«Esta vez arranco antes.» «Nadie te enseña a estudiar, se supone que ya sabés.»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997696" y="1965960"/>
            <a:ext cx="2633472" cy="1920240"/>
          </a:xfrm>
          <a:prstGeom prst="roundRect">
            <a:avLst>
              <a:gd name="adj" fmla="val 5714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98864" y="21488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37B0"/>
                </a:solidFill>
              </a:rPr>
              <a:t>¿En qué cree?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9198864" y="2560320"/>
            <a:ext cx="2286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068"/>
                </a:solidFill>
              </a:rPr>
              <a:t>Que estudiar más horas es estudiar mejor, y que saber estudiar es algo que ya debería traer resuelto.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48640" y="4069080"/>
            <a:ext cx="2633472" cy="1920240"/>
          </a:xfrm>
          <a:prstGeom prst="roundRect">
            <a:avLst>
              <a:gd name="adj" fmla="val 5714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49808" y="42519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BA1A1A"/>
                </a:solidFill>
              </a:rPr>
              <a:t>¿Qué lo frustra?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749808" y="4663440"/>
            <a:ext cx="2286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068"/>
                </a:solidFill>
              </a:rPr>
              <a:t>Rendir mal habiendo estudiado (91 %) y no saber cuánto le lleva una unidad (71 %).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3364992" y="4069080"/>
            <a:ext cx="2633472" cy="1920240"/>
          </a:xfrm>
          <a:prstGeom prst="roundRect">
            <a:avLst>
              <a:gd name="adj" fmla="val 5714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566160" y="42519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6C49"/>
                </a:solidFill>
              </a:rPr>
              <a:t>¿Qué lo motiva?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3566160" y="4663440"/>
            <a:ext cx="2286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068"/>
                </a:solidFill>
              </a:rPr>
              <a:t>Aprobar el primer año, confirmar que eligió bien la carrera y no defraudar a su familia.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181344" y="4069080"/>
            <a:ext cx="2633472" cy="1920240"/>
          </a:xfrm>
          <a:prstGeom prst="roundRect">
            <a:avLst>
              <a:gd name="adj" fmla="val 5714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382512" y="42519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825100"/>
                </a:solidFill>
              </a:rPr>
              <a:t>¿Qué le preocupa?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6382512" y="4663440"/>
            <a:ext cx="2286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068"/>
                </a:solidFill>
              </a:rPr>
              <a:t>No servir para la carrera, quedar libre en una materia y no llegar a ver todo el programa.</a:t>
            </a:r>
            <a:endParaRPr lang="en-US" sz="1300" dirty="0"/>
          </a:p>
        </p:txBody>
      </p:sp>
      <p:pic>
        <p:nvPicPr>
          <p:cNvPr id="26" name="Image 0" descr="/home/claude/deck/assets/img/toma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80939" y="4069080"/>
            <a:ext cx="1666986" cy="19202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01 · VALIDACIÓN EXTERNA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Notas periodísticas: el problema está en el primer año</a:t>
            </a:r>
            <a:endParaRPr lang="en-US" sz="3000" dirty="0"/>
          </a:p>
        </p:txBody>
      </p:sp>
      <p:pic>
        <p:nvPicPr>
          <p:cNvPr id="5" name="Image 0" descr="/home/claude/deck/assets/img/nota_lanac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" y="1728216"/>
            <a:ext cx="2850002" cy="4453128"/>
          </a:xfrm>
          <a:prstGeom prst="rect">
            <a:avLst/>
          </a:prstGeom>
        </p:spPr>
      </p:pic>
      <p:pic>
        <p:nvPicPr>
          <p:cNvPr id="6" name="Image 1" descr="/home/claude/deck/assets/img/nota_diari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9080" y="1728216"/>
            <a:ext cx="2493752" cy="4453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7223760" y="1691640"/>
            <a:ext cx="4416552" cy="2148840"/>
          </a:xfrm>
          <a:prstGeom prst="roundRect">
            <a:avLst>
              <a:gd name="adj" fmla="val 5106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7452360" y="184708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D4ED8"/>
                </a:solidFill>
              </a:rPr>
              <a:t>La Nación · 27/04/2024</a:t>
            </a:r>
            <a:endParaRPr lang="en-US" sz="1200" dirty="0"/>
          </a:p>
        </p:txBody>
      </p:sp>
      <p:sp>
        <p:nvSpPr>
          <p:cNvPr id="9" name="Text 4"/>
          <p:cNvSpPr txBox="1"/>
          <p:nvPr/>
        </p:nvSpPr>
        <p:spPr>
          <a:xfrm>
            <a:off x="7452360" y="2121408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31B2E"/>
                </a:solidFill>
              </a:rPr>
              <a:t>Crisis universitaria: carreras largas, abandono y los «nuevos adolescentes»</a:t>
            </a:r>
            <a:endParaRPr lang="en-US" sz="1400" dirty="0"/>
          </a:p>
        </p:txBody>
      </p:sp>
      <p:sp>
        <p:nvSpPr>
          <p:cNvPr id="10" name="Text 5"/>
          <p:cNvSpPr txBox="1"/>
          <p:nvPr/>
        </p:nvSpPr>
        <p:spPr>
          <a:xfrm>
            <a:off x="7452360" y="2697480"/>
            <a:ext cx="4023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068"/>
                </a:solidFill>
              </a:rPr>
              <a:t>Ana García de Fanelli (CONICET): el abandono se produce ya desde el primer año, donde se registra la tasa más alta de todo el trayecto.</a:t>
            </a:r>
            <a:endParaRPr lang="en-US" sz="1200" dirty="0"/>
          </a:p>
        </p:txBody>
      </p:sp>
      <p:sp>
        <p:nvSpPr>
          <p:cNvPr id="11" name="Shape 6"/>
          <p:cNvSpPr/>
          <p:nvPr/>
        </p:nvSpPr>
        <p:spPr>
          <a:xfrm>
            <a:off x="7223760" y="4023360"/>
            <a:ext cx="4416552" cy="2194560"/>
          </a:xfrm>
          <a:prstGeom prst="roundRect">
            <a:avLst>
              <a:gd name="adj" fmla="val 5000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7452360" y="417880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D4ED8"/>
                </a:solidFill>
              </a:rPr>
              <a:t>El Diario de las Universidades · 16/03/2023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7452360" y="4453128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31B2E"/>
                </a:solidFill>
              </a:rPr>
              <a:t>Afirman que aumentan las tasas de deserción y fracasos en la universidad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7452360" y="502920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068"/>
                </a:solidFill>
              </a:rPr>
              <a:t>Marcelo Rabossi (UTDT): muchos ingresan con conocimientos débiles y la vida académica les exige capacidades que no traen de la secundaria.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01 · REDES SOCIALES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Lo que dicen los estudiantes en redes</a:t>
            </a:r>
            <a:endParaRPr lang="en-US" sz="3000" dirty="0"/>
          </a:p>
        </p:txBody>
      </p:sp>
      <p:pic>
        <p:nvPicPr>
          <p:cNvPr id="5" name="Image 0" descr="/home/claude/deck/assets/img/tw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3319128" cy="4206240"/>
          </a:xfrm>
          <a:prstGeom prst="rect">
            <a:avLst/>
          </a:prstGeom>
        </p:spPr>
      </p:pic>
      <p:pic>
        <p:nvPicPr>
          <p:cNvPr id="6" name="Image 1" descr="/home/claude/deck/assets/img/tw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3400" y="1693718"/>
            <a:ext cx="3566160" cy="1458884"/>
          </a:xfrm>
          <a:prstGeom prst="rect">
            <a:avLst/>
          </a:prstGeom>
        </p:spPr>
      </p:pic>
      <p:pic>
        <p:nvPicPr>
          <p:cNvPr id="7" name="Image 2" descr="/home/claude/deck/assets/img/tw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3337560"/>
            <a:ext cx="3534578" cy="1600200"/>
          </a:xfrm>
          <a:prstGeom prst="rect">
            <a:avLst/>
          </a:prstGeom>
        </p:spPr>
      </p:pic>
      <p:sp>
        <p:nvSpPr>
          <p:cNvPr id="8" name="Text 2"/>
          <p:cNvSpPr txBox="1"/>
          <p:nvPr/>
        </p:nvSpPr>
        <p:spPr>
          <a:xfrm>
            <a:off x="548640" y="5943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189"/>
                </a:solidFill>
              </a:rPr>
              <a:t>@pasoenlafacu · @Cyane_lol · @valenmineare — x.com</a:t>
            </a:r>
            <a:endParaRPr lang="en-US" sz="1000" dirty="0"/>
          </a:p>
        </p:txBody>
      </p:sp>
      <p:sp>
        <p:nvSpPr>
          <p:cNvPr id="9" name="Shape 3"/>
          <p:cNvSpPr/>
          <p:nvPr/>
        </p:nvSpPr>
        <p:spPr>
          <a:xfrm>
            <a:off x="8183880" y="1691640"/>
            <a:ext cx="3456432" cy="4526280"/>
          </a:xfrm>
          <a:prstGeom prst="roundRect">
            <a:avLst>
              <a:gd name="adj" fmla="val 3175"/>
            </a:avLst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10" name="Text 4"/>
          <p:cNvSpPr txBox="1"/>
          <p:nvPr/>
        </p:nvSpPr>
        <p:spPr>
          <a:xfrm>
            <a:off x="8412480" y="187452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BBFF"/>
                </a:solidFill>
              </a:rPr>
              <a:t>Y EN NUESTRAS ENTREVISTAS</a:t>
            </a:r>
            <a:endParaRPr lang="en-US" sz="1100" dirty="0"/>
          </a:p>
        </p:txBody>
      </p:sp>
      <p:sp>
        <p:nvSpPr>
          <p:cNvPr id="11" name="Text 5"/>
          <p:cNvSpPr txBox="1"/>
          <p:nvPr/>
        </p:nvSpPr>
        <p:spPr>
          <a:xfrm>
            <a:off x="8412480" y="2240280"/>
            <a:ext cx="30175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«Estudié un montón y me fue mal igual, algo estoy haciendo mal.»</a:t>
            </a:r>
            <a:endParaRPr lang="en-US" sz="1500" dirty="0"/>
          </a:p>
          <a:p>
            <a:pPr indent="0" marL="0">
              <a:buNone/>
            </a:pPr>
            <a:r>
              <a:rPr lang="en-US" sz="1100" b="1" dirty="0">
                <a:solidFill>
                  <a:srgbClr val="A9BBFF"/>
                </a:solidFill>
              </a:rPr>
              <a:t>E2, primer año</a:t>
            </a:r>
            <a:endParaRPr lang="en-US" sz="1500" dirty="0"/>
          </a:p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«Me doy cuenta de que lo sé porque lo leí todo y me suena.»</a:t>
            </a:r>
            <a:endParaRPr lang="en-US" sz="1500" dirty="0"/>
          </a:p>
          <a:p>
            <a:pPr indent="0" marL="0">
              <a:buNone/>
            </a:pPr>
            <a:r>
              <a:rPr lang="en-US" sz="1100" b="1" dirty="0">
                <a:solidFill>
                  <a:srgbClr val="A9BBFF"/>
                </a:solidFill>
              </a:rPr>
              <a:t>E1, primer año</a:t>
            </a:r>
            <a:endParaRPr lang="en-US" sz="1500" dirty="0"/>
          </a:p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«Tengo dos horas por día, no me puedo dar el lujo de estudiar mal.»</a:t>
            </a:r>
            <a:endParaRPr lang="en-US" sz="1500" dirty="0"/>
          </a:p>
          <a:p>
            <a:pPr indent="0" marL="0">
              <a:buNone/>
            </a:pPr>
            <a:r>
              <a:rPr lang="en-US" sz="1100" b="1" dirty="0">
                <a:solidFill>
                  <a:srgbClr val="A9BBFF"/>
                </a:solidFill>
              </a:rPr>
              <a:t>E6, segundo año, trabaja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01 · CONCLUSIONES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Qué aprendimos de la investigación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92808"/>
            <a:ext cx="457200" cy="457200"/>
          </a:xfrm>
          <a:prstGeom prst="ellipse">
            <a:avLst/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892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82880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1B2E"/>
                </a:solidFill>
              </a:rPr>
              <a:t>Falta método, no esfuerzo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5303520" y="1828800"/>
            <a:ext cx="630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068"/>
                </a:solidFill>
              </a:rPr>
              <a:t>El 68 % nunca aprendió a estudiar y aplica en la universidad las estrategias de la secundaria.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761488"/>
            <a:ext cx="457200" cy="457200"/>
          </a:xfrm>
          <a:prstGeom prst="ellipse">
            <a:avLst/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761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269748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1B2E"/>
                </a:solidFill>
              </a:rPr>
              <a:t>Predominan técnicas pasivas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5303520" y="2697480"/>
            <a:ext cx="630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068"/>
                </a:solidFill>
              </a:rPr>
              <a:t>85 % relee y 71 % subraya; solo 18 % se autoevalúa. Es el punto exacto donde intervenir.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630168"/>
            <a:ext cx="457200" cy="457200"/>
          </a:xfrm>
          <a:prstGeom prst="ellipse">
            <a:avLst/>
          </a:prstGeom>
          <a:solidFill>
            <a:srgbClr val="825100"/>
          </a:solidFill>
          <a:ln w="12700">
            <a:solidFill>
              <a:srgbClr val="82510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6301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356616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1B2E"/>
                </a:solidFill>
              </a:rPr>
              <a:t>La autoevaluación es el eslabón faltante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5303520" y="3566160"/>
            <a:ext cx="630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068"/>
                </a:solidFill>
              </a:rPr>
              <a:t>53 % cree que leer es saber y ningún artefacto tenía una pregunta: el quiz es el corazón del producto.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498848"/>
            <a:ext cx="457200" cy="457200"/>
          </a:xfrm>
          <a:prstGeom prst="ellipse">
            <a:avLst/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4988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443484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1B2E"/>
                </a:solidFill>
              </a:rPr>
              <a:t>Planifican a ciegas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5303520" y="4434840"/>
            <a:ext cx="630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068"/>
                </a:solidFill>
              </a:rPr>
              <a:t>71 % no sabe cuánto le lleva una unidad y 68 % empieza a una semana o menos del parcial.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48640" y="5367528"/>
            <a:ext cx="457200" cy="457200"/>
          </a:xfrm>
          <a:prstGeom prst="ellipse">
            <a:avLst/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5367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530352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1B2E"/>
                </a:solidFill>
              </a:rPr>
              <a:t>El onboarding es la primera barrera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5303520" y="5303520"/>
            <a:ext cx="630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068"/>
                </a:solidFill>
              </a:rPr>
              <a:t>Tiene que durar menos de 5 minutos y aun así producir un plan útil.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685800" y="868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A9BBFF"/>
                </a:solidFill>
              </a:rPr>
              <a:t>ETAPA 2 DE 13</a:t>
            </a:r>
            <a:endParaRPr lang="en-US" sz="13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685800" y="1280160"/>
            <a:ext cx="5577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Benchmarking</a:t>
            </a:r>
            <a:endParaRPr lang="en-US" sz="4000" dirty="0"/>
          </a:p>
        </p:txBody>
      </p:sp>
      <p:sp>
        <p:nvSpPr>
          <p:cNvPr id="4" name="Text 2"/>
          <p:cNvSpPr/>
          <p:nvPr>
            <p:ph idx="104" type="body" hasCustomPrompt="1"/>
          </p:nvPr>
        </p:nvSpPr>
        <p:spPr>
          <a:xfrm>
            <a:off x="566928" y="3977640"/>
            <a:ext cx="54864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b="1" dirty="0">
                <a:solidFill>
                  <a:srgbClr val="FFFFFF"/>
                </a:solidFill>
              </a:rPr>
              <a:t>02</a:t>
            </a:r>
            <a:endParaRPr lang="en-US" sz="15000" dirty="0"/>
          </a:p>
        </p:txBody>
      </p:sp>
      <p:sp>
        <p:nvSpPr>
          <p:cNvPr id="5" name="Text 2"/>
          <p:cNvSpPr/>
          <p:nvPr>
            <p:ph idx="105" type="body" hasCustomPrompt="1"/>
          </p:nvPr>
        </p:nvSpPr>
        <p:spPr>
          <a:xfrm>
            <a:off x="7178040" y="1463040"/>
            <a:ext cx="452628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EEF1FF"/>
                </a:solidFill>
              </a:rPr>
              <a:t>✓  3 competidores directos: nombre y logo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EEF1FF"/>
                </a:solidFill>
              </a:rPr>
              <a:t>✓  Reseña y captura de cada uno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EEF1FF"/>
                </a:solidFill>
              </a:rPr>
              <a:t>✓  Pasos por acción: 3 acciones por competidor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EEF1FF"/>
                </a:solidFill>
              </a:rPr>
              <a:t>✓  Vocabulario (óptimo, error menor, error mayor)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EEF1FF"/>
                </a:solidFill>
              </a:rPr>
              <a:t>✓  Diseño (óptimo, básico, malo)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EEF1FF"/>
                </a:solidFill>
              </a:rPr>
              <a:t>✓  Fortalezas, debilidades e informe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9BBF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02 · BENCHMARKING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Nuestra competencia directa: apps de estudio con autoevaluación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48640" y="1783080"/>
            <a:ext cx="3520440" cy="4434840"/>
          </a:xfrm>
          <a:prstGeom prst="roundRect">
            <a:avLst>
              <a:gd name="adj" fmla="val 3117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pic>
        <p:nvPicPr>
          <p:cNvPr id="6" name="Image 0" descr="/home/claude/deck/assets/img/quizlet_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057400"/>
            <a:ext cx="822960" cy="8229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783080" y="20574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1B2E"/>
                </a:solidFill>
              </a:rPr>
              <a:t>Quizlet</a:t>
            </a:r>
            <a:endParaRPr lang="en-US" sz="1800" dirty="0"/>
          </a:p>
        </p:txBody>
      </p:sp>
      <p:sp>
        <p:nvSpPr>
          <p:cNvPr id="8" name="Text 4"/>
          <p:cNvSpPr txBox="1"/>
          <p:nvPr/>
        </p:nvSpPr>
        <p:spPr>
          <a:xfrm>
            <a:off x="1783080" y="25420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825100"/>
                </a:solidFill>
              </a:rPr>
              <a:t>★ 4,6 en Google Play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822960" y="3108960"/>
            <a:ext cx="29718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068"/>
                </a:solidFill>
              </a:rPr>
              <a:t>Plataforma estadounidense de fichas de estudio (2005). Se crean sets de término y definición y se estudian con distintos modos (Fichas, Aprender, Prueba); hoy también genera fichas con IA.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822960" y="5715000"/>
            <a:ext cx="2971800" cy="274320"/>
          </a:xfrm>
          <a:prstGeom prst="roundRect">
            <a:avLst>
              <a:gd name="adj" fmla="val 50000"/>
            </a:avLst>
          </a:prstGeom>
          <a:solidFill>
            <a:srgbClr val="EEF1FF"/>
          </a:solidFill>
          <a:ln w="12700">
            <a:solidFill>
              <a:srgbClr val="EEF1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22960" y="571500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37B0"/>
                </a:solidFill>
              </a:rPr>
              <a:t>Freemium (Quizlet Plus)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4297680" y="1783080"/>
            <a:ext cx="3520440" cy="4434840"/>
          </a:xfrm>
          <a:prstGeom prst="roundRect">
            <a:avLst>
              <a:gd name="adj" fmla="val 3117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pic>
        <p:nvPicPr>
          <p:cNvPr id="13" name="Image 1" descr="/home/claude/deck/assets/img/anki_ic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057400"/>
            <a:ext cx="822960" cy="82296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532120" y="20574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1B2E"/>
                </a:solidFill>
              </a:rPr>
              <a:t>AnkiDroid</a:t>
            </a:r>
            <a:endParaRPr lang="en-US" sz="1800" dirty="0"/>
          </a:p>
        </p:txBody>
      </p:sp>
      <p:sp>
        <p:nvSpPr>
          <p:cNvPr id="15" name="Text 10"/>
          <p:cNvSpPr txBox="1"/>
          <p:nvPr/>
        </p:nvSpPr>
        <p:spPr>
          <a:xfrm>
            <a:off x="5532120" y="25420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825100"/>
                </a:solidFill>
              </a:rPr>
              <a:t>★ 4,7 en Google Play</a:t>
            </a:r>
            <a:endParaRPr lang="en-US" sz="1200" dirty="0"/>
          </a:p>
        </p:txBody>
      </p:sp>
      <p:sp>
        <p:nvSpPr>
          <p:cNvPr id="16" name="Text 11"/>
          <p:cNvSpPr txBox="1"/>
          <p:nvPr/>
        </p:nvSpPr>
        <p:spPr>
          <a:xfrm>
            <a:off x="4572000" y="3108960"/>
            <a:ext cx="29718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068"/>
                </a:solidFill>
              </a:rPr>
              <a:t>Versión Android de Anki (2006). Aplica repetición espaciada: después de cada tarjeta el usuario califica qué tan bien la recordó y el algoritmo decide cuándo volver a mostrarla.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4572000" y="5715000"/>
            <a:ext cx="2971800" cy="274320"/>
          </a:xfrm>
          <a:prstGeom prst="roundRect">
            <a:avLst>
              <a:gd name="adj" fmla="val 50000"/>
            </a:avLst>
          </a:prstGeom>
          <a:solidFill>
            <a:srgbClr val="EEF1FF"/>
          </a:solidFill>
          <a:ln w="12700">
            <a:solidFill>
              <a:srgbClr val="EEF1FF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4572000" y="571500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37B0"/>
                </a:solidFill>
              </a:rPr>
              <a:t>Gratis y de código abierto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8046720" y="1783080"/>
            <a:ext cx="3520440" cy="4434840"/>
          </a:xfrm>
          <a:prstGeom prst="roundRect">
            <a:avLst>
              <a:gd name="adj" fmla="val 3117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pic>
        <p:nvPicPr>
          <p:cNvPr id="20" name="Image 2" descr="/home/claude/deck/assets/img/studysmarter_ic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2057400"/>
            <a:ext cx="822960" cy="8229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281160" y="20574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1B2E"/>
                </a:solidFill>
              </a:rPr>
              <a:t>Vaia (ex StudySmarter)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9281160" y="25420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825100"/>
                </a:solidFill>
              </a:rPr>
              <a:t>★ 4,5 en Google Play</a:t>
            </a:r>
            <a:endParaRPr lang="en-US" sz="1200" dirty="0"/>
          </a:p>
        </p:txBody>
      </p:sp>
      <p:sp>
        <p:nvSpPr>
          <p:cNvPr id="23" name="Text 17"/>
          <p:cNvSpPr txBox="1"/>
          <p:nvPr/>
        </p:nvSpPr>
        <p:spPr>
          <a:xfrm>
            <a:off x="8321040" y="3108960"/>
            <a:ext cx="29718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068"/>
                </a:solidFill>
              </a:rPr>
              <a:t>App alemana que integra apuntes, flashcards generadas con IA y un plan de estudio. Antes se llamaba StudySmarter. Es el competidor más cercano porque combina plan y autoevaluación.</a:t>
            </a:r>
            <a:endParaRPr lang="en-US" sz="1300" dirty="0"/>
          </a:p>
        </p:txBody>
      </p:sp>
      <p:sp>
        <p:nvSpPr>
          <p:cNvPr id="24" name="Shape 18"/>
          <p:cNvSpPr/>
          <p:nvPr/>
        </p:nvSpPr>
        <p:spPr>
          <a:xfrm>
            <a:off x="8321040" y="5715000"/>
            <a:ext cx="2971800" cy="274320"/>
          </a:xfrm>
          <a:prstGeom prst="roundRect">
            <a:avLst>
              <a:gd name="adj" fmla="val 50000"/>
            </a:avLst>
          </a:prstGeom>
          <a:solidFill>
            <a:srgbClr val="EEF1FF"/>
          </a:solidFill>
          <a:ln w="12700">
            <a:solidFill>
              <a:srgbClr val="EEF1FF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8321040" y="571500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37B0"/>
                </a:solidFill>
              </a:rPr>
              <a:t>Freemium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02 · BENCHMARKING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Quizlet: captura, pasos por acción y evaluación</a:t>
            </a:r>
            <a:endParaRPr lang="en-US" sz="3000" dirty="0"/>
          </a:p>
        </p:txBody>
      </p:sp>
      <p:pic>
        <p:nvPicPr>
          <p:cNvPr id="4" name="Image 0" descr="/home/claude/deck/assets/img/quizlet_s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632117"/>
            <a:ext cx="1463040" cy="2599605"/>
          </a:xfrm>
          <a:prstGeom prst="rect">
            <a:avLst/>
          </a:prstGeom>
        </p:spPr>
      </p:pic>
      <p:pic>
        <p:nvPicPr>
          <p:cNvPr id="5" name="Image 1" descr="/home/claude/deck/assets/img/quizlet_s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8840" y="2630763"/>
            <a:ext cx="1463040" cy="2602315"/>
          </a:xfrm>
          <a:prstGeom prst="rect">
            <a:avLst/>
          </a:prstGeom>
        </p:spPr>
      </p:pic>
      <p:pic>
        <p:nvPicPr>
          <p:cNvPr id="6" name="Image 2" descr="/home/claude/deck/assets/img/quizlet_ic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1672" y="640080"/>
            <a:ext cx="548640" cy="54864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3749040" y="16916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D4ED8"/>
                </a:solidFill>
              </a:rPr>
              <a:t>PASOS POR ACCIÓN</a:t>
            </a:r>
            <a:endParaRPr lang="en-US" sz="1100" dirty="0"/>
          </a:p>
        </p:txBody>
      </p:sp>
      <p:sp>
        <p:nvSpPr>
          <p:cNvPr id="8" name="Shape 3"/>
          <p:cNvSpPr/>
          <p:nvPr/>
        </p:nvSpPr>
        <p:spPr>
          <a:xfrm>
            <a:off x="3749040" y="2011680"/>
            <a:ext cx="4023360" cy="1188720"/>
          </a:xfrm>
          <a:prstGeom prst="roundRect">
            <a:avLst>
              <a:gd name="adj" fmla="val 9231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9" name="Text 4"/>
          <p:cNvSpPr txBox="1"/>
          <p:nvPr/>
        </p:nvSpPr>
        <p:spPr>
          <a:xfrm>
            <a:off x="3913632" y="208483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31B2E"/>
                </a:solidFill>
              </a:rPr>
              <a:t>Crear un set</a:t>
            </a:r>
            <a:pPr indent="0" marL="0">
              <a:buNone/>
            </a:pPr>
            <a:r>
              <a:rPr lang="en-US" sz="1100" b="1" dirty="0">
                <a:solidFill>
                  <a:srgbClr val="1D4ED8"/>
                </a:solidFill>
              </a:rPr>
              <a:t>   4 pasos</a:t>
            </a:r>
            <a:endParaRPr lang="en-US" sz="1300" dirty="0"/>
          </a:p>
        </p:txBody>
      </p:sp>
      <p:sp>
        <p:nvSpPr>
          <p:cNvPr id="10" name="Text 5"/>
          <p:cNvSpPr txBox="1"/>
          <p:nvPr/>
        </p:nvSpPr>
        <p:spPr>
          <a:xfrm>
            <a:off x="3913632" y="2359152"/>
            <a:ext cx="3749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1. Tocar «+»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2. Elegir «Set de estudio»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3. Escribir el título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4. Confirmar</a:t>
            </a:r>
            <a:endParaRPr lang="en-US" sz="1100" dirty="0"/>
          </a:p>
        </p:txBody>
      </p:sp>
      <p:sp>
        <p:nvSpPr>
          <p:cNvPr id="11" name="Shape 6"/>
          <p:cNvSpPr/>
          <p:nvPr/>
        </p:nvSpPr>
        <p:spPr>
          <a:xfrm>
            <a:off x="3749040" y="3319272"/>
            <a:ext cx="4023360" cy="1563624"/>
          </a:xfrm>
          <a:prstGeom prst="roundRect">
            <a:avLst>
              <a:gd name="adj" fmla="val 7018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3913632" y="3392424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31B2E"/>
                </a:solidFill>
              </a:rPr>
              <a:t>Agregar una pregunta</a:t>
            </a:r>
            <a:pPr indent="0" marL="0">
              <a:buNone/>
            </a:pPr>
            <a:r>
              <a:rPr lang="en-US" sz="1100" b="1" dirty="0">
                <a:solidFill>
                  <a:srgbClr val="1D4ED8"/>
                </a:solidFill>
              </a:rPr>
              <a:t>   6 pasos</a:t>
            </a:r>
            <a:endParaRPr lang="en-US" sz="1300" dirty="0"/>
          </a:p>
        </p:txBody>
      </p:sp>
      <p:sp>
        <p:nvSpPr>
          <p:cNvPr id="13" name="Text 8"/>
          <p:cNvSpPr txBox="1"/>
          <p:nvPr/>
        </p:nvSpPr>
        <p:spPr>
          <a:xfrm>
            <a:off x="3913632" y="3666744"/>
            <a:ext cx="374904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1. Abrir el set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2. Tocar el lápiz (editar)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3. Tocar «+ Agregar tarjeta»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4. Escribir el término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5. Escribir la definición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6. Guardar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3749040" y="5001768"/>
            <a:ext cx="4023360" cy="1188720"/>
          </a:xfrm>
          <a:prstGeom prst="roundRect">
            <a:avLst>
              <a:gd name="adj" fmla="val 9231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3913632" y="507492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31B2E"/>
                </a:solidFill>
              </a:rPr>
              <a:t>Repasar</a:t>
            </a:r>
            <a:pPr indent="0" marL="0">
              <a:buNone/>
            </a:pPr>
            <a:r>
              <a:rPr lang="en-US" sz="1100" b="1" dirty="0">
                <a:solidFill>
                  <a:srgbClr val="1D4ED8"/>
                </a:solidFill>
              </a:rPr>
              <a:t>   4 pasos</a:t>
            </a:r>
            <a:endParaRPr lang="en-US" sz="1300" dirty="0"/>
          </a:p>
        </p:txBody>
      </p:sp>
      <p:sp>
        <p:nvSpPr>
          <p:cNvPr id="16" name="Text 11"/>
          <p:cNvSpPr txBox="1"/>
          <p:nvPr/>
        </p:nvSpPr>
        <p:spPr>
          <a:xfrm>
            <a:off x="3913632" y="5349240"/>
            <a:ext cx="3749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1. Abrir el set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2. Elegir el modo «Aprender»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3. Responder cada tarjeta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4. Ver el resultado</a:t>
            </a:r>
            <a:endParaRPr lang="en-US" sz="11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16916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D4ED8"/>
                </a:solidFill>
              </a:rPr>
              <a:t>VOCABULARIO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10104120" y="1673352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E3FBEF"/>
          </a:solidFill>
          <a:ln w="12700">
            <a:solidFill>
              <a:srgbClr val="E3FBEF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10104120" y="167335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C49"/>
                </a:solidFill>
              </a:rPr>
              <a:t>Óptimo</a:t>
            </a:r>
            <a:endParaRPr lang="en-US" sz="1100" dirty="0"/>
          </a:p>
        </p:txBody>
      </p:sp>
      <p:sp>
        <p:nvSpPr>
          <p:cNvPr id="20" name="Text 15"/>
          <p:cNvSpPr txBox="1"/>
          <p:nvPr/>
        </p:nvSpPr>
        <p:spPr>
          <a:xfrm>
            <a:off x="8001000" y="2020824"/>
            <a:ext cx="36393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068"/>
                </a:solidFill>
              </a:rPr>
              <a:t>Español claro y verbos de acción («Aprender», «Prueba»). Usa «fichas», palabra que el usuario ya conoce.</a:t>
            </a:r>
            <a:endParaRPr lang="en-US" sz="1200" dirty="0"/>
          </a:p>
        </p:txBody>
      </p:sp>
      <p:sp>
        <p:nvSpPr>
          <p:cNvPr id="21" name="Text 16"/>
          <p:cNvSpPr txBox="1"/>
          <p:nvPr/>
        </p:nvSpPr>
        <p:spPr>
          <a:xfrm>
            <a:off x="8001000" y="28986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D4ED8"/>
                </a:solidFill>
              </a:rPr>
              <a:t>DISEÑO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10104120" y="2880360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E3FBEF"/>
          </a:solidFill>
          <a:ln w="12700">
            <a:solidFill>
              <a:srgbClr val="E3FBEF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10104120" y="28803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C49"/>
                </a:solidFill>
              </a:rPr>
              <a:t>Óptimo</a:t>
            </a:r>
            <a:endParaRPr lang="en-US" sz="1100" dirty="0"/>
          </a:p>
        </p:txBody>
      </p:sp>
      <p:sp>
        <p:nvSpPr>
          <p:cNvPr id="24" name="Text 19"/>
          <p:cNvSpPr txBox="1"/>
          <p:nvPr/>
        </p:nvSpPr>
        <p:spPr>
          <a:xfrm>
            <a:off x="8001000" y="3227832"/>
            <a:ext cx="36393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068"/>
                </a:solidFill>
              </a:rPr>
              <a:t>Jerarquía clara, colores con significado (verde acierto, naranja error) y refuerzo positivo.</a:t>
            </a:r>
            <a:endParaRPr lang="en-US" sz="1200" dirty="0"/>
          </a:p>
        </p:txBody>
      </p:sp>
      <p:sp>
        <p:nvSpPr>
          <p:cNvPr id="25" name="Shape 20"/>
          <p:cNvSpPr/>
          <p:nvPr/>
        </p:nvSpPr>
        <p:spPr>
          <a:xfrm>
            <a:off x="8001000" y="4160520"/>
            <a:ext cx="3639312" cy="1005840"/>
          </a:xfrm>
          <a:prstGeom prst="roundRect">
            <a:avLst>
              <a:gd name="adj" fmla="val 10909"/>
            </a:avLst>
          </a:prstGeom>
          <a:solidFill>
            <a:srgbClr val="E3FBEF"/>
          </a:solidFill>
          <a:ln w="12700">
            <a:solidFill>
              <a:srgbClr val="BFEED6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8165592" y="42245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06C49"/>
                </a:solidFill>
              </a:rPr>
              <a:t>FORTALEZAS</a:t>
            </a:r>
            <a:endParaRPr lang="en-US" sz="1000" dirty="0"/>
          </a:p>
        </p:txBody>
      </p:sp>
      <p:sp>
        <p:nvSpPr>
          <p:cNvPr id="27" name="Text 22"/>
          <p:cNvSpPr txBox="1"/>
          <p:nvPr/>
        </p:nvSpPr>
        <p:spPr>
          <a:xfrm>
            <a:off x="8165592" y="4462272"/>
            <a:ext cx="33649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</a:rPr>
              <a:t>Entrada rápida, sin configurar nada</a:t>
            </a:r>
            <a:endParaRPr lang="en-US" sz="11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</a:rPr>
              <a:t>Varios modos de estudio y refuerzo positivo</a:t>
            </a:r>
            <a:endParaRPr lang="en-US" sz="11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</a:rPr>
              <a:t>Muy buena experiencia móvil</a:t>
            </a:r>
            <a:endParaRPr lang="en-US" sz="1100" dirty="0"/>
          </a:p>
        </p:txBody>
      </p:sp>
      <p:sp>
        <p:nvSpPr>
          <p:cNvPr id="28" name="Shape 23"/>
          <p:cNvSpPr/>
          <p:nvPr/>
        </p:nvSpPr>
        <p:spPr>
          <a:xfrm>
            <a:off x="8001000" y="5257800"/>
            <a:ext cx="3639312" cy="1005840"/>
          </a:xfrm>
          <a:prstGeom prst="roundRect">
            <a:avLst>
              <a:gd name="adj" fmla="val 10909"/>
            </a:avLst>
          </a:prstGeom>
          <a:solidFill>
            <a:srgbClr val="FFECEB"/>
          </a:solidFill>
          <a:ln w="12700">
            <a:solidFill>
              <a:srgbClr val="F7C9C5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8165592" y="53218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A1A1A"/>
                </a:solidFill>
              </a:rPr>
              <a:t>DEBILIDADES</a:t>
            </a:r>
            <a:endParaRPr lang="en-US" sz="1000" dirty="0"/>
          </a:p>
        </p:txBody>
      </p:sp>
      <p:sp>
        <p:nvSpPr>
          <p:cNvPr id="30" name="Text 25"/>
          <p:cNvSpPr txBox="1"/>
          <p:nvPr/>
        </p:nvSpPr>
        <p:spPr>
          <a:xfrm>
            <a:off x="8165592" y="5559552"/>
            <a:ext cx="33649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</a:rPr>
              <a:t>Funciones clave detrás del pago</a:t>
            </a:r>
            <a:endParaRPr lang="en-US" sz="11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</a:rPr>
              <a:t>No planifica el cuatrimestre ni conoce el programa</a:t>
            </a:r>
            <a:endParaRPr lang="en-US" sz="11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</a:rPr>
              <a:t>No diagnostica ni enseña método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02 · BENCHMARKING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AnkiDroid: captura, pasos por acción y evaluación</a:t>
            </a:r>
            <a:endParaRPr lang="en-US" sz="3000" dirty="0"/>
          </a:p>
        </p:txBody>
      </p:sp>
      <p:pic>
        <p:nvPicPr>
          <p:cNvPr id="4" name="Image 0" descr="/home/claude/deck/assets/img/anki_s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6720"/>
            <a:ext cx="2514600" cy="4470400"/>
          </a:xfrm>
          <a:prstGeom prst="rect">
            <a:avLst/>
          </a:prstGeom>
        </p:spPr>
      </p:pic>
      <p:pic>
        <p:nvPicPr>
          <p:cNvPr id="5" name="Image 1" descr="/home/claude/deck/assets/img/anki_ic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1672" y="640080"/>
            <a:ext cx="548640" cy="54864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3749040" y="16916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D4ED8"/>
                </a:solidFill>
              </a:rPr>
              <a:t>PASOS POR ACCIÓN</a:t>
            </a:r>
            <a:endParaRPr lang="en-US" sz="1100" dirty="0"/>
          </a:p>
        </p:txBody>
      </p:sp>
      <p:sp>
        <p:nvSpPr>
          <p:cNvPr id="7" name="Shape 3"/>
          <p:cNvSpPr/>
          <p:nvPr/>
        </p:nvSpPr>
        <p:spPr>
          <a:xfrm>
            <a:off x="3749040" y="2011680"/>
            <a:ext cx="4023360" cy="1188720"/>
          </a:xfrm>
          <a:prstGeom prst="roundRect">
            <a:avLst>
              <a:gd name="adj" fmla="val 9231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3913632" y="208483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31B2E"/>
                </a:solidFill>
              </a:rPr>
              <a:t>Crear un mazo</a:t>
            </a:r>
            <a:pPr indent="0" marL="0">
              <a:buNone/>
            </a:pPr>
            <a:r>
              <a:rPr lang="en-US" sz="1100" b="1" dirty="0">
                <a:solidFill>
                  <a:srgbClr val="1D4ED8"/>
                </a:solidFill>
              </a:rPr>
              <a:t>   4 pasos</a:t>
            </a:r>
            <a:endParaRPr 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3913632" y="2359152"/>
            <a:ext cx="3749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1. Tocar «+»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2. Elegir «Crear mazo»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3. Escribir el nombre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4. Aceptar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749040" y="3319272"/>
            <a:ext cx="4023360" cy="1563624"/>
          </a:xfrm>
          <a:prstGeom prst="roundRect">
            <a:avLst>
              <a:gd name="adj" fmla="val 7018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3913632" y="3392424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31B2E"/>
                </a:solidFill>
              </a:rPr>
              <a:t>Agregar una pregunta</a:t>
            </a:r>
            <a:pPr indent="0" marL="0">
              <a:buNone/>
            </a:pPr>
            <a:r>
              <a:rPr lang="en-US" sz="1100" b="1" dirty="0">
                <a:solidFill>
                  <a:srgbClr val="1D4ED8"/>
                </a:solidFill>
              </a:rPr>
              <a:t>   6 pasos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3913632" y="3666744"/>
            <a:ext cx="374904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1. Tocar «+»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2. Elegir «Añadir nota»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3. Elegir tipo y mazo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4. Completar «Anverso»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5. Completar «Reverso»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6. Guardar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3749040" y="5001768"/>
            <a:ext cx="4023360" cy="1188720"/>
          </a:xfrm>
          <a:prstGeom prst="roundRect">
            <a:avLst>
              <a:gd name="adj" fmla="val 9231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913632" y="507492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31B2E"/>
                </a:solidFill>
              </a:rPr>
              <a:t>Repasar</a:t>
            </a:r>
            <a:pPr indent="0" marL="0">
              <a:buNone/>
            </a:pPr>
            <a:r>
              <a:rPr lang="en-US" sz="1100" b="1" dirty="0">
                <a:solidFill>
                  <a:srgbClr val="1D4ED8"/>
                </a:solidFill>
              </a:rPr>
              <a:t>   4 pasos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3913632" y="5349240"/>
            <a:ext cx="3749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1. Tocar el mazo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2. Tocar «Estudiar»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3. Tocar «Mostrar respuesta»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4. Calificar (Otra vez / Difícil / Bien / Fácil)</a:t>
            </a:r>
            <a:endParaRPr lang="en-US" sz="1100" dirty="0"/>
          </a:p>
        </p:txBody>
      </p:sp>
      <p:sp>
        <p:nvSpPr>
          <p:cNvPr id="16" name="Text 12"/>
          <p:cNvSpPr txBox="1"/>
          <p:nvPr/>
        </p:nvSpPr>
        <p:spPr>
          <a:xfrm>
            <a:off x="8001000" y="16916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D4ED8"/>
                </a:solidFill>
              </a:rPr>
              <a:t>VOCABULARIO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10104120" y="1673352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FFF4E8"/>
          </a:solidFill>
          <a:ln w="12700">
            <a:solidFill>
              <a:srgbClr val="FFF4E8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10104120" y="167335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25100"/>
                </a:solidFill>
              </a:rPr>
              <a:t>Error menor</a:t>
            </a:r>
            <a:endParaRPr lang="en-US" sz="1100" dirty="0"/>
          </a:p>
        </p:txBody>
      </p:sp>
      <p:sp>
        <p:nvSpPr>
          <p:cNvPr id="19" name="Text 15"/>
          <p:cNvSpPr txBox="1"/>
          <p:nvPr/>
        </p:nvSpPr>
        <p:spPr>
          <a:xfrm>
            <a:off x="8001000" y="2020824"/>
            <a:ext cx="36393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068"/>
                </a:solidFill>
              </a:rPr>
              <a:t>Jerga técnica («nota», «anverso», «reverso», «tipo de nota») que el ingresante no conoce; se entiende con esfuerzo.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8001000" y="28986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D4ED8"/>
                </a:solidFill>
              </a:rPr>
              <a:t>DISEÑO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10104120" y="2880360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ECEEF5"/>
          </a:solidFill>
          <a:ln w="12700">
            <a:solidFill>
              <a:srgbClr val="ECEEF5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10104120" y="28803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5068"/>
                </a:solidFill>
              </a:rPr>
              <a:t>Básico</a:t>
            </a:r>
            <a:endParaRPr lang="en-US" sz="1100" dirty="0"/>
          </a:p>
        </p:txBody>
      </p:sp>
      <p:sp>
        <p:nvSpPr>
          <p:cNvPr id="23" name="Text 19"/>
          <p:cNvSpPr txBox="1"/>
          <p:nvPr/>
        </p:nvSpPr>
        <p:spPr>
          <a:xfrm>
            <a:off x="8001000" y="3227832"/>
            <a:ext cx="36393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068"/>
                </a:solidFill>
              </a:rPr>
              <a:t>Funcional pero austero: listas de texto, poca jerarquía visual y botones flotantes sin etiqueta.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8001000" y="4160520"/>
            <a:ext cx="3639312" cy="1005840"/>
          </a:xfrm>
          <a:prstGeom prst="roundRect">
            <a:avLst>
              <a:gd name="adj" fmla="val 10909"/>
            </a:avLst>
          </a:prstGeom>
          <a:solidFill>
            <a:srgbClr val="E3FBEF"/>
          </a:solidFill>
          <a:ln w="12700">
            <a:solidFill>
              <a:srgbClr val="BFEED6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8165592" y="42245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06C49"/>
                </a:solidFill>
              </a:rPr>
              <a:t>FORTALEZAS</a:t>
            </a:r>
            <a:endParaRPr lang="en-US" sz="1000" dirty="0"/>
          </a:p>
        </p:txBody>
      </p:sp>
      <p:sp>
        <p:nvSpPr>
          <p:cNvPr id="26" name="Text 22"/>
          <p:cNvSpPr txBox="1"/>
          <p:nvPr/>
        </p:nvSpPr>
        <p:spPr>
          <a:xfrm>
            <a:off x="8165592" y="4462272"/>
            <a:ext cx="33649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</a:rPr>
              <a:t>Repetición espaciada rigurosa y probada</a:t>
            </a:r>
            <a:endParaRPr lang="en-US" sz="11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</a:rPr>
              <a:t>Gratis, sin publicidad</a:t>
            </a:r>
            <a:endParaRPr lang="en-US" sz="11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</a:rPr>
              <a:t>Muy configurable para usuarios avanzados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8001000" y="5257800"/>
            <a:ext cx="3639312" cy="1005840"/>
          </a:xfrm>
          <a:prstGeom prst="roundRect">
            <a:avLst>
              <a:gd name="adj" fmla="val 10909"/>
            </a:avLst>
          </a:prstGeom>
          <a:solidFill>
            <a:srgbClr val="FFECEB"/>
          </a:solidFill>
          <a:ln w="12700">
            <a:solidFill>
              <a:srgbClr val="F7C9C5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8165592" y="53218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A1A1A"/>
                </a:solidFill>
              </a:rPr>
              <a:t>DEBILIDADES</a:t>
            </a:r>
            <a:endParaRPr lang="en-US" sz="1000" dirty="0"/>
          </a:p>
        </p:txBody>
      </p:sp>
      <p:sp>
        <p:nvSpPr>
          <p:cNvPr id="29" name="Text 25"/>
          <p:cNvSpPr txBox="1"/>
          <p:nvPr/>
        </p:nvSpPr>
        <p:spPr>
          <a:xfrm>
            <a:off x="8165592" y="5559552"/>
            <a:ext cx="33649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</a:rPr>
              <a:t>Curva de entrada empinada</a:t>
            </a:r>
            <a:endParaRPr lang="en-US" sz="11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</a:rPr>
              <a:t>Hay que entender la técnica antes de recibir valor</a:t>
            </a:r>
            <a:endParaRPr lang="en-US" sz="11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</a:rPr>
              <a:t>No planifica ni guía al principiante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02 · BENCHMARKING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Vaia: captura, pasos por acción y evaluación</a:t>
            </a:r>
            <a:endParaRPr lang="en-US" sz="3000" dirty="0"/>
          </a:p>
        </p:txBody>
      </p:sp>
      <p:pic>
        <p:nvPicPr>
          <p:cNvPr id="4" name="Image 0" descr="/home/claude/deck/assets/img/studysmarter_s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631440"/>
            <a:ext cx="1463040" cy="2600960"/>
          </a:xfrm>
          <a:prstGeom prst="rect">
            <a:avLst/>
          </a:prstGeom>
        </p:spPr>
      </p:pic>
      <p:pic>
        <p:nvPicPr>
          <p:cNvPr id="5" name="Image 1" descr="/home/claude/deck/assets/img/studysmarter_s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8840" y="2631440"/>
            <a:ext cx="1463040" cy="2600960"/>
          </a:xfrm>
          <a:prstGeom prst="rect">
            <a:avLst/>
          </a:prstGeom>
        </p:spPr>
      </p:pic>
      <p:pic>
        <p:nvPicPr>
          <p:cNvPr id="6" name="Image 2" descr="/home/claude/deck/assets/img/studysmarter_ic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1672" y="640080"/>
            <a:ext cx="548640" cy="54864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3749040" y="16916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D4ED8"/>
                </a:solidFill>
              </a:rPr>
              <a:t>PASOS POR ACCIÓN</a:t>
            </a:r>
            <a:endParaRPr lang="en-US" sz="1100" dirty="0"/>
          </a:p>
        </p:txBody>
      </p:sp>
      <p:sp>
        <p:nvSpPr>
          <p:cNvPr id="8" name="Shape 3"/>
          <p:cNvSpPr/>
          <p:nvPr/>
        </p:nvSpPr>
        <p:spPr>
          <a:xfrm>
            <a:off x="3749040" y="2011680"/>
            <a:ext cx="4023360" cy="1376172"/>
          </a:xfrm>
          <a:prstGeom prst="roundRect">
            <a:avLst>
              <a:gd name="adj" fmla="val 7973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9" name="Text 4"/>
          <p:cNvSpPr txBox="1"/>
          <p:nvPr/>
        </p:nvSpPr>
        <p:spPr>
          <a:xfrm>
            <a:off x="3913632" y="208483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31B2E"/>
                </a:solidFill>
              </a:rPr>
              <a:t>Crear un set</a:t>
            </a:r>
            <a:pPr indent="0" marL="0">
              <a:buNone/>
            </a:pPr>
            <a:r>
              <a:rPr lang="en-US" sz="1100" b="1" dirty="0">
                <a:solidFill>
                  <a:srgbClr val="1D4ED8"/>
                </a:solidFill>
              </a:rPr>
              <a:t>   5 pasos</a:t>
            </a:r>
            <a:endParaRPr lang="en-US" sz="1300" dirty="0"/>
          </a:p>
        </p:txBody>
      </p:sp>
      <p:sp>
        <p:nvSpPr>
          <p:cNvPr id="10" name="Text 5"/>
          <p:cNvSpPr txBox="1"/>
          <p:nvPr/>
        </p:nvSpPr>
        <p:spPr>
          <a:xfrm>
            <a:off x="3913632" y="2359152"/>
            <a:ext cx="3749040" cy="937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1. Entrar a la materia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2. Tocar «Crear»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3. Elegir «Set de flashcards»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4. Escribir el nombre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5. Crear</a:t>
            </a:r>
            <a:endParaRPr lang="en-US" sz="1100" dirty="0"/>
          </a:p>
        </p:txBody>
      </p:sp>
      <p:sp>
        <p:nvSpPr>
          <p:cNvPr id="11" name="Shape 6"/>
          <p:cNvSpPr/>
          <p:nvPr/>
        </p:nvSpPr>
        <p:spPr>
          <a:xfrm>
            <a:off x="3749040" y="3506724"/>
            <a:ext cx="4023360" cy="1376172"/>
          </a:xfrm>
          <a:prstGeom prst="roundRect">
            <a:avLst>
              <a:gd name="adj" fmla="val 7973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3913632" y="3579876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31B2E"/>
                </a:solidFill>
              </a:rPr>
              <a:t>Agregar una pregunta</a:t>
            </a:r>
            <a:pPr indent="0" marL="0">
              <a:buNone/>
            </a:pPr>
            <a:r>
              <a:rPr lang="en-US" sz="1100" b="1" dirty="0">
                <a:solidFill>
                  <a:srgbClr val="1D4ED8"/>
                </a:solidFill>
              </a:rPr>
              <a:t>   5 pasos</a:t>
            </a:r>
            <a:endParaRPr lang="en-US" sz="1300" dirty="0"/>
          </a:p>
        </p:txBody>
      </p:sp>
      <p:sp>
        <p:nvSpPr>
          <p:cNvPr id="13" name="Text 8"/>
          <p:cNvSpPr txBox="1"/>
          <p:nvPr/>
        </p:nvSpPr>
        <p:spPr>
          <a:xfrm>
            <a:off x="3913632" y="3854196"/>
            <a:ext cx="3749040" cy="937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1. Abrir el set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2. Tocar «+ Flashcard»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3. Escribir la pregunta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4. Escribir la respuesta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5. Guardar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3749040" y="5001768"/>
            <a:ext cx="4023360" cy="1188720"/>
          </a:xfrm>
          <a:prstGeom prst="roundRect">
            <a:avLst>
              <a:gd name="adj" fmla="val 9231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3913632" y="507492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31B2E"/>
                </a:solidFill>
              </a:rPr>
              <a:t>Repasar</a:t>
            </a:r>
            <a:pPr indent="0" marL="0">
              <a:buNone/>
            </a:pPr>
            <a:r>
              <a:rPr lang="en-US" sz="1100" b="1" dirty="0">
                <a:solidFill>
                  <a:srgbClr val="1D4ED8"/>
                </a:solidFill>
              </a:rPr>
              <a:t>   4 pasos</a:t>
            </a:r>
            <a:endParaRPr lang="en-US" sz="1300" dirty="0"/>
          </a:p>
        </p:txBody>
      </p:sp>
      <p:sp>
        <p:nvSpPr>
          <p:cNvPr id="16" name="Text 11"/>
          <p:cNvSpPr txBox="1"/>
          <p:nvPr/>
        </p:nvSpPr>
        <p:spPr>
          <a:xfrm>
            <a:off x="3913632" y="5349240"/>
            <a:ext cx="3749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1. Abrir el set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2. Tocar «Estudiar»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3. Mostrar la respuesta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4. Calificar el recuerdo</a:t>
            </a:r>
            <a:endParaRPr lang="en-US" sz="11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16916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D4ED8"/>
                </a:solidFill>
              </a:rPr>
              <a:t>VOCABULARIO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10104120" y="1673352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FFF4E8"/>
          </a:solidFill>
          <a:ln w="12700">
            <a:solidFill>
              <a:srgbClr val="FFF4E8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10104120" y="167335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25100"/>
                </a:solidFill>
              </a:rPr>
              <a:t>Error menor</a:t>
            </a:r>
            <a:endParaRPr lang="en-US" sz="1100" dirty="0"/>
          </a:p>
        </p:txBody>
      </p:sp>
      <p:sp>
        <p:nvSpPr>
          <p:cNvPr id="20" name="Text 15"/>
          <p:cNvSpPr txBox="1"/>
          <p:nvPr/>
        </p:nvSpPr>
        <p:spPr>
          <a:xfrm>
            <a:off x="8001000" y="2020824"/>
            <a:ext cx="36393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068"/>
                </a:solidFill>
              </a:rPr>
              <a:t>Mezcla de español e inglés en partes de la interfaz y del contenido («Flashcards», «Keep trying»).</a:t>
            </a:r>
            <a:endParaRPr lang="en-US" sz="1200" dirty="0"/>
          </a:p>
        </p:txBody>
      </p:sp>
      <p:sp>
        <p:nvSpPr>
          <p:cNvPr id="21" name="Text 16"/>
          <p:cNvSpPr txBox="1"/>
          <p:nvPr/>
        </p:nvSpPr>
        <p:spPr>
          <a:xfrm>
            <a:off x="8001000" y="28986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D4ED8"/>
                </a:solidFill>
              </a:rPr>
              <a:t>DISEÑO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10104120" y="2880360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E3FBEF"/>
          </a:solidFill>
          <a:ln w="12700">
            <a:solidFill>
              <a:srgbClr val="E3FBEF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10104120" y="28803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C49"/>
                </a:solidFill>
              </a:rPr>
              <a:t>Óptimo</a:t>
            </a:r>
            <a:endParaRPr lang="en-US" sz="1100" dirty="0"/>
          </a:p>
        </p:txBody>
      </p:sp>
      <p:sp>
        <p:nvSpPr>
          <p:cNvPr id="24" name="Text 19"/>
          <p:cNvSpPr txBox="1"/>
          <p:nvPr/>
        </p:nvSpPr>
        <p:spPr>
          <a:xfrm>
            <a:off x="8001000" y="3227832"/>
            <a:ext cx="36393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068"/>
                </a:solidFill>
              </a:rPr>
              <a:t>Estética moderna y consistente, buen uso del color y del espacio en blanco.</a:t>
            </a:r>
            <a:endParaRPr lang="en-US" sz="1200" dirty="0"/>
          </a:p>
        </p:txBody>
      </p:sp>
      <p:sp>
        <p:nvSpPr>
          <p:cNvPr id="25" name="Shape 20"/>
          <p:cNvSpPr/>
          <p:nvPr/>
        </p:nvSpPr>
        <p:spPr>
          <a:xfrm>
            <a:off x="8001000" y="4160520"/>
            <a:ext cx="3639312" cy="1005840"/>
          </a:xfrm>
          <a:prstGeom prst="roundRect">
            <a:avLst>
              <a:gd name="adj" fmla="val 10909"/>
            </a:avLst>
          </a:prstGeom>
          <a:solidFill>
            <a:srgbClr val="E3FBEF"/>
          </a:solidFill>
          <a:ln w="12700">
            <a:solidFill>
              <a:srgbClr val="BFEED6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8165592" y="42245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06C49"/>
                </a:solidFill>
              </a:rPr>
              <a:t>FORTALEZAS</a:t>
            </a:r>
            <a:endParaRPr lang="en-US" sz="1000" dirty="0"/>
          </a:p>
        </p:txBody>
      </p:sp>
      <p:sp>
        <p:nvSpPr>
          <p:cNvPr id="27" name="Text 22"/>
          <p:cNvSpPr txBox="1"/>
          <p:nvPr/>
        </p:nvSpPr>
        <p:spPr>
          <a:xfrm>
            <a:off x="8165592" y="4462272"/>
            <a:ext cx="33649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</a:rPr>
              <a:t>Une apuntes, tarjetas y plan en una sola app</a:t>
            </a:r>
            <a:endParaRPr lang="en-US" sz="11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</a:rPr>
              <a:t>Genera tarjetas con IA</a:t>
            </a:r>
            <a:endParaRPr lang="en-US" sz="11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</a:rPr>
              <a:t>Diseño cuidado</a:t>
            </a:r>
            <a:endParaRPr lang="en-US" sz="1100" dirty="0"/>
          </a:p>
        </p:txBody>
      </p:sp>
      <p:sp>
        <p:nvSpPr>
          <p:cNvPr id="28" name="Shape 23"/>
          <p:cNvSpPr/>
          <p:nvPr/>
        </p:nvSpPr>
        <p:spPr>
          <a:xfrm>
            <a:off x="8001000" y="5257800"/>
            <a:ext cx="3639312" cy="1005840"/>
          </a:xfrm>
          <a:prstGeom prst="roundRect">
            <a:avLst>
              <a:gd name="adj" fmla="val 10909"/>
            </a:avLst>
          </a:prstGeom>
          <a:solidFill>
            <a:srgbClr val="FFECEB"/>
          </a:solidFill>
          <a:ln w="12700">
            <a:solidFill>
              <a:srgbClr val="F7C9C5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8165592" y="53218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A1A1A"/>
                </a:solidFill>
              </a:rPr>
              <a:t>DEBILIDADES</a:t>
            </a:r>
            <a:endParaRPr lang="en-US" sz="1000" dirty="0"/>
          </a:p>
        </p:txBody>
      </p:sp>
      <p:sp>
        <p:nvSpPr>
          <p:cNvPr id="30" name="Text 25"/>
          <p:cNvSpPr txBox="1"/>
          <p:nvPr/>
        </p:nvSpPr>
        <p:spPr>
          <a:xfrm>
            <a:off x="8165592" y="5559552"/>
            <a:ext cx="33649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</a:rPr>
              <a:t>Contenido pensado para Europa</a:t>
            </a:r>
            <a:endParaRPr lang="en-US" sz="11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</a:rPr>
              <a:t>Muchas funciones: complejidad para el principiante</a:t>
            </a:r>
            <a:endParaRPr lang="en-US" sz="11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</a:rPr>
              <a:t>El plan depende de lo que carga el usuario; no diagnostica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02 · BENCHMARKING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Comparativa: las tres resuelven el repaso, ninguna el método</a:t>
            </a:r>
            <a:endParaRPr lang="en-US" sz="3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737360"/>
                <a:gridCol w="1737360"/>
                <a:gridCol w="1737360"/>
                <a:gridCol w="258775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31B2E"/>
                          </a:solidFill>
                        </a:rPr>
                        <a:t>Criterio</a:t>
                      </a:r>
                      <a:endParaRPr lang="en-US" sz="12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31B2E"/>
                          </a:solidFill>
                        </a:rPr>
                        <a:t>Quizlet</a:t>
                      </a:r>
                      <a:endParaRPr lang="en-US" sz="12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31B2E"/>
                          </a:solidFill>
                        </a:rPr>
                        <a:t>AnkiDroid</a:t>
                      </a:r>
                      <a:endParaRPr lang="en-US" sz="12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31B2E"/>
                          </a:solidFill>
                        </a:rPr>
                        <a:t>Vaia</a:t>
                      </a:r>
                      <a:endParaRPr lang="en-US" sz="12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31B2E"/>
                          </a:solidFill>
                        </a:rPr>
                        <a:t>Asesor de Estudio (objetivo)</a:t>
                      </a:r>
                      <a:endParaRPr lang="en-US" sz="12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Pasos: crear set / agregar pregunta / repasar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4 / 6 / 4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4 / 6 / 4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5 / 5 / 4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Las preguntas se escriben al cerrar la sesión: 0 pasos extra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Vocabulario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6C49"/>
                          </a:solidFill>
                        </a:rPr>
                        <a:t>Óptimo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25100"/>
                          </a:solidFill>
                        </a:rPr>
                        <a:t>Error menor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25100"/>
                          </a:solidFill>
                        </a:rPr>
                        <a:t>Error menor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6C49"/>
                          </a:solidFill>
                        </a:rPr>
                        <a:t>Óptimo, español rioplatense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Diseño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6C49"/>
                          </a:solidFill>
                        </a:rPr>
                        <a:t>Óptimo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25100"/>
                          </a:solidFill>
                        </a:rPr>
                        <a:t>Básico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6C49"/>
                          </a:solidFill>
                        </a:rPr>
                        <a:t>Óptimo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6C49"/>
                          </a:solidFill>
                        </a:rPr>
                        <a:t>Material 3 para Android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Diagnostica cómo estudia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A1A1A"/>
                          </a:solidFill>
                        </a:rPr>
                        <a:t>No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A1A1A"/>
                          </a:solidFill>
                        </a:rPr>
                        <a:t>No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A1A1A"/>
                          </a:solidFill>
                        </a:rPr>
                        <a:t>No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6C49"/>
                          </a:solidFill>
                        </a:rPr>
                        <a:t>Sí, en 6 pasos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Propone la técnica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25100"/>
                          </a:solidFill>
                        </a:rPr>
                        <a:t>Parcial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25100"/>
                          </a:solidFill>
                        </a:rPr>
                        <a:t>Parcial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25100"/>
                          </a:solidFill>
                        </a:rPr>
                        <a:t>Parcial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6C49"/>
                          </a:solidFill>
                        </a:rPr>
                        <a:t>Sí, una por sesión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Planifica el cuatrimestre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A1A1A"/>
                          </a:solidFill>
                        </a:rPr>
                        <a:t>No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A1A1A"/>
                          </a:solidFill>
                        </a:rPr>
                        <a:t>No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25100"/>
                          </a:solidFill>
                        </a:rPr>
                        <a:t>Parcial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6C49"/>
                          </a:solidFill>
                        </a:rPr>
                        <a:t>Sí, hasta el parcial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Distingue leído de dominado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A1A1A"/>
                          </a:solidFill>
                        </a:rPr>
                        <a:t>No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A1A1A"/>
                          </a:solidFill>
                        </a:rPr>
                        <a:t>No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A1A1A"/>
                          </a:solidFill>
                        </a:rPr>
                        <a:t>No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6C49"/>
                          </a:solidFill>
                        </a:rPr>
                        <a:t>Sí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Precio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Freemium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Gratis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Freemium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Gratis (MVP)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9436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189"/>
                </a:solidFill>
              </a:rPr>
              <a:t>Escalas. Vocabulario: óptimo / error menor / error mayor. Diseño: óptimo / básico / malo. Pasos contados desde la pantalla principal, en la versión de Google Play de septiembre de 2026.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02 · INFORME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Informe de benchmarking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520440" cy="2057400"/>
          </a:xfrm>
          <a:prstGeom prst="roundRect">
            <a:avLst>
              <a:gd name="adj" fmla="val 5333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98424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31B2E"/>
                </a:solidFill>
              </a:rPr>
              <a:t>¿Quién es mi competencia?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423160"/>
            <a:ext cx="3108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068"/>
                </a:solidFill>
              </a:rPr>
              <a:t>Quizlet, AnkiDroid y Vaia: apps de estudio con tarjetas y autoevaluación. De forma indirecta, las notas del celular, WhatsApp y Google Calendar.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297680" y="1783080"/>
            <a:ext cx="3520440" cy="2057400"/>
          </a:xfrm>
          <a:prstGeom prst="roundRect">
            <a:avLst>
              <a:gd name="adj" fmla="val 5333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26280" y="198424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31B2E"/>
                </a:solidFill>
              </a:rPr>
              <a:t>¿Quiénes son sus usuarios?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526280" y="2423160"/>
            <a:ext cx="3108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068"/>
                </a:solidFill>
              </a:rPr>
              <a:t>Estudiantes que ya saben qué estudiar y buscan memorizar: idiomas, medicina, secundario. Anki, además, usuarios avanzados.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046720" y="1783080"/>
            <a:ext cx="3520440" cy="2057400"/>
          </a:xfrm>
          <a:prstGeom prst="roundRect">
            <a:avLst>
              <a:gd name="adj" fmla="val 5333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5320" y="198424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31B2E"/>
                </a:solidFill>
              </a:rPr>
              <a:t>¿Cómo les hablan?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275320" y="2423160"/>
            <a:ext cx="3108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068"/>
                </a:solidFill>
              </a:rPr>
              <a:t>Quizlet, cercano y motivador; Anki, técnico; Vaia, aspiracional («Aprobá todos los exámenes») y con partes en inglés.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4023360"/>
            <a:ext cx="3520440" cy="2057400"/>
          </a:xfrm>
          <a:prstGeom prst="roundRect">
            <a:avLst>
              <a:gd name="adj" fmla="val 5333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422452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31B2E"/>
                </a:solidFill>
              </a:rPr>
              <a:t>¿En qué se diferencian?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4663440"/>
            <a:ext cx="3108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068"/>
                </a:solidFill>
              </a:rPr>
              <a:t>Quizlet en la facilidad, Anki en el algoritmo y Vaia en reunir apuntes, IA y plan.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297680" y="4023360"/>
            <a:ext cx="3520440" cy="2057400"/>
          </a:xfrm>
          <a:prstGeom prst="roundRect">
            <a:avLst>
              <a:gd name="adj" fmla="val 5333"/>
            </a:avLst>
          </a:prstGeom>
          <a:solidFill>
            <a:srgbClr val="EEF1FF"/>
          </a:solidFill>
          <a:ln w="12700">
            <a:solidFill>
              <a:srgbClr val="D3DB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26280" y="422452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37B0"/>
                </a:solidFill>
              </a:rPr>
              <a:t>¿Qué puedo ofrecer que no tengan?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526280" y="4663440"/>
            <a:ext cx="3108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068"/>
                </a:solidFill>
              </a:rPr>
              <a:t>Diagnóstico del método, una técnica asignada a cada sesión, un plan hasta el parcial y la diferencia entre leído y dominado.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046720" y="4023360"/>
            <a:ext cx="3520440" cy="2057400"/>
          </a:xfrm>
          <a:prstGeom prst="roundRect">
            <a:avLst>
              <a:gd name="adj" fmla="val 5333"/>
            </a:avLst>
          </a:prstGeom>
          <a:solidFill>
            <a:srgbClr val="EEF1FF"/>
          </a:solidFill>
          <a:ln w="12700">
            <a:solidFill>
              <a:srgbClr val="D3DB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75320" y="422452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37B0"/>
                </a:solidFill>
              </a:rPr>
              <a:t>¿Cómo superar su propuesta?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8275320" y="4663440"/>
            <a:ext cx="3108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068"/>
                </a:solidFill>
              </a:rPr>
              <a:t>Tomar su motor de repaso y esconderlo detrás de una experiencia guiada en español, sin configurar nada y gratis.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685800" y="868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A9BBFF"/>
                </a:solidFill>
              </a:rPr>
              <a:t>ETAPA 3 DE 13</a:t>
            </a:r>
            <a:endParaRPr lang="en-US" sz="13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685800" y="1280160"/>
            <a:ext cx="5577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Mapa de empatía</a:t>
            </a:r>
            <a:endParaRPr lang="en-US" sz="4000" dirty="0"/>
          </a:p>
        </p:txBody>
      </p:sp>
      <p:sp>
        <p:nvSpPr>
          <p:cNvPr id="4" name="Text 2"/>
          <p:cNvSpPr/>
          <p:nvPr>
            <p:ph idx="104" type="body" hasCustomPrompt="1"/>
          </p:nvPr>
        </p:nvSpPr>
        <p:spPr>
          <a:xfrm>
            <a:off x="566928" y="3977640"/>
            <a:ext cx="54864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b="1" dirty="0">
                <a:solidFill>
                  <a:srgbClr val="FFFFFF"/>
                </a:solidFill>
              </a:rPr>
              <a:t>03</a:t>
            </a:r>
            <a:endParaRPr lang="en-US" sz="15000" dirty="0"/>
          </a:p>
        </p:txBody>
      </p:sp>
      <p:sp>
        <p:nvSpPr>
          <p:cNvPr id="5" name="Text 2"/>
          <p:cNvSpPr/>
          <p:nvPr>
            <p:ph idx="105" type="body" hasCustomPrompt="1"/>
          </p:nvPr>
        </p:nvSpPr>
        <p:spPr>
          <a:xfrm>
            <a:off x="7178040" y="1463040"/>
            <a:ext cx="452628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EEF1FF"/>
                </a:solidFill>
              </a:rPr>
              <a:t>✓  ¿Quién es la proto persona?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EEF1FF"/>
                </a:solidFill>
              </a:rPr>
              <a:t>✓  ¿Cuál es su situación y qué papel tiene?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EEF1FF"/>
                </a:solidFill>
              </a:rPr>
              <a:t>✓  ¿Por qué él y qué condiciones lo hacen usuario?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EEF1FF"/>
                </a:solidFill>
              </a:rPr>
              <a:t>✓  Mapa: piensa y siente, dice y hace, qué lo frustra, qué lo motiva, con la foto al centro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9BBF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03 · MAPA DE EMPATÍA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La proto persona: Tomás Aguirre, 19 años</a:t>
            </a:r>
            <a:endParaRPr lang="en-US" sz="3000" dirty="0"/>
          </a:p>
        </p:txBody>
      </p:sp>
      <p:pic>
        <p:nvPicPr>
          <p:cNvPr id="4" name="Image 0" descr="/home/claude/deck/assets/img/toma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81667"/>
            <a:ext cx="3291840" cy="379194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114800" y="1737360"/>
            <a:ext cx="7525512" cy="804672"/>
          </a:xfrm>
          <a:prstGeom prst="roundRect">
            <a:avLst>
              <a:gd name="adj" fmla="val 13636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343400" y="1737360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37B0"/>
                </a:solidFill>
              </a:rPr>
              <a:t>¿Quién es?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766560" y="1737360"/>
            <a:ext cx="47091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068"/>
                </a:solidFill>
              </a:rPr>
              <a:t>Tomás Aguirre, 19 años, de Maipú. Cursa primer año de Ingeniería en Sistemas de Información en la UTN FRM.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114800" y="2642616"/>
            <a:ext cx="7525512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343400" y="2642616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37B0"/>
                </a:solidFill>
              </a:rPr>
              <a:t>¿Cuál es su situación?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6766560" y="2642616"/>
            <a:ext cx="47091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068"/>
                </a:solidFill>
              </a:rPr>
              <a:t>Primer cuatrimestre. Hace una semana desaprobó el primer parcial de Análisis Matemático I después de estudiar tres días seguidos.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114800" y="3547872"/>
            <a:ext cx="7525512" cy="804672"/>
          </a:xfrm>
          <a:prstGeom prst="roundRect">
            <a:avLst>
              <a:gd name="adj" fmla="val 13636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343400" y="3547872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37B0"/>
                </a:solidFill>
              </a:rPr>
              <a:t>¿Qué papel tiene?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766560" y="3547872"/>
            <a:ext cx="47091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068"/>
                </a:solidFill>
              </a:rPr>
              <a:t>Usuario principal: es quien descarga la app, la configura y la usa todos los días para estudiar.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4114800" y="4453128"/>
            <a:ext cx="7525512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343400" y="4453128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37B0"/>
                </a:solidFill>
              </a:rPr>
              <a:t>¿Por qué él?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6766560" y="4453128"/>
            <a:ext cx="47091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068"/>
                </a:solidFill>
              </a:rPr>
              <a:t>Concentra el problema central: primer año, ningún método propio y técnicas pasivas heredadas de la secundaria.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4114800" y="5358384"/>
            <a:ext cx="7525512" cy="804672"/>
          </a:xfrm>
          <a:prstGeom prst="roundRect">
            <a:avLst>
              <a:gd name="adj" fmla="val 13636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343400" y="5358384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37B0"/>
                </a:solidFill>
              </a:rPr>
              <a:t>¿Qué condiciones lo hacen usuario?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6766560" y="5358384"/>
            <a:ext cx="47091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068"/>
                </a:solidFill>
              </a:rPr>
              <a:t>Cursa materias con parciales, tiene un Android, nunca le enseñaron a estudiar y dispone de 1 a 3 horas por día.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03 · MAPA DE EMPATÍA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Mapa de empatía de Tomás, una semana después del parcial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449824" cy="2212848"/>
          </a:xfrm>
          <a:prstGeom prst="roundRect">
            <a:avLst>
              <a:gd name="adj" fmla="val 4959"/>
            </a:avLst>
          </a:prstGeom>
          <a:solidFill>
            <a:srgbClr val="EEF1FF"/>
          </a:solidFill>
          <a:ln w="12700">
            <a:solidFill>
              <a:srgbClr val="D3DB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037B0"/>
                </a:solidFill>
              </a:rPr>
              <a:t>PIENSA Y SIENTE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240280"/>
            <a:ext cx="37490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4A5068"/>
                </a:solidFill>
              </a:rPr>
              <a:t>«Estudié un montón y me fue mal igual.»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4A5068"/>
                </a:solidFill>
              </a:rPr>
              <a:t>«Capaz que esta carrera no es para mí.»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4A5068"/>
                </a:solidFill>
              </a:rPr>
              <a:t>Vergüenza de preguntar cómo estudian los demás.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4A5068"/>
                </a:solidFill>
              </a:rPr>
              <a:t>Ansiedad por el volumen del programa.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190488" y="1691640"/>
            <a:ext cx="5449824" cy="2212848"/>
          </a:xfrm>
          <a:prstGeom prst="roundRect">
            <a:avLst>
              <a:gd name="adj" fmla="val 4959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607808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31B2E"/>
                </a:solidFill>
              </a:rPr>
              <a:t>DICE Y HACE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607808" y="2240280"/>
            <a:ext cx="37490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4A5068"/>
                </a:solidFill>
              </a:rPr>
              <a:t>Dice «esta vez arranco antes».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4A5068"/>
                </a:solidFill>
              </a:rPr>
              <a:t>Relee la carpeta y subraya con tres colores.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4A5068"/>
                </a:solidFill>
              </a:rPr>
              <a:t>Estudia muchas horas seguidas sin ponerse a prueba.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4A5068"/>
                </a:solidFill>
              </a:rPr>
              <a:t>Descarga apps de estudio y las abandona.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4023360"/>
            <a:ext cx="5449824" cy="2212848"/>
          </a:xfrm>
          <a:prstGeom prst="roundRect">
            <a:avLst>
              <a:gd name="adj" fmla="val 4959"/>
            </a:avLst>
          </a:prstGeom>
          <a:solidFill>
            <a:srgbClr val="FFECEB"/>
          </a:solidFill>
          <a:ln w="12700">
            <a:solidFill>
              <a:srgbClr val="F7C9C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4206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A1A1A"/>
                </a:solidFill>
              </a:rPr>
              <a:t>QUÉ LO FRUSTRA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4572000"/>
            <a:ext cx="37490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4A5068"/>
                </a:solidFill>
              </a:rPr>
              <a:t>Rendir mal después de estudiar tres días.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4A5068"/>
                </a:solidFill>
              </a:rPr>
              <a:t>No saber si el problema es él o su método.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4A5068"/>
                </a:solidFill>
              </a:rPr>
              <a:t>Consejos de YouTube que no sabe aplicar a su materia.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4A5068"/>
                </a:solidFill>
              </a:rPr>
              <a:t>Las fechas dispersas en WhatsApp y la galería.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190488" y="4023360"/>
            <a:ext cx="5449824" cy="2212848"/>
          </a:xfrm>
          <a:prstGeom prst="roundRect">
            <a:avLst>
              <a:gd name="adj" fmla="val 4959"/>
            </a:avLst>
          </a:prstGeom>
          <a:solidFill>
            <a:srgbClr val="E3FBEF"/>
          </a:solidFill>
          <a:ln w="12700">
            <a:solidFill>
              <a:srgbClr val="BFEED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607808" y="4206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06C49"/>
                </a:solidFill>
              </a:rPr>
              <a:t>QUÉ LO MOTIVA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607808" y="4572000"/>
            <a:ext cx="37490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4A5068"/>
                </a:solidFill>
              </a:rPr>
              <a:t>Aprobar el primer año completo.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4A5068"/>
                </a:solidFill>
              </a:rPr>
              <a:t>Confirmar que eligió bien la carrera.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4A5068"/>
                </a:solidFill>
              </a:rPr>
              <a:t>No decepcionar a su familia.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4A5068"/>
                </a:solidFill>
              </a:rPr>
              <a:t>Trabajar algún día como desarrollador.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727448" y="2578608"/>
            <a:ext cx="2743200" cy="2743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7" name="Image 0" descr="/home/claude/deck/assets/img/toma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864608" y="2715768"/>
            <a:ext cx="2468880" cy="2468880"/>
          </a:xfrm>
          <a:prstGeom prst="ellipse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685800" y="868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A9BBFF"/>
                </a:solidFill>
              </a:rPr>
              <a:t>ETAPA 4 DE 13</a:t>
            </a:r>
            <a:endParaRPr lang="en-US" sz="13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685800" y="1280160"/>
            <a:ext cx="5577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User persona</a:t>
            </a:r>
            <a:endParaRPr lang="en-US" sz="4000" dirty="0"/>
          </a:p>
        </p:txBody>
      </p:sp>
      <p:sp>
        <p:nvSpPr>
          <p:cNvPr id="4" name="Text 2"/>
          <p:cNvSpPr/>
          <p:nvPr>
            <p:ph idx="104" type="body" hasCustomPrompt="1"/>
          </p:nvPr>
        </p:nvSpPr>
        <p:spPr>
          <a:xfrm>
            <a:off x="566928" y="3977640"/>
            <a:ext cx="54864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b="1" dirty="0">
                <a:solidFill>
                  <a:srgbClr val="FFFFFF"/>
                </a:solidFill>
              </a:rPr>
              <a:t>04</a:t>
            </a:r>
            <a:endParaRPr lang="en-US" sz="15000" dirty="0"/>
          </a:p>
        </p:txBody>
      </p:sp>
      <p:sp>
        <p:nvSpPr>
          <p:cNvPr id="5" name="Text 2"/>
          <p:cNvSpPr/>
          <p:nvPr>
            <p:ph idx="105" type="body" hasCustomPrompt="1"/>
          </p:nvPr>
        </p:nvSpPr>
        <p:spPr>
          <a:xfrm>
            <a:off x="7178040" y="1463040"/>
            <a:ext cx="452628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EEF1FF"/>
                </a:solidFill>
              </a:rPr>
              <a:t>✓  De proto personas a user personas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EEF1FF"/>
                </a:solidFill>
              </a:rPr>
              <a:t>✓  Ficha con foto y datos personales y demográficos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EEF1FF"/>
                </a:solidFill>
              </a:rPr>
              <a:t>✓  Biografía, intereses y hábitos de consumo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EEF1FF"/>
                </a:solidFill>
              </a:rPr>
              <a:t>✓  Objetivos, sueños y metas; relación con la tecnología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EEF1FF"/>
                </a:solidFill>
              </a:rPr>
              <a:t>✓  Frustraciones, motivaciones, frase y justificación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9BBF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04 · USER PERSONA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De proto personas a user personas: qué cambió con los datos</a:t>
            </a:r>
            <a:endParaRPr lang="en-US" sz="30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91672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4023360"/>
                <a:gridCol w="3685032"/>
              </a:tblGrid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31B2E"/>
                          </a:solidFill>
                        </a:rPr>
                        <a:t>Supuesto de la proto persona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31B2E"/>
                          </a:solidFill>
                        </a:rPr>
                        <a:t>Qué encontramos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31B2E"/>
                          </a:solidFill>
                        </a:rPr>
                        <a:t>Cómo quedó la user persona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068"/>
                          </a:solidFill>
                        </a:rPr>
                        <a:t>Tomás estudia mal porque no tiene tiempo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068"/>
                          </a:solidFill>
                        </a:rPr>
                        <a:t>Tiempo tiene; le falta criterio. 4 de 6 no conocían otra técnica que releer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068"/>
                          </a:solidFill>
                        </a:rPr>
                        <a:t>El foco pasa a ser el método, no la agenda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068"/>
                          </a:solidFill>
                        </a:rPr>
                        <a:t>Una app con muchas opciones le serviría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068"/>
                          </a:solidFill>
                        </a:rPr>
                        <a:t>56 % no dedicaría más de 5 minutos a configurar una app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068"/>
                          </a:solidFill>
                        </a:rPr>
                        <a:t>Diagnóstico de 6 pasos y un plan armado por la app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068"/>
                          </a:solidFill>
                        </a:rPr>
                        <a:t>Camila estudiaría desde la computadora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068"/>
                          </a:solidFill>
                        </a:rPr>
                        <a:t>Usa casi solo el celular, en el colectivo y a la noche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068"/>
                          </a:solidFill>
                        </a:rPr>
                        <a:t>Mobile first y sesiones de 25 a 45 minutos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068"/>
                          </a:solidFill>
                        </a:rPr>
                        <a:t>Ambos sabrían que se aprende poniéndose a prueba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068"/>
                          </a:solidFill>
                        </a:rPr>
                        <a:t>82 % no conoce la recuperación activa ni el repaso espaciado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068"/>
                          </a:solidFill>
                        </a:rPr>
                        <a:t>La app explica cada técnica dentro de la sesión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068"/>
                          </a:solidFill>
                        </a:rPr>
                        <a:t>Al que le va mal piensa que le faltó estudiar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068"/>
                          </a:solidFill>
                        </a:rPr>
                        <a:t>7 respuestas abiertas hablan de dudar de la propia capacidad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068"/>
                          </a:solidFill>
                        </a:rPr>
                        <a:t>Se agrega el miedo a «no servir para la carrera»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04 · USER PERSONA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User persona principal: Tomás Aguirre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48640" y="1691640"/>
            <a:ext cx="3017520" cy="4526280"/>
          </a:xfrm>
          <a:prstGeom prst="roundRect">
            <a:avLst>
              <a:gd name="adj" fmla="val 3636"/>
            </a:avLst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pic>
        <p:nvPicPr>
          <p:cNvPr id="6" name="Image 0" descr="/home/claude/deck/assets/img/toma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77240" y="1874520"/>
            <a:ext cx="2560320" cy="20574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77240" y="400507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Tomás Aguirre</a:t>
            </a:r>
            <a:endParaRPr lang="en-US" sz="1800" dirty="0"/>
          </a:p>
        </p:txBody>
      </p:sp>
      <p:sp>
        <p:nvSpPr>
          <p:cNvPr id="8" name="Text 4"/>
          <p:cNvSpPr txBox="1"/>
          <p:nvPr/>
        </p:nvSpPr>
        <p:spPr>
          <a:xfrm>
            <a:off x="777240" y="4389120"/>
            <a:ext cx="2606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DCE1FF"/>
                </a:solidFill>
              </a:rPr>
              <a:t>19 años · soltero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DCE1FF"/>
                </a:solidFill>
              </a:rPr>
              <a:t>Vive con sus padres en Maipú, Mendoza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DCE1FF"/>
                </a:solidFill>
              </a:rPr>
              <a:t>1.º año de Ing. en Sistemas de Información, UTN FRM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DCE1FF"/>
                </a:solidFill>
              </a:rPr>
              <a:t>Secundario técnico completo (2025)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DCE1FF"/>
                </a:solidFill>
              </a:rPr>
              <a:t>Nivel socioeconómico medio · no trabaja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3749040" y="1691640"/>
            <a:ext cx="3977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D4ED8"/>
                </a:solidFill>
              </a:rPr>
              <a:t>BIOGRAFÍA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3749040" y="1938528"/>
            <a:ext cx="3977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A5068"/>
                </a:solidFill>
              </a:rPr>
              <a:t>Fue buen alumno en una secundaria técnica sin estudiar demasiado. En la facultad repite lo de siempre: relee la carpeta y subraya. Estudió tres días seguidos para el primer parcial de Análisis Matemático I y desaprobó. Desde entonces duda de si eligió bien.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3749040" y="312724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D4ED8"/>
                </a:solidFill>
              </a:rPr>
              <a:t>INTERESES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3749040" y="3383280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</a:rPr>
              <a:t>Videojuegos</a:t>
            </a:r>
            <a:endParaRPr lang="en-US" sz="1100" dirty="0"/>
          </a:p>
          <a:p>
            <a:pPr marL="127000" indent="-127000"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</a:rPr>
              <a:t>Fútbol 5</a:t>
            </a:r>
            <a:endParaRPr lang="en-US" sz="1100" dirty="0"/>
          </a:p>
          <a:p>
            <a:pPr marL="127000" indent="-127000"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</a:rPr>
              <a:t>Programación</a:t>
            </a:r>
            <a:endParaRPr lang="en-US" sz="1100" dirty="0"/>
          </a:p>
          <a:p>
            <a:pPr marL="127000" indent="-127000"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</a:rPr>
              <a:t>Series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5760720" y="3127248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D4ED8"/>
                </a:solidFill>
              </a:rPr>
              <a:t>HÁBITOS DE CONSUMO</a:t>
            </a:r>
            <a:endParaRPr lang="en-US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5760720" y="3383280"/>
            <a:ext cx="1965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</a:rPr>
              <a:t>Android de gama media</a:t>
            </a:r>
            <a:endParaRPr lang="en-US" sz="1100" dirty="0"/>
          </a:p>
          <a:p>
            <a:pPr marL="127000" indent="-127000"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</a:rPr>
              <a:t>Mercado Libre</a:t>
            </a:r>
            <a:endParaRPr lang="en-US" sz="1100" dirty="0"/>
          </a:p>
          <a:p>
            <a:pPr marL="127000" indent="-127000"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</a:rPr>
              <a:t>Spotify gratis, YouTube</a:t>
            </a:r>
            <a:endParaRPr lang="en-US" sz="1100" dirty="0"/>
          </a:p>
          <a:p>
            <a:pPr marL="127000" indent="-127000"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</a:rPr>
              <a:t>Instagram, TikTok, WhatsApp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3749040" y="4480560"/>
            <a:ext cx="3977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D4ED8"/>
                </a:solidFill>
              </a:rPr>
              <a:t>RELACIÓN CON LA TECNOLOGÍA</a:t>
            </a:r>
            <a:endParaRPr lang="en-US" sz="1000" dirty="0"/>
          </a:p>
        </p:txBody>
      </p:sp>
      <p:sp>
        <p:nvSpPr>
          <p:cNvPr id="16" name="Text 12"/>
          <p:cNvSpPr txBox="1"/>
          <p:nvPr/>
        </p:nvSpPr>
        <p:spPr>
          <a:xfrm>
            <a:off x="3749040" y="4754880"/>
            <a:ext cx="1600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Celular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5394960" y="4800600"/>
            <a:ext cx="2286000" cy="128016"/>
          </a:xfrm>
          <a:prstGeom prst="roundRect">
            <a:avLst>
              <a:gd name="adj" fmla="val 50000"/>
            </a:avLst>
          </a:prstGeom>
          <a:solidFill>
            <a:srgbClr val="E6E8F0"/>
          </a:solidFill>
          <a:ln w="12700">
            <a:solidFill>
              <a:srgbClr val="E6E8F0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5394960" y="4800600"/>
            <a:ext cx="2057400" cy="128016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3749040" y="5047488"/>
            <a:ext cx="1600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Redes sociales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5394960" y="5093208"/>
            <a:ext cx="2286000" cy="128016"/>
          </a:xfrm>
          <a:prstGeom prst="roundRect">
            <a:avLst>
              <a:gd name="adj" fmla="val 50000"/>
            </a:avLst>
          </a:prstGeom>
          <a:solidFill>
            <a:srgbClr val="E6E8F0"/>
          </a:solidFill>
          <a:ln w="12700">
            <a:solidFill>
              <a:srgbClr val="E6E8F0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5394960" y="5093208"/>
            <a:ext cx="1943100" cy="128016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3749040" y="5340096"/>
            <a:ext cx="1600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Computadora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5394960" y="5385816"/>
            <a:ext cx="2286000" cy="128016"/>
          </a:xfrm>
          <a:prstGeom prst="roundRect">
            <a:avLst>
              <a:gd name="adj" fmla="val 50000"/>
            </a:avLst>
          </a:prstGeom>
          <a:solidFill>
            <a:srgbClr val="E6E8F0"/>
          </a:solidFill>
          <a:ln w="12700">
            <a:solidFill>
              <a:srgbClr val="E6E8F0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5394960" y="5385816"/>
            <a:ext cx="1600200" cy="128016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3749040" y="5632704"/>
            <a:ext cx="1600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Apps de productividad</a:t>
            </a:r>
            <a:endParaRPr lang="en-US" sz="1100" dirty="0"/>
          </a:p>
        </p:txBody>
      </p:sp>
      <p:sp>
        <p:nvSpPr>
          <p:cNvPr id="26" name="Shape 22"/>
          <p:cNvSpPr/>
          <p:nvPr/>
        </p:nvSpPr>
        <p:spPr>
          <a:xfrm>
            <a:off x="5394960" y="5678424"/>
            <a:ext cx="2286000" cy="128016"/>
          </a:xfrm>
          <a:prstGeom prst="roundRect">
            <a:avLst>
              <a:gd name="adj" fmla="val 50000"/>
            </a:avLst>
          </a:prstGeom>
          <a:solidFill>
            <a:srgbClr val="E6E8F0"/>
          </a:solidFill>
          <a:ln w="12700">
            <a:solidFill>
              <a:srgbClr val="E6E8F0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394960" y="5678424"/>
            <a:ext cx="571500" cy="128016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3749040" y="5925312"/>
            <a:ext cx="1600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Apps de estudio</a:t>
            </a:r>
            <a:endParaRPr lang="en-US" sz="1100" dirty="0"/>
          </a:p>
        </p:txBody>
      </p:sp>
      <p:sp>
        <p:nvSpPr>
          <p:cNvPr id="29" name="Shape 25"/>
          <p:cNvSpPr/>
          <p:nvPr/>
        </p:nvSpPr>
        <p:spPr>
          <a:xfrm>
            <a:off x="5394960" y="5971032"/>
            <a:ext cx="2286000" cy="128016"/>
          </a:xfrm>
          <a:prstGeom prst="roundRect">
            <a:avLst>
              <a:gd name="adj" fmla="val 50000"/>
            </a:avLst>
          </a:prstGeom>
          <a:solidFill>
            <a:srgbClr val="E6E8F0"/>
          </a:solidFill>
          <a:ln w="12700">
            <a:solidFill>
              <a:srgbClr val="E6E8F0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5394960" y="5971032"/>
            <a:ext cx="457200" cy="128016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7909560" y="1691640"/>
            <a:ext cx="3730752" cy="1188720"/>
          </a:xfrm>
          <a:prstGeom prst="roundRect">
            <a:avLst>
              <a:gd name="adj" fmla="val 9231"/>
            </a:avLst>
          </a:prstGeom>
          <a:solidFill>
            <a:srgbClr val="EEF1FF"/>
          </a:solidFill>
          <a:ln w="12700">
            <a:solidFill>
              <a:srgbClr val="D3DBF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8074152" y="1764792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037B0"/>
                </a:solidFill>
              </a:rPr>
              <a:t>OBJETIVOS, SUEÑOS Y METAS</a:t>
            </a:r>
            <a:endParaRPr lang="en-US" sz="1000" dirty="0"/>
          </a:p>
        </p:txBody>
      </p:sp>
      <p:sp>
        <p:nvSpPr>
          <p:cNvPr id="33" name="Text 29"/>
          <p:cNvSpPr txBox="1"/>
          <p:nvPr/>
        </p:nvSpPr>
        <p:spPr>
          <a:xfrm>
            <a:off x="8074152" y="2011680"/>
            <a:ext cx="3456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</a:rPr>
              <a:t>Aprobar el primer año completo</a:t>
            </a:r>
            <a:endParaRPr lang="en-US" sz="11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</a:rPr>
              <a:t>Recibirse en cinco años</a:t>
            </a:r>
            <a:endParaRPr lang="en-US" sz="11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</a:rPr>
              <a:t>Trabajar como desarrollador de software</a:t>
            </a:r>
            <a:endParaRPr lang="en-US" sz="1100" dirty="0"/>
          </a:p>
        </p:txBody>
      </p:sp>
      <p:sp>
        <p:nvSpPr>
          <p:cNvPr id="34" name="Shape 30"/>
          <p:cNvSpPr/>
          <p:nvPr/>
        </p:nvSpPr>
        <p:spPr>
          <a:xfrm>
            <a:off x="7909560" y="2971800"/>
            <a:ext cx="3730752" cy="1051560"/>
          </a:xfrm>
          <a:prstGeom prst="roundRect">
            <a:avLst>
              <a:gd name="adj" fmla="val 10435"/>
            </a:avLst>
          </a:prstGeom>
          <a:solidFill>
            <a:srgbClr val="FFECEB"/>
          </a:solidFill>
          <a:ln w="12700">
            <a:solidFill>
              <a:srgbClr val="F7C9C5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8074152" y="3044952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A1A1A"/>
                </a:solidFill>
              </a:rPr>
              <a:t>FRUSTRACIONES</a:t>
            </a:r>
            <a:endParaRPr lang="en-US" sz="1000" dirty="0"/>
          </a:p>
        </p:txBody>
      </p:sp>
      <p:sp>
        <p:nvSpPr>
          <p:cNvPr id="36" name="Text 32"/>
          <p:cNvSpPr txBox="1"/>
          <p:nvPr/>
        </p:nvSpPr>
        <p:spPr>
          <a:xfrm>
            <a:off x="8074152" y="3291840"/>
            <a:ext cx="3456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</a:rPr>
              <a:t>Estudiar mucho y rendir mal igual</a:t>
            </a:r>
            <a:endParaRPr lang="en-US" sz="11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</a:rPr>
              <a:t>No saber si el problema es él o su método</a:t>
            </a:r>
            <a:endParaRPr lang="en-US" sz="1100" dirty="0"/>
          </a:p>
        </p:txBody>
      </p:sp>
      <p:sp>
        <p:nvSpPr>
          <p:cNvPr id="37" name="Shape 33"/>
          <p:cNvSpPr/>
          <p:nvPr/>
        </p:nvSpPr>
        <p:spPr>
          <a:xfrm>
            <a:off x="7909560" y="4114800"/>
            <a:ext cx="3730752" cy="1051560"/>
          </a:xfrm>
          <a:prstGeom prst="roundRect">
            <a:avLst>
              <a:gd name="adj" fmla="val 10435"/>
            </a:avLst>
          </a:prstGeom>
          <a:solidFill>
            <a:srgbClr val="E3FBEF"/>
          </a:solidFill>
          <a:ln w="12700">
            <a:solidFill>
              <a:srgbClr val="BFEED6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8074152" y="4187952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06C49"/>
                </a:solidFill>
              </a:rPr>
              <a:t>MOTIVACIONES</a:t>
            </a:r>
            <a:endParaRPr lang="en-US" sz="1000" dirty="0"/>
          </a:p>
        </p:txBody>
      </p:sp>
      <p:sp>
        <p:nvSpPr>
          <p:cNvPr id="39" name="Text 35"/>
          <p:cNvSpPr txBox="1"/>
          <p:nvPr/>
        </p:nvSpPr>
        <p:spPr>
          <a:xfrm>
            <a:off x="8074152" y="4434840"/>
            <a:ext cx="3456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</a:rPr>
              <a:t>Confirmar que eligió bien la carrera</a:t>
            </a:r>
            <a:endParaRPr lang="en-US" sz="11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</a:rPr>
              <a:t>No decepcionar a su familia</a:t>
            </a:r>
            <a:endParaRPr lang="en-US" sz="1100" dirty="0"/>
          </a:p>
        </p:txBody>
      </p:sp>
      <p:sp>
        <p:nvSpPr>
          <p:cNvPr id="40" name="Shape 36"/>
          <p:cNvSpPr/>
          <p:nvPr/>
        </p:nvSpPr>
        <p:spPr>
          <a:xfrm>
            <a:off x="7909560" y="5257800"/>
            <a:ext cx="3730752" cy="960120"/>
          </a:xfrm>
          <a:prstGeom prst="roundRect">
            <a:avLst>
              <a:gd name="adj" fmla="val 11429"/>
            </a:avLst>
          </a:prstGeom>
          <a:solidFill>
            <a:srgbClr val="FFF4E8"/>
          </a:solidFill>
          <a:ln w="12700">
            <a:solidFill>
              <a:srgbClr val="F6D9B5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8074152" y="5321808"/>
            <a:ext cx="34564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825100"/>
                </a:solidFill>
              </a:rPr>
              <a:t>«Estudié tres días seguidos y me fue mal. No sé si el problema soy yo o cómo estudio.»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04 · USER PERSONA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User persona secundaria: Camila Ríos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48640" y="1691640"/>
            <a:ext cx="3017520" cy="4526280"/>
          </a:xfrm>
          <a:prstGeom prst="roundRect">
            <a:avLst>
              <a:gd name="adj" fmla="val 3636"/>
            </a:avLst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pic>
        <p:nvPicPr>
          <p:cNvPr id="6" name="Image 0" descr="/home/claude/deck/assets/img/camila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77240" y="1874520"/>
            <a:ext cx="2560320" cy="20574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77240" y="400507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Camila Ríos</a:t>
            </a:r>
            <a:endParaRPr lang="en-US" sz="1800" dirty="0"/>
          </a:p>
        </p:txBody>
      </p:sp>
      <p:sp>
        <p:nvSpPr>
          <p:cNvPr id="8" name="Text 4"/>
          <p:cNvSpPr txBox="1"/>
          <p:nvPr/>
        </p:nvSpPr>
        <p:spPr>
          <a:xfrm>
            <a:off x="777240" y="4389120"/>
            <a:ext cx="2606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DCE1FF"/>
                </a:solidFill>
              </a:rPr>
              <a:t>24 años · soltera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DCE1FF"/>
                </a:solidFill>
              </a:rPr>
              <a:t>Vive sola en la Ciudad de Mendoza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DCE1FF"/>
                </a:solidFill>
              </a:rPr>
              <a:t>2.º año de Contador Público, cursada nocturna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DCE1FF"/>
                </a:solidFill>
              </a:rPr>
              <a:t>Administrativa en un estudio contable, 9 a 18 h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DCE1FF"/>
                </a:solidFill>
              </a:rPr>
              <a:t>Nivel socioeconómico medio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3749040" y="1691640"/>
            <a:ext cx="3977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D4ED8"/>
                </a:solidFill>
              </a:rPr>
              <a:t>BIOGRAFÍA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3749040" y="1938528"/>
            <a:ext cx="3977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A5068"/>
                </a:solidFill>
              </a:rPr>
              <a:t>Empezó la carrera más tarde, cuando consiguió trabajo estable. Estudia de noche y en el colectivo, en bloques de una o dos horas. Probó Notion, armó un sistema completo y lo abandonó a las tres semanas porque le llevaba más tiempo mantenerlo que estudiar.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3749040" y="312724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D4ED8"/>
                </a:solidFill>
              </a:rPr>
              <a:t>INTERESES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3749040" y="3383280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</a:rPr>
              <a:t>Running</a:t>
            </a:r>
            <a:endParaRPr lang="en-US" sz="1100" dirty="0"/>
          </a:p>
          <a:p>
            <a:pPr marL="127000" indent="-127000"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</a:rPr>
              <a:t>Lectura</a:t>
            </a:r>
            <a:endParaRPr lang="en-US" sz="1100" dirty="0"/>
          </a:p>
          <a:p>
            <a:pPr marL="127000" indent="-127000"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</a:rPr>
              <a:t>Finanzas personales</a:t>
            </a:r>
            <a:endParaRPr lang="en-US" sz="1100" dirty="0"/>
          </a:p>
          <a:p>
            <a:pPr marL="127000" indent="-127000"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</a:rPr>
              <a:t>Podcasts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5760720" y="3127248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D4ED8"/>
                </a:solidFill>
              </a:rPr>
              <a:t>HÁBITOS DE CONSUMO</a:t>
            </a:r>
            <a:endParaRPr lang="en-US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5760720" y="3383280"/>
            <a:ext cx="1965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</a:rPr>
              <a:t>Android, uso casi exclusivo</a:t>
            </a:r>
            <a:endParaRPr lang="en-US" sz="1100" dirty="0"/>
          </a:p>
          <a:p>
            <a:pPr marL="127000" indent="-127000"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</a:rPr>
              <a:t>Apps bancarias y billeteras</a:t>
            </a:r>
            <a:endParaRPr lang="en-US" sz="1100" dirty="0"/>
          </a:p>
          <a:p>
            <a:pPr marL="127000" indent="-127000"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</a:rPr>
              <a:t>Compras online</a:t>
            </a:r>
            <a:endParaRPr lang="en-US" sz="1100" dirty="0"/>
          </a:p>
          <a:p>
            <a:pPr marL="127000" indent="-127000"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</a:rPr>
              <a:t>Instagram y podcasts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3749040" y="4480560"/>
            <a:ext cx="3977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D4ED8"/>
                </a:solidFill>
              </a:rPr>
              <a:t>RELACIÓN CON LA TECNOLOGÍA</a:t>
            </a:r>
            <a:endParaRPr lang="en-US" sz="1000" dirty="0"/>
          </a:p>
        </p:txBody>
      </p:sp>
      <p:sp>
        <p:nvSpPr>
          <p:cNvPr id="16" name="Text 12"/>
          <p:cNvSpPr txBox="1"/>
          <p:nvPr/>
        </p:nvSpPr>
        <p:spPr>
          <a:xfrm>
            <a:off x="3749040" y="4754880"/>
            <a:ext cx="1600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Celular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5394960" y="4800600"/>
            <a:ext cx="2286000" cy="128016"/>
          </a:xfrm>
          <a:prstGeom prst="roundRect">
            <a:avLst>
              <a:gd name="adj" fmla="val 50000"/>
            </a:avLst>
          </a:prstGeom>
          <a:solidFill>
            <a:srgbClr val="E6E8F0"/>
          </a:solidFill>
          <a:ln w="12700">
            <a:solidFill>
              <a:srgbClr val="E6E8F0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5394960" y="4800600"/>
            <a:ext cx="2171700" cy="128016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3749040" y="5047488"/>
            <a:ext cx="1600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Computadora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5394960" y="5093208"/>
            <a:ext cx="2286000" cy="128016"/>
          </a:xfrm>
          <a:prstGeom prst="roundRect">
            <a:avLst>
              <a:gd name="adj" fmla="val 50000"/>
            </a:avLst>
          </a:prstGeom>
          <a:solidFill>
            <a:srgbClr val="E6E8F0"/>
          </a:solidFill>
          <a:ln w="12700">
            <a:solidFill>
              <a:srgbClr val="E6E8F0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5394960" y="5093208"/>
            <a:ext cx="1943100" cy="128016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3749040" y="5340096"/>
            <a:ext cx="1600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Apps de productividad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5394960" y="5385816"/>
            <a:ext cx="2286000" cy="128016"/>
          </a:xfrm>
          <a:prstGeom prst="roundRect">
            <a:avLst>
              <a:gd name="adj" fmla="val 50000"/>
            </a:avLst>
          </a:prstGeom>
          <a:solidFill>
            <a:srgbClr val="E6E8F0"/>
          </a:solidFill>
          <a:ln w="12700">
            <a:solidFill>
              <a:srgbClr val="E6E8F0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5394960" y="5385816"/>
            <a:ext cx="1714500" cy="128016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3749040" y="5632704"/>
            <a:ext cx="1600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Redes sociales</a:t>
            </a:r>
            <a:endParaRPr lang="en-US" sz="1100" dirty="0"/>
          </a:p>
        </p:txBody>
      </p:sp>
      <p:sp>
        <p:nvSpPr>
          <p:cNvPr id="26" name="Shape 22"/>
          <p:cNvSpPr/>
          <p:nvPr/>
        </p:nvSpPr>
        <p:spPr>
          <a:xfrm>
            <a:off x="5394960" y="5678424"/>
            <a:ext cx="2286000" cy="128016"/>
          </a:xfrm>
          <a:prstGeom prst="roundRect">
            <a:avLst>
              <a:gd name="adj" fmla="val 50000"/>
            </a:avLst>
          </a:prstGeom>
          <a:solidFill>
            <a:srgbClr val="E6E8F0"/>
          </a:solidFill>
          <a:ln w="12700">
            <a:solidFill>
              <a:srgbClr val="E6E8F0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394960" y="5678424"/>
            <a:ext cx="1600200" cy="128016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3749040" y="5925312"/>
            <a:ext cx="1600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Apps de estudio</a:t>
            </a:r>
            <a:endParaRPr lang="en-US" sz="1100" dirty="0"/>
          </a:p>
        </p:txBody>
      </p:sp>
      <p:sp>
        <p:nvSpPr>
          <p:cNvPr id="29" name="Shape 25"/>
          <p:cNvSpPr/>
          <p:nvPr/>
        </p:nvSpPr>
        <p:spPr>
          <a:xfrm>
            <a:off x="5394960" y="5971032"/>
            <a:ext cx="2286000" cy="128016"/>
          </a:xfrm>
          <a:prstGeom prst="roundRect">
            <a:avLst>
              <a:gd name="adj" fmla="val 50000"/>
            </a:avLst>
          </a:prstGeom>
          <a:solidFill>
            <a:srgbClr val="E6E8F0"/>
          </a:solidFill>
          <a:ln w="12700">
            <a:solidFill>
              <a:srgbClr val="E6E8F0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5394960" y="5971032"/>
            <a:ext cx="685800" cy="128016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7909560" y="1691640"/>
            <a:ext cx="3730752" cy="1188720"/>
          </a:xfrm>
          <a:prstGeom prst="roundRect">
            <a:avLst>
              <a:gd name="adj" fmla="val 9231"/>
            </a:avLst>
          </a:prstGeom>
          <a:solidFill>
            <a:srgbClr val="EEF1FF"/>
          </a:solidFill>
          <a:ln w="12700">
            <a:solidFill>
              <a:srgbClr val="D3DBF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8074152" y="1764792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037B0"/>
                </a:solidFill>
              </a:rPr>
              <a:t>OBJETIVOS, SUEÑOS Y METAS</a:t>
            </a:r>
            <a:endParaRPr lang="en-US" sz="1000" dirty="0"/>
          </a:p>
        </p:txBody>
      </p:sp>
      <p:sp>
        <p:nvSpPr>
          <p:cNvPr id="33" name="Text 29"/>
          <p:cNvSpPr txBox="1"/>
          <p:nvPr/>
        </p:nvSpPr>
        <p:spPr>
          <a:xfrm>
            <a:off x="8074152" y="2011680"/>
            <a:ext cx="3456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</a:rPr>
              <a:t>Recibirse de contadora</a:t>
            </a:r>
            <a:endParaRPr lang="en-US" sz="11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</a:rPr>
              <a:t>Ascender a analista en el estudio</a:t>
            </a:r>
            <a:endParaRPr lang="en-US" sz="11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</a:rPr>
              <a:t>Viajar a Europa</a:t>
            </a:r>
            <a:endParaRPr lang="en-US" sz="1100" dirty="0"/>
          </a:p>
        </p:txBody>
      </p:sp>
      <p:sp>
        <p:nvSpPr>
          <p:cNvPr id="34" name="Shape 30"/>
          <p:cNvSpPr/>
          <p:nvPr/>
        </p:nvSpPr>
        <p:spPr>
          <a:xfrm>
            <a:off x="7909560" y="2971800"/>
            <a:ext cx="3730752" cy="1051560"/>
          </a:xfrm>
          <a:prstGeom prst="roundRect">
            <a:avLst>
              <a:gd name="adj" fmla="val 10435"/>
            </a:avLst>
          </a:prstGeom>
          <a:solidFill>
            <a:srgbClr val="FFECEB"/>
          </a:solidFill>
          <a:ln w="12700">
            <a:solidFill>
              <a:srgbClr val="F7C9C5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8074152" y="3044952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A1A1A"/>
                </a:solidFill>
              </a:rPr>
              <a:t>FRUSTRACIONES</a:t>
            </a:r>
            <a:endParaRPr lang="en-US" sz="1000" dirty="0"/>
          </a:p>
        </p:txBody>
      </p:sp>
      <p:sp>
        <p:nvSpPr>
          <p:cNvPr id="36" name="Text 32"/>
          <p:cNvSpPr txBox="1"/>
          <p:nvPr/>
        </p:nvSpPr>
        <p:spPr>
          <a:xfrm>
            <a:off x="8074152" y="3291840"/>
            <a:ext cx="3456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</a:rPr>
              <a:t>Perder la mitad del tiempo decidiendo qué estudiar</a:t>
            </a:r>
            <a:endParaRPr lang="en-US" sz="11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</a:rPr>
              <a:t>Apps que piden configurar demasiado</a:t>
            </a:r>
            <a:endParaRPr lang="en-US" sz="1100" dirty="0"/>
          </a:p>
        </p:txBody>
      </p:sp>
      <p:sp>
        <p:nvSpPr>
          <p:cNvPr id="37" name="Shape 33"/>
          <p:cNvSpPr/>
          <p:nvPr/>
        </p:nvSpPr>
        <p:spPr>
          <a:xfrm>
            <a:off x="7909560" y="4114800"/>
            <a:ext cx="3730752" cy="1051560"/>
          </a:xfrm>
          <a:prstGeom prst="roundRect">
            <a:avLst>
              <a:gd name="adj" fmla="val 10435"/>
            </a:avLst>
          </a:prstGeom>
          <a:solidFill>
            <a:srgbClr val="E3FBEF"/>
          </a:solidFill>
          <a:ln w="12700">
            <a:solidFill>
              <a:srgbClr val="BFEED6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8074152" y="4187952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06C49"/>
                </a:solidFill>
              </a:rPr>
              <a:t>MOTIVACIONES</a:t>
            </a:r>
            <a:endParaRPr lang="en-US" sz="1000" dirty="0"/>
          </a:p>
        </p:txBody>
      </p:sp>
      <p:sp>
        <p:nvSpPr>
          <p:cNvPr id="39" name="Text 35"/>
          <p:cNvSpPr txBox="1"/>
          <p:nvPr/>
        </p:nvSpPr>
        <p:spPr>
          <a:xfrm>
            <a:off x="8074152" y="4434840"/>
            <a:ext cx="3456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</a:rPr>
              <a:t>Estudiar menos horas pero mejor</a:t>
            </a:r>
            <a:endParaRPr lang="en-US" sz="11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</a:rPr>
              <a:t>Demostrar que empezar tarde no la deja afuera</a:t>
            </a:r>
            <a:endParaRPr lang="en-US" sz="1100" dirty="0"/>
          </a:p>
        </p:txBody>
      </p:sp>
      <p:sp>
        <p:nvSpPr>
          <p:cNvPr id="40" name="Shape 36"/>
          <p:cNvSpPr/>
          <p:nvPr/>
        </p:nvSpPr>
        <p:spPr>
          <a:xfrm>
            <a:off x="7909560" y="5257800"/>
            <a:ext cx="3730752" cy="960120"/>
          </a:xfrm>
          <a:prstGeom prst="roundRect">
            <a:avLst>
              <a:gd name="adj" fmla="val 11429"/>
            </a:avLst>
          </a:prstGeom>
          <a:solidFill>
            <a:srgbClr val="FFF4E8"/>
          </a:solidFill>
          <a:ln w="12700">
            <a:solidFill>
              <a:srgbClr val="F6D9B5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8074152" y="5321808"/>
            <a:ext cx="34564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825100"/>
                </a:solidFill>
              </a:rPr>
              <a:t>«Tengo dos horas por día. No me puedo dar el lujo de estudiar mal.»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04 · USER PERSONA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Por qué estas dos personas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440680" cy="4389120"/>
          </a:xfrm>
          <a:prstGeom prst="roundRect">
            <a:avLst>
              <a:gd name="adj" fmla="val 2500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pic>
        <p:nvPicPr>
          <p:cNvPr id="5" name="Image 0" descr="/home/claude/deck/assets/img/toma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68680" y="2057400"/>
            <a:ext cx="1371600" cy="1371600"/>
          </a:xfrm>
          <a:prstGeom prst="ellipse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468880" y="228600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37B0"/>
                </a:solidFill>
              </a:rPr>
              <a:t>Tomás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2468880" y="274320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068"/>
                </a:solidFill>
              </a:rPr>
              <a:t>Usuario principal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3657600"/>
            <a:ext cx="4800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31B2E"/>
                </a:solidFill>
              </a:rPr>
              <a:t>Es el caso central del problema: ingresante, sin método, con técnicas pasivas. Define el MVP: diagnóstico, técnica por sesión y quiz.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5257800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B7189"/>
                </a:solidFill>
              </a:rPr>
              <a:t>Evidencia: </a:t>
            </a:r>
            <a:pPr indent="0" marL="0">
              <a:buNone/>
            </a:pPr>
            <a:r>
              <a:rPr lang="en-US" sz="1200" dirty="0">
                <a:solidFill>
                  <a:srgbClr val="6B7189"/>
                </a:solidFill>
              </a:rPr>
              <a:t>Encuesta P2, P3, P4, P6 y P7 · 4 observaciones · entrevistas E1 a E4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172200" y="1783080"/>
            <a:ext cx="5440680" cy="4389120"/>
          </a:xfrm>
          <a:prstGeom prst="roundRect">
            <a:avLst>
              <a:gd name="adj" fmla="val 2500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pic>
        <p:nvPicPr>
          <p:cNvPr id="11" name="Image 1" descr="/home/claude/deck/assets/img/camila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492240" y="2057400"/>
            <a:ext cx="1371600" cy="1371600"/>
          </a:xfrm>
          <a:prstGeom prst="ellipse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8092440" y="228600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6C49"/>
                </a:solidFill>
              </a:rPr>
              <a:t>Camila</a:t>
            </a:r>
            <a:endParaRPr lang="en-US" sz="2400" dirty="0"/>
          </a:p>
        </p:txBody>
      </p:sp>
      <p:sp>
        <p:nvSpPr>
          <p:cNvPr id="13" name="Text 9"/>
          <p:cNvSpPr txBox="1"/>
          <p:nvPr/>
        </p:nvSpPr>
        <p:spPr>
          <a:xfrm>
            <a:off x="8092440" y="274320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068"/>
                </a:solidFill>
              </a:rPr>
              <a:t>Usuaria secundaria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92240" y="3657600"/>
            <a:ext cx="4800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31B2E"/>
                </a:solidFill>
              </a:rPr>
              <a:t>Es el caso extremo de falta de tiempo: trabaja y estudia de noche. Obliga a que todo sea corto, móvil y sin configuración.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6492240" y="5257800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B7189"/>
                </a:solidFill>
              </a:rPr>
              <a:t>Evidencia: </a:t>
            </a:r>
            <a:pPr indent="0" marL="0">
              <a:buNone/>
            </a:pPr>
            <a:r>
              <a:rPr lang="en-US" sz="1200" dirty="0">
                <a:solidFill>
                  <a:srgbClr val="6B7189"/>
                </a:solidFill>
              </a:rPr>
              <a:t>Encuesta P5, P9 y P10 · entrevistas E5 y E6 · Musso et al. (2021)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685800" y="868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A9BBFF"/>
                </a:solidFill>
              </a:rPr>
              <a:t>ETAPA 5 DE 13</a:t>
            </a:r>
            <a:endParaRPr lang="en-US" sz="13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685800" y="1280160"/>
            <a:ext cx="5577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POV, storytelling y storyboard</a:t>
            </a:r>
            <a:endParaRPr lang="en-US" sz="4000" dirty="0"/>
          </a:p>
        </p:txBody>
      </p:sp>
      <p:sp>
        <p:nvSpPr>
          <p:cNvPr id="4" name="Text 2"/>
          <p:cNvSpPr/>
          <p:nvPr>
            <p:ph idx="104" type="body" hasCustomPrompt="1"/>
          </p:nvPr>
        </p:nvSpPr>
        <p:spPr>
          <a:xfrm>
            <a:off x="566928" y="3977640"/>
            <a:ext cx="54864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b="1" dirty="0">
                <a:solidFill>
                  <a:srgbClr val="FFFFFF"/>
                </a:solidFill>
              </a:rPr>
              <a:t>05</a:t>
            </a:r>
            <a:endParaRPr lang="en-US" sz="15000" dirty="0"/>
          </a:p>
        </p:txBody>
      </p:sp>
      <p:sp>
        <p:nvSpPr>
          <p:cNvPr id="5" name="Text 2"/>
          <p:cNvSpPr/>
          <p:nvPr>
            <p:ph idx="105" type="body" hasCustomPrompt="1"/>
          </p:nvPr>
        </p:nvSpPr>
        <p:spPr>
          <a:xfrm>
            <a:off x="7178040" y="1463040"/>
            <a:ext cx="452628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EEF1FF"/>
                </a:solidFill>
              </a:rPr>
              <a:t>✓  POV: usuario + necesita + porque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EEF1FF"/>
                </a:solidFill>
              </a:rPr>
              <a:t>✓  Storytelling: inicio, nudo y desenlace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EEF1FF"/>
                </a:solidFill>
              </a:rPr>
              <a:t>✓  Storyboard en 6 dibujos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9BBF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05 · POINT OF VIEW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Nuestro punto de vista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091672" cy="1920240"/>
          </a:xfrm>
          <a:prstGeom prst="roundRect">
            <a:avLst>
              <a:gd name="adj" fmla="val 5714"/>
            </a:avLst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920240"/>
            <a:ext cx="10332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Un estudiante que recién empieza una carrera necesita un método de estudio propio y una forma de comprobar si aprendió antes de rendir, porque nunca le enseñaron a estudiar y confunde haber leído el material con saberlo.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48640" y="397764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EEF1FF"/>
          </a:solidFill>
          <a:ln w="12700">
            <a:solidFill>
              <a:srgbClr val="EEF1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416052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037B0"/>
                </a:solidFill>
              </a:rPr>
              <a:t>USUARIO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4498848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31B2E"/>
                </a:solidFill>
              </a:rPr>
              <a:t>Un estudiante que recién empieza una carrera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297680" y="397764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E3FBEF"/>
          </a:solidFill>
          <a:ln w="12700">
            <a:solidFill>
              <a:srgbClr val="E3FBE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0" y="416052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06C49"/>
                </a:solidFill>
              </a:rPr>
              <a:t>NECESITA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4498848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31B2E"/>
                </a:solidFill>
              </a:rPr>
              <a:t>un método propio y una forma de comprobar si aprendió antes de rendir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046720" y="397764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FFF4E8"/>
          </a:solidFill>
          <a:ln w="12700">
            <a:solidFill>
              <a:srgbClr val="FFF4E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416052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25100"/>
                </a:solidFill>
              </a:rPr>
              <a:t>PORQUE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4498848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31B2E"/>
                </a:solidFill>
              </a:rPr>
              <a:t>nunca le enseñaron a estudiar y confunde haber leído con saber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76072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189"/>
                </a:solidFill>
              </a:rPr>
              <a:t>El insight sale del cruce de P6 y P7: el 53 % cree que entendió porque terminó de leer y el 91 % ya rindió mal habiendo estudiado.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05 · STORYTELLING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La historia de Tomás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520440" cy="4434840"/>
          </a:xfrm>
          <a:prstGeom prst="roundRect">
            <a:avLst>
              <a:gd name="adj" fmla="val 3117"/>
            </a:avLst>
          </a:prstGeom>
          <a:solidFill>
            <a:srgbClr val="EEF1FF"/>
          </a:solidFill>
          <a:ln w="12700">
            <a:solidFill>
              <a:srgbClr val="EEF1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41248" y="20116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0037B0"/>
                </a:solidFill>
              </a:rPr>
              <a:t>INICIO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41248" y="2468880"/>
            <a:ext cx="29260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31B2E"/>
                </a:solidFill>
              </a:rPr>
              <a:t>Tomás llega a la UTN desde una secundaria técnica de Maipú, donde aprobaba sin estudiar demasiado. Para el primer parcial de Análisis Matemático I hace lo de siempre: relee la carpeta, subraya con tres colores y se queda hasta las tres de la mañana los últimos tres días.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297680" y="1783080"/>
            <a:ext cx="3520440" cy="4434840"/>
          </a:xfrm>
          <a:prstGeom prst="roundRect">
            <a:avLst>
              <a:gd name="adj" fmla="val 3117"/>
            </a:avLst>
          </a:prstGeom>
          <a:solidFill>
            <a:srgbClr val="FFECEB"/>
          </a:solidFill>
          <a:ln w="12700">
            <a:solidFill>
              <a:srgbClr val="FFECE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90288" y="20116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BA1A1A"/>
                </a:solidFill>
              </a:rPr>
              <a:t>NUDO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590288" y="2468880"/>
            <a:ext cx="29260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31B2E"/>
                </a:solidFill>
              </a:rPr>
              <a:t>Se saca un 4 y desaprueba. Esa noche piensa que la carrera no es para él. En el grupo de la comisión, una compañera recomienda Asesor de Estudio. La descarga sin mucha fe: cree que va a ser otra agenda más.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046720" y="1783080"/>
            <a:ext cx="3520440" cy="4434840"/>
          </a:xfrm>
          <a:prstGeom prst="roundRect">
            <a:avLst>
              <a:gd name="adj" fmla="val 3117"/>
            </a:avLst>
          </a:prstGeom>
          <a:solidFill>
            <a:srgbClr val="E3FBEF"/>
          </a:solidFill>
          <a:ln w="12700">
            <a:solidFill>
              <a:srgbClr val="E3FBE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39328" y="20116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006C49"/>
                </a:solidFill>
              </a:rPr>
              <a:t>DESENLACE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339328" y="2468880"/>
            <a:ext cx="29260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31B2E"/>
                </a:solidFill>
              </a:rPr>
              <a:t>En cuatro minutos hace el diagnóstico, carga el programa y la app le arma un plan con una técnica para cada sesión. Al cerrar cada una escribe sus preguntas; los quizzes le muestran qué no sabía. Aprueba el recuperatorio con 8 y, por primera vez, sabe por qué.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05 · STORYBOARD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Storyboard: del 4 al 8 en seis escenas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64208"/>
            <a:ext cx="3520440" cy="2212848"/>
          </a:xfrm>
          <a:prstGeom prst="roundRect">
            <a:avLst>
              <a:gd name="adj" fmla="val 4959"/>
            </a:avLst>
          </a:prstGeom>
          <a:solidFill>
            <a:srgbClr val="FFFFFF"/>
          </a:solidFill>
          <a:ln w="12700">
            <a:solidFill>
              <a:srgbClr val="C9CEDD"/>
            </a:solidFill>
            <a:prstDash val="solid"/>
          </a:ln>
        </p:spPr>
      </p:sp>
      <p:pic>
        <p:nvPicPr>
          <p:cNvPr id="5" name="Image 0" descr="/home/claude/deck/v/sb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719072"/>
            <a:ext cx="2651760" cy="17373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520440" y="1801368"/>
            <a:ext cx="384048" cy="384048"/>
          </a:xfrm>
          <a:prstGeom prst="ellipse">
            <a:avLst/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3520440" y="1801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13232" y="3447288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31B2E"/>
                </a:solidFill>
              </a:rPr>
              <a:t>Estudia hasta las 3 de la mañana releyendo y subrayando.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297680" y="1664208"/>
            <a:ext cx="3520440" cy="2212848"/>
          </a:xfrm>
          <a:prstGeom prst="roundRect">
            <a:avLst>
              <a:gd name="adj" fmla="val 4959"/>
            </a:avLst>
          </a:prstGeom>
          <a:solidFill>
            <a:srgbClr val="FFFFFF"/>
          </a:solidFill>
          <a:ln w="12700">
            <a:solidFill>
              <a:srgbClr val="C9CEDD"/>
            </a:solidFill>
            <a:prstDash val="solid"/>
          </a:ln>
        </p:spPr>
      </p:sp>
      <p:pic>
        <p:nvPicPr>
          <p:cNvPr id="10" name="Image 1" descr="/home/claude/deck/v/sb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1719072"/>
            <a:ext cx="2651760" cy="173736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7269480" y="1801368"/>
            <a:ext cx="384048" cy="384048"/>
          </a:xfrm>
          <a:prstGeom prst="ellipse">
            <a:avLst/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269480" y="1801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4462272" y="3447288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31B2E"/>
                </a:solidFill>
              </a:rPr>
              <a:t>Se saca un 4 y piensa que no sirve para la carrera.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8046720" y="1664208"/>
            <a:ext cx="3520440" cy="2212848"/>
          </a:xfrm>
          <a:prstGeom prst="roundRect">
            <a:avLst>
              <a:gd name="adj" fmla="val 4959"/>
            </a:avLst>
          </a:prstGeom>
          <a:solidFill>
            <a:srgbClr val="FFFFFF"/>
          </a:solidFill>
          <a:ln w="12700">
            <a:solidFill>
              <a:srgbClr val="C9CEDD"/>
            </a:solidFill>
            <a:prstDash val="solid"/>
          </a:ln>
        </p:spPr>
      </p:sp>
      <p:pic>
        <p:nvPicPr>
          <p:cNvPr id="15" name="Image 2" descr="/home/claude/deck/v/sb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60" y="1719072"/>
            <a:ext cx="2651760" cy="1737360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11018520" y="1801368"/>
            <a:ext cx="384048" cy="384048"/>
          </a:xfrm>
          <a:prstGeom prst="ellipse">
            <a:avLst/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11018520" y="1801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8211312" y="3447288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31B2E"/>
                </a:solidFill>
              </a:rPr>
              <a:t>Una compañera le recomienda la app y crea su cuenta.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548640" y="3995928"/>
            <a:ext cx="3520440" cy="2212848"/>
          </a:xfrm>
          <a:prstGeom prst="roundRect">
            <a:avLst>
              <a:gd name="adj" fmla="val 4959"/>
            </a:avLst>
          </a:prstGeom>
          <a:solidFill>
            <a:srgbClr val="FFFFFF"/>
          </a:solidFill>
          <a:ln w="12700">
            <a:solidFill>
              <a:srgbClr val="C9CEDD"/>
            </a:solidFill>
            <a:prstDash val="solid"/>
          </a:ln>
        </p:spPr>
      </p:sp>
      <p:pic>
        <p:nvPicPr>
          <p:cNvPr id="20" name="Image 3" descr="/home/claude/deck/v/sb4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4050792"/>
            <a:ext cx="2651760" cy="1737360"/>
          </a:xfrm>
          <a:prstGeom prst="rect">
            <a:avLst/>
          </a:prstGeom>
        </p:spPr>
      </p:pic>
      <p:sp>
        <p:nvSpPr>
          <p:cNvPr id="21" name="Shape 15"/>
          <p:cNvSpPr/>
          <p:nvPr/>
        </p:nvSpPr>
        <p:spPr>
          <a:xfrm>
            <a:off x="3520440" y="4133088"/>
            <a:ext cx="384048" cy="384048"/>
          </a:xfrm>
          <a:prstGeom prst="ellipse">
            <a:avLst/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352044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713232" y="5779008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31B2E"/>
                </a:solidFill>
              </a:rPr>
              <a:t>Hace el diagnóstico y la app le arma un plan con técnica.</a:t>
            </a:r>
            <a:endParaRPr lang="en-US" sz="1200" dirty="0"/>
          </a:p>
        </p:txBody>
      </p:sp>
      <p:sp>
        <p:nvSpPr>
          <p:cNvPr id="24" name="Shape 18"/>
          <p:cNvSpPr/>
          <p:nvPr/>
        </p:nvSpPr>
        <p:spPr>
          <a:xfrm>
            <a:off x="4297680" y="3995928"/>
            <a:ext cx="3520440" cy="2212848"/>
          </a:xfrm>
          <a:prstGeom prst="roundRect">
            <a:avLst>
              <a:gd name="adj" fmla="val 4959"/>
            </a:avLst>
          </a:prstGeom>
          <a:solidFill>
            <a:srgbClr val="FFFFFF"/>
          </a:solidFill>
          <a:ln w="12700">
            <a:solidFill>
              <a:srgbClr val="C9CEDD"/>
            </a:solidFill>
            <a:prstDash val="solid"/>
          </a:ln>
        </p:spPr>
      </p:sp>
      <p:pic>
        <p:nvPicPr>
          <p:cNvPr id="25" name="Image 4" descr="/home/claude/deck/v/sb5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9120" y="4050792"/>
            <a:ext cx="2651760" cy="1737360"/>
          </a:xfrm>
          <a:prstGeom prst="rect">
            <a:avLst/>
          </a:prstGeom>
        </p:spPr>
      </p:pic>
      <p:sp>
        <p:nvSpPr>
          <p:cNvPr id="26" name="Shape 19"/>
          <p:cNvSpPr/>
          <p:nvPr/>
        </p:nvSpPr>
        <p:spPr>
          <a:xfrm>
            <a:off x="7269480" y="4133088"/>
            <a:ext cx="384048" cy="384048"/>
          </a:xfrm>
          <a:prstGeom prst="ellipse">
            <a:avLst/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27" name="Text 20"/>
          <p:cNvSpPr txBox="1"/>
          <p:nvPr/>
        </p:nvSpPr>
        <p:spPr>
          <a:xfrm>
            <a:off x="726948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28" name="Text 21"/>
          <p:cNvSpPr txBox="1"/>
          <p:nvPr/>
        </p:nvSpPr>
        <p:spPr>
          <a:xfrm>
            <a:off x="4462272" y="5779008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31B2E"/>
                </a:solidFill>
              </a:rPr>
              <a:t>Estudia con cronómetro y al cerrar escribe sus preguntas.</a:t>
            </a:r>
            <a:endParaRPr lang="en-US" sz="1200" dirty="0"/>
          </a:p>
        </p:txBody>
      </p:sp>
      <p:sp>
        <p:nvSpPr>
          <p:cNvPr id="29" name="Shape 22"/>
          <p:cNvSpPr/>
          <p:nvPr/>
        </p:nvSpPr>
        <p:spPr>
          <a:xfrm>
            <a:off x="8046720" y="3995928"/>
            <a:ext cx="3520440" cy="2212848"/>
          </a:xfrm>
          <a:prstGeom prst="roundRect">
            <a:avLst>
              <a:gd name="adj" fmla="val 4959"/>
            </a:avLst>
          </a:prstGeom>
          <a:solidFill>
            <a:srgbClr val="FFFFFF"/>
          </a:solidFill>
          <a:ln w="12700">
            <a:solidFill>
              <a:srgbClr val="C9CEDD"/>
            </a:solidFill>
            <a:prstDash val="solid"/>
          </a:ln>
        </p:spPr>
      </p:sp>
      <p:pic>
        <p:nvPicPr>
          <p:cNvPr id="30" name="Image 5" descr="/home/claude/deck/v/sb6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38160" y="4050792"/>
            <a:ext cx="2651760" cy="1737360"/>
          </a:xfrm>
          <a:prstGeom prst="rect">
            <a:avLst/>
          </a:prstGeom>
        </p:spPr>
      </p:pic>
      <p:sp>
        <p:nvSpPr>
          <p:cNvPr id="31" name="Shape 23"/>
          <p:cNvSpPr/>
          <p:nvPr/>
        </p:nvSpPr>
        <p:spPr>
          <a:xfrm>
            <a:off x="11018520" y="4133088"/>
            <a:ext cx="384048" cy="384048"/>
          </a:xfrm>
          <a:prstGeom prst="ellipse">
            <a:avLst/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32" name="Text 24"/>
          <p:cNvSpPr txBox="1"/>
          <p:nvPr/>
        </p:nvSpPr>
        <p:spPr>
          <a:xfrm>
            <a:off x="1101852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6</a:t>
            </a:r>
            <a:endParaRPr lang="en-US" sz="1300" dirty="0"/>
          </a:p>
        </p:txBody>
      </p:sp>
      <p:sp>
        <p:nvSpPr>
          <p:cNvPr id="33" name="Text 25"/>
          <p:cNvSpPr txBox="1"/>
          <p:nvPr/>
        </p:nvSpPr>
        <p:spPr>
          <a:xfrm>
            <a:off x="8211312" y="5779008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31B2E"/>
                </a:solidFill>
              </a:rPr>
              <a:t>Los quizzes le muestran qué le faltaba: aprueba con 8.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685800" y="868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A9BBFF"/>
                </a:solidFill>
              </a:rPr>
              <a:t>ETAPA 6 DE 13</a:t>
            </a:r>
            <a:endParaRPr lang="en-US" sz="13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685800" y="1280160"/>
            <a:ext cx="5577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MVP</a:t>
            </a:r>
            <a:endParaRPr lang="en-US" sz="4000" dirty="0"/>
          </a:p>
        </p:txBody>
      </p:sp>
      <p:sp>
        <p:nvSpPr>
          <p:cNvPr id="4" name="Text 2"/>
          <p:cNvSpPr/>
          <p:nvPr>
            <p:ph idx="104" type="body" hasCustomPrompt="1"/>
          </p:nvPr>
        </p:nvSpPr>
        <p:spPr>
          <a:xfrm>
            <a:off x="566928" y="3977640"/>
            <a:ext cx="54864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b="1" dirty="0">
                <a:solidFill>
                  <a:srgbClr val="FFFFFF"/>
                </a:solidFill>
              </a:rPr>
              <a:t>06</a:t>
            </a:r>
            <a:endParaRPr lang="en-US" sz="15000" dirty="0"/>
          </a:p>
        </p:txBody>
      </p:sp>
      <p:sp>
        <p:nvSpPr>
          <p:cNvPr id="5" name="Text 2"/>
          <p:cNvSpPr/>
          <p:nvPr>
            <p:ph idx="105" type="body" hasCustomPrompt="1"/>
          </p:nvPr>
        </p:nvSpPr>
        <p:spPr>
          <a:xfrm>
            <a:off x="7178040" y="1463040"/>
            <a:ext cx="452628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EEF1FF"/>
                </a:solidFill>
              </a:rPr>
              <a:t>✓  Lista de tareas del producto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EEF1FF"/>
                </a:solidFill>
              </a:rPr>
              <a:t>✓  Imprescindibles para el MVP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EEF1FF"/>
                </a:solidFill>
              </a:rPr>
              <a:t>✓  Deseables para la versión 2.0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EEF1FF"/>
                </a:solidFill>
              </a:rPr>
              <a:t>✓  Función principal y por qué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EEF1FF"/>
                </a:solidFill>
              </a:rPr>
              <a:t>✓  Informe: qué se desarrolla primero y por qué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9BBF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06 · MVP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Lista de tareas: qué entra en el MVP y qué queda para la 2.0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6355080" cy="4480560"/>
          </a:xfrm>
          <a:prstGeom prst="roundRect">
            <a:avLst>
              <a:gd name="adj" fmla="val 2449"/>
            </a:avLst>
          </a:prstGeom>
          <a:solidFill>
            <a:srgbClr val="EEF1FF"/>
          </a:solidFill>
          <a:ln w="12700">
            <a:solidFill>
              <a:srgbClr val="D3DB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874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37B0"/>
                </a:solidFill>
              </a:rPr>
              <a:t>IMPRESCINDIBLES · MVP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240280"/>
            <a:ext cx="29718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31B2E"/>
                </a:solidFill>
              </a:rPr>
              <a:t>Registrarse e iniciar sesión</a:t>
            </a:r>
            <a:endParaRPr lang="en-US" sz="13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31B2E"/>
                </a:solidFill>
              </a:rPr>
              <a:t>Diagnóstico inicial en 6 pasos</a:t>
            </a:r>
            <a:endParaRPr lang="en-US" sz="13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31B2E"/>
                </a:solidFill>
              </a:rPr>
              <a:t>Cargar materia, fecha del parcial y unidades con dificultad</a:t>
            </a:r>
            <a:endParaRPr lang="en-US" sz="13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31B2E"/>
                </a:solidFill>
              </a:rPr>
              <a:t>Generar el plan con una técnica por sesión</a:t>
            </a:r>
            <a:endParaRPr lang="en-US" sz="13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31B2E"/>
                </a:solidFill>
              </a:rPr>
              <a:t>Ver el calendario semanal y reprogramar</a:t>
            </a:r>
            <a:endParaRPr lang="en-US" sz="13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31B2E"/>
                </a:solidFill>
              </a:rPr>
              <a:t>Sesión de estudio con cronómetro y pasos guiados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3840480" y="2240280"/>
            <a:ext cx="29260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31B2E"/>
                </a:solidFill>
              </a:rPr>
              <a:t>Escribir preguntas al cerrar la sesión</a:t>
            </a:r>
            <a:endParaRPr lang="en-US" sz="13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31B2E"/>
                </a:solidFill>
              </a:rPr>
              <a:t>Quiz de repaso espaciado con autocalificación</a:t>
            </a:r>
            <a:endParaRPr lang="en-US" sz="13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31B2E"/>
                </a:solidFill>
              </a:rPr>
              <a:t>Progreso: leído vs. dominado</a:t>
            </a:r>
            <a:endParaRPr lang="en-US" sz="13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31B2E"/>
                </a:solidFill>
              </a:rPr>
              <a:t>Ajuste sugerido del plan</a:t>
            </a:r>
            <a:endParaRPr lang="en-US" sz="13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31B2E"/>
                </a:solidFill>
              </a:rPr>
              <a:t>Recordatorios y ajustes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086600" y="1737360"/>
            <a:ext cx="4553712" cy="4480560"/>
          </a:xfrm>
          <a:prstGeom prst="roundRect">
            <a:avLst>
              <a:gd name="adj" fmla="val 2449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0" y="18745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7189"/>
                </a:solidFill>
              </a:rPr>
              <a:t>DESEABLES · VERSIÓN 2.0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315200" y="2240280"/>
            <a:ext cx="411480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068"/>
                </a:solidFill>
              </a:rPr>
              <a:t>Sincronizar con Google Calendar</a:t>
            </a:r>
            <a:endParaRPr lang="en-US" sz="13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068"/>
                </a:solidFill>
              </a:rPr>
              <a:t>Importar el programa desde un PDF</a:t>
            </a:r>
            <a:endParaRPr lang="en-US" sz="13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068"/>
                </a:solidFill>
              </a:rPr>
              <a:t>Modo sin conexión</a:t>
            </a:r>
            <a:endParaRPr lang="en-US" sz="13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068"/>
                </a:solidFill>
              </a:rPr>
              <a:t>Estadísticas de horas por materia</a:t>
            </a:r>
            <a:endParaRPr lang="en-US" sz="13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068"/>
                </a:solidFill>
              </a:rPr>
              <a:t>Grupos de estudio y preguntas compartidas</a:t>
            </a:r>
            <a:endParaRPr lang="en-US" sz="13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068"/>
                </a:solidFill>
              </a:rPr>
              <a:t>Widget de Android</a:t>
            </a:r>
            <a:endParaRPr lang="en-US" sz="13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068"/>
                </a:solidFill>
              </a:rPr>
              <a:t>Modo oscuro</a:t>
            </a:r>
            <a:endParaRPr lang="en-US" sz="13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068"/>
                </a:solidFill>
              </a:rPr>
              <a:t>Recordatorios según la franja de mejor rendimiento</a:t>
            </a:r>
            <a:endParaRPr lang="en-US" sz="13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068"/>
                </a:solidFill>
              </a:rPr>
              <a:t>Versión web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06 · MVP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La función principal y el orden de desarrollo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4206240" cy="4480560"/>
          </a:xfrm>
          <a:prstGeom prst="roundRect">
            <a:avLst>
              <a:gd name="adj" fmla="val 2609"/>
            </a:avLst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9385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9BBFF"/>
                </a:solidFill>
              </a:rPr>
              <a:t>FUNCIÓN PRINCIPAL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28600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El ciclo sesión con técnica → preguntas propias → quiz espaciado → leído vs. dominado.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794760"/>
            <a:ext cx="3657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CE1FF"/>
                </a:solidFill>
              </a:rPr>
              <a:t>Por qué: ataca el dato central de la investigación. El 53 % cree que leer es saber y el 91 % rindió mal habiendo estudiado. Sin este ciclo, la app sería otra agenda.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029200" y="17373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QUÉ SE DESARROLLA PRIMERO Y POR QUÉ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0" y="2194560"/>
            <a:ext cx="420624" cy="420624"/>
          </a:xfrm>
          <a:prstGeom prst="ellipse">
            <a:avLst/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0" y="21945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623560" y="212140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1B2E"/>
                </a:solidFill>
              </a:rPr>
              <a:t>Motor del plan y técnicas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321040" y="2121408"/>
            <a:ext cx="33192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068"/>
                </a:solidFill>
              </a:rPr>
              <a:t>Sin plan no hay sesiones: todo lo demás depende de él.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029200" y="2880360"/>
            <a:ext cx="420624" cy="420624"/>
          </a:xfrm>
          <a:prstGeom prst="ellipse">
            <a:avLst/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029200" y="28803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623560" y="280720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1B2E"/>
                </a:solidFill>
              </a:rPr>
              <a:t>Sesión de estudio y preguntas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2807208"/>
            <a:ext cx="33192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068"/>
                </a:solidFill>
              </a:rPr>
              <a:t>Produce el insumo del quiz: las preguntas del estudiante.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29200" y="3566160"/>
            <a:ext cx="420624" cy="420624"/>
          </a:xfrm>
          <a:prstGeom prst="ellipse">
            <a:avLst/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029200" y="35661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623560" y="349300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1B2E"/>
                </a:solidFill>
              </a:rPr>
              <a:t>Quiz y repaso espaciado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321040" y="3493008"/>
            <a:ext cx="33192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068"/>
                </a:solidFill>
              </a:rPr>
              <a:t>Es donde se comprueba la hipótesis del producto.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029200" y="4251960"/>
            <a:ext cx="420624" cy="420624"/>
          </a:xfrm>
          <a:prstGeom prst="ellipse">
            <a:avLst/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029200" y="42519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5623560" y="417880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1B2E"/>
                </a:solidFill>
              </a:rPr>
              <a:t>Progreso leído / dominado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8321040" y="4178808"/>
            <a:ext cx="33192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068"/>
                </a:solidFill>
              </a:rPr>
              <a:t>Hace visible el resultado y sostiene la motivación.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029200" y="4937760"/>
            <a:ext cx="420624" cy="420624"/>
          </a:xfrm>
          <a:prstGeom prst="ellipse">
            <a:avLst/>
          </a:prstGeom>
          <a:solidFill>
            <a:srgbClr val="6B7189"/>
          </a:solidFill>
          <a:ln w="12700">
            <a:solidFill>
              <a:srgbClr val="6B718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029200" y="49377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5623560" y="486460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1B2E"/>
                </a:solidFill>
              </a:rPr>
              <a:t>Diagnóstico y onboarding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8321040" y="4864608"/>
            <a:ext cx="33192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068"/>
                </a:solidFill>
              </a:rPr>
              <a:t>Personaliza el plan; se puede afinar con datos reales.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029200" y="5623560"/>
            <a:ext cx="420624" cy="420624"/>
          </a:xfrm>
          <a:prstGeom prst="ellipse">
            <a:avLst/>
          </a:prstGeom>
          <a:solidFill>
            <a:srgbClr val="6B7189"/>
          </a:solidFill>
          <a:ln w="12700">
            <a:solidFill>
              <a:srgbClr val="6B7189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029200" y="56235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6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5623560" y="555040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1B2E"/>
                </a:solidFill>
              </a:rPr>
              <a:t>Cuenta, ajustes y recordatorios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8321040" y="5550408"/>
            <a:ext cx="33192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068"/>
                </a:solidFill>
              </a:rPr>
              <a:t>Necesarios para publicar, pero no validan la idea.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685800" y="868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A9BBFF"/>
                </a:solidFill>
              </a:rPr>
              <a:t>ETAPA 7 DE 13</a:t>
            </a:r>
            <a:endParaRPr lang="en-US" sz="13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685800" y="1280160"/>
            <a:ext cx="5577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Arquitectura de la información</a:t>
            </a:r>
            <a:endParaRPr lang="en-US" sz="4000" dirty="0"/>
          </a:p>
        </p:txBody>
      </p:sp>
      <p:sp>
        <p:nvSpPr>
          <p:cNvPr id="4" name="Text 2"/>
          <p:cNvSpPr/>
          <p:nvPr>
            <p:ph idx="104" type="body" hasCustomPrompt="1"/>
          </p:nvPr>
        </p:nvSpPr>
        <p:spPr>
          <a:xfrm>
            <a:off x="566928" y="3977640"/>
            <a:ext cx="54864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b="1" dirty="0">
                <a:solidFill>
                  <a:srgbClr val="FFFFFF"/>
                </a:solidFill>
              </a:rPr>
              <a:t>07</a:t>
            </a:r>
            <a:endParaRPr lang="en-US" sz="15000" dirty="0"/>
          </a:p>
        </p:txBody>
      </p:sp>
      <p:sp>
        <p:nvSpPr>
          <p:cNvPr id="5" name="Text 2"/>
          <p:cNvSpPr/>
          <p:nvPr>
            <p:ph idx="105" type="body" hasCustomPrompt="1"/>
          </p:nvPr>
        </p:nvSpPr>
        <p:spPr>
          <a:xfrm>
            <a:off x="7178040" y="1463040"/>
            <a:ext cx="452628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EEF1FF"/>
                </a:solidFill>
              </a:rPr>
              <a:t>✓  Card sorting abierto con 20 tarjetas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EEF1FF"/>
                </a:solidFill>
              </a:rPr>
              <a:t>✓  Introducción, preguntas de segmentación y preguntas finales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EEF1FF"/>
                </a:solidFill>
              </a:rPr>
              <a:t>✓  10 participantes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EEF1FF"/>
                </a:solidFill>
              </a:rPr>
              <a:t>✓  Matriz de similitud y dendrograma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EEF1FF"/>
                </a:solidFill>
              </a:rPr>
              <a:t>✓  Informe: aciertos, errores, correcciones y conclusiones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9BBF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07 · CARD SORTING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Card sorting abierto: cómo lo hicimos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48640" y="1691640"/>
            <a:ext cx="3931920" cy="4526280"/>
          </a:xfrm>
          <a:prstGeom prst="roundRect">
            <a:avLst>
              <a:gd name="adj" fmla="val 2791"/>
            </a:avLst>
          </a:prstGeom>
          <a:solidFill>
            <a:srgbClr val="EEF1FF"/>
          </a:solidFill>
          <a:ln w="12700">
            <a:solidFill>
              <a:srgbClr val="D3DBF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8288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037B0"/>
                </a:solidFill>
              </a:rPr>
              <a:t>INTRODUCCIÓN (LEÍDA A CADA PARTICIPANTE)</a:t>
            </a:r>
            <a:endParaRPr lang="en-US" sz="105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176272"/>
            <a:ext cx="35204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131B2E"/>
                </a:solidFill>
              </a:rPr>
              <a:t>«Gracias por participar. Estamos diseñando una app que ayuda a los estudiantes a organizar y mejorar cómo estudian. Te damos 20 tarjetas con cosas que se pueden hacer en la app. Agrupalas como te parezca lógico y ponele un nombre a cada grupo. No hay respuestas correctas: evaluamos la organización, no a vos. Si podés, pensá en voz alta.»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4663440" y="1691640"/>
            <a:ext cx="3383280" cy="4526280"/>
          </a:xfrm>
          <a:prstGeom prst="roundRect">
            <a:avLst>
              <a:gd name="adj" fmla="val 3243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864608" y="18288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1D4ED8"/>
                </a:solidFill>
              </a:rPr>
              <a:t>PREGUNTAS DE SEGMENTACIÓN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4864608" y="2194560"/>
            <a:ext cx="30175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4A5068"/>
                </a:solidFill>
              </a:rPr>
              <a:t>¿Cuántos años tenés?</a:t>
            </a:r>
            <a:endParaRPr lang="en-US" sz="130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4A5068"/>
                </a:solidFill>
              </a:rPr>
              <a:t>¿Qué carrera estudiás y en qué año estás?</a:t>
            </a:r>
            <a:endParaRPr lang="en-US" sz="130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4A5068"/>
                </a:solidFill>
              </a:rPr>
              <a:t>¿Trabajás además de estudiar?</a:t>
            </a:r>
            <a:endParaRPr lang="en-US" sz="130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4A5068"/>
                </a:solidFill>
              </a:rPr>
              <a:t>¿Usás alguna app para estudiar? ¿Cuál?</a:t>
            </a:r>
            <a:endParaRPr lang="en-US" sz="130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4A5068"/>
                </a:solidFill>
              </a:rPr>
              <a:t>¿Cómo organizás hoy las fechas de los parciales?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8229600" y="1691640"/>
            <a:ext cx="3410712" cy="4526280"/>
          </a:xfrm>
          <a:prstGeom prst="roundRect">
            <a:avLst>
              <a:gd name="adj" fmla="val 3217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430768" y="18288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1D4ED8"/>
                </a:solidFill>
              </a:rPr>
              <a:t>PREGUNTAS FINALES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8430768" y="2194560"/>
            <a:ext cx="30632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4A5068"/>
                </a:solidFill>
              </a:rPr>
              <a:t>¿Qué tarjeta te costó más ubicar? ¿Por qué?</a:t>
            </a:r>
            <a:endParaRPr lang="en-US" sz="130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4A5068"/>
                </a:solidFill>
              </a:rPr>
              <a:t>¿Hubo alguna que pondrías en dos grupos?</a:t>
            </a:r>
            <a:endParaRPr lang="en-US" sz="130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4A5068"/>
                </a:solidFill>
              </a:rPr>
              <a:t>¿Le cambiarías el nombre a alguna tarjeta?</a:t>
            </a:r>
            <a:endParaRPr lang="en-US" sz="130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4A5068"/>
                </a:solidFill>
              </a:rPr>
              <a:t>¿Sentís que falta algo?</a:t>
            </a:r>
            <a:endParaRPr lang="en-US" sz="130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4A5068"/>
                </a:solidFill>
              </a:rPr>
              <a:t>¿Qué grupo mirarías primero al abrir la app?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07 · CARD SORTING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Las 20 tarjetas y los 10 participantes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4630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C9CEDD"/>
            </a:solidFill>
            <a:prstDash val="solid"/>
          </a:ln>
          <a:effectLst>
            <a:outerShdw sx="100000" sy="100000" kx="0" ky="0" algn="bl" rotWithShape="0" blurRad="38100" dist="19050" dir="5400000">
              <a:srgbClr val="131B2E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21792" y="1737360"/>
            <a:ext cx="13167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31B2E"/>
                </a:solidFill>
              </a:rPr>
              <a:t>Registrarse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2121408" y="1737360"/>
            <a:ext cx="14630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C9CEDD"/>
            </a:solidFill>
            <a:prstDash val="solid"/>
          </a:ln>
          <a:effectLst>
            <a:outerShdw sx="100000" sy="100000" kx="0" ky="0" algn="bl" rotWithShape="0" blurRad="38100" dist="19050" dir="5400000">
              <a:srgbClr val="131B2E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2194560" y="1737360"/>
            <a:ext cx="13167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31B2E"/>
                </a:solidFill>
              </a:rPr>
              <a:t>Iniciar / cerrar sesión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694176" y="1737360"/>
            <a:ext cx="14630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C9CEDD"/>
            </a:solidFill>
            <a:prstDash val="solid"/>
          </a:ln>
          <a:effectLst>
            <a:outerShdw sx="100000" sy="100000" kx="0" ky="0" algn="bl" rotWithShape="0" blurRad="38100" dist="19050" dir="5400000">
              <a:srgbClr val="131B2E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767328" y="1737360"/>
            <a:ext cx="13167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31B2E"/>
                </a:solidFill>
              </a:rPr>
              <a:t>Mi perfil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266944" y="1737360"/>
            <a:ext cx="14630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C9CEDD"/>
            </a:solidFill>
            <a:prstDash val="solid"/>
          </a:ln>
          <a:effectLst>
            <a:outerShdw sx="100000" sy="100000" kx="0" ky="0" algn="bl" rotWithShape="0" blurRad="38100" dist="19050" dir="5400000">
              <a:srgbClr val="131B2E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5340096" y="1737360"/>
            <a:ext cx="13167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31B2E"/>
                </a:solidFill>
              </a:rPr>
              <a:t>Ajustes y recordatorios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2633472"/>
            <a:ext cx="14630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C9CEDD"/>
            </a:solidFill>
            <a:prstDash val="solid"/>
          </a:ln>
          <a:effectLst>
            <a:outerShdw sx="100000" sy="100000" kx="0" ky="0" algn="bl" rotWithShape="0" blurRad="38100" dist="19050" dir="5400000">
              <a:srgbClr val="131B2E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21792" y="2633472"/>
            <a:ext cx="13167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31B2E"/>
                </a:solidFill>
              </a:rPr>
              <a:t>Notificaciones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2121408" y="2633472"/>
            <a:ext cx="14630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C9CEDD"/>
            </a:solidFill>
            <a:prstDash val="solid"/>
          </a:ln>
          <a:effectLst>
            <a:outerShdw sx="100000" sy="100000" kx="0" ky="0" algn="bl" rotWithShape="0" blurRad="38100" dist="19050" dir="5400000">
              <a:srgbClr val="131B2E">
                <a:alpha val="12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2194560" y="2633472"/>
            <a:ext cx="13167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31B2E"/>
                </a:solidFill>
              </a:rPr>
              <a:t>Hacer el diagnóstico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3694176" y="2633472"/>
            <a:ext cx="14630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C9CEDD"/>
            </a:solidFill>
            <a:prstDash val="solid"/>
          </a:ln>
          <a:effectLst>
            <a:outerShdw sx="100000" sy="100000" kx="0" ky="0" algn="bl" rotWithShape="0" blurRad="38100" dist="19050" dir="5400000">
              <a:srgbClr val="131B2E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3767328" y="2633472"/>
            <a:ext cx="13167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31B2E"/>
                </a:solidFill>
              </a:rPr>
              <a:t>Agregar materia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266944" y="2633472"/>
            <a:ext cx="14630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C9CEDD"/>
            </a:solidFill>
            <a:prstDash val="solid"/>
          </a:ln>
          <a:effectLst>
            <a:outerShdw sx="100000" sy="100000" kx="0" ky="0" algn="bl" rotWithShape="0" blurRad="38100" dist="19050" dir="5400000">
              <a:srgbClr val="131B2E">
                <a:alpha val="1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5340096" y="2633472"/>
            <a:ext cx="13167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31B2E"/>
                </a:solidFill>
              </a:rPr>
              <a:t>Cargar unidades del programa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3529584"/>
            <a:ext cx="14630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C9CEDD"/>
            </a:solidFill>
            <a:prstDash val="solid"/>
          </a:ln>
          <a:effectLst>
            <a:outerShdw sx="100000" sy="100000" kx="0" ky="0" algn="bl" rotWithShape="0" blurRad="38100" dist="19050" dir="5400000">
              <a:srgbClr val="131B2E">
                <a:alpha val="1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621792" y="3529584"/>
            <a:ext cx="13167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31B2E"/>
                </a:solidFill>
              </a:rPr>
              <a:t>Fecha del parcial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2121408" y="3529584"/>
            <a:ext cx="14630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C9CEDD"/>
            </a:solidFill>
            <a:prstDash val="solid"/>
          </a:ln>
          <a:effectLst>
            <a:outerShdw sx="100000" sy="100000" kx="0" ky="0" algn="bl" rotWithShape="0" blurRad="38100" dist="19050" dir="5400000">
              <a:srgbClr val="131B2E">
                <a:alpha val="12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2194560" y="3529584"/>
            <a:ext cx="13167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31B2E"/>
                </a:solidFill>
              </a:rPr>
              <a:t>Ver mi plan de estudio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3694176" y="3529584"/>
            <a:ext cx="14630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C9CEDD"/>
            </a:solidFill>
            <a:prstDash val="solid"/>
          </a:ln>
          <a:effectLst>
            <a:outerShdw sx="100000" sy="100000" kx="0" ky="0" algn="bl" rotWithShape="0" blurRad="38100" dist="19050" dir="5400000">
              <a:srgbClr val="131B2E">
                <a:alpha val="12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3767328" y="3529584"/>
            <a:ext cx="13167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31B2E"/>
                </a:solidFill>
              </a:rPr>
              <a:t>Calendario semanal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266944" y="3529584"/>
            <a:ext cx="14630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C9CEDD"/>
            </a:solidFill>
            <a:prstDash val="solid"/>
          </a:ln>
          <a:effectLst>
            <a:outerShdw sx="100000" sy="100000" kx="0" ky="0" algn="bl" rotWithShape="0" blurRad="38100" dist="19050" dir="5400000">
              <a:srgbClr val="131B2E">
                <a:alpha val="12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5340096" y="3529584"/>
            <a:ext cx="13167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31B2E"/>
                </a:solidFill>
              </a:rPr>
              <a:t>Reprogramar sesión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48640" y="4425696"/>
            <a:ext cx="14630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C9CEDD"/>
            </a:solidFill>
            <a:prstDash val="solid"/>
          </a:ln>
          <a:effectLst>
            <a:outerShdw sx="100000" sy="100000" kx="0" ky="0" algn="bl" rotWithShape="0" blurRad="38100" dist="19050" dir="5400000">
              <a:srgbClr val="131B2E">
                <a:alpha val="12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621792" y="4425696"/>
            <a:ext cx="13167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31B2E"/>
                </a:solidFill>
              </a:rPr>
              <a:t>Empezar sesión de estudio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2121408" y="4425696"/>
            <a:ext cx="14630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C9CEDD"/>
            </a:solidFill>
            <a:prstDash val="solid"/>
          </a:ln>
          <a:effectLst>
            <a:outerShdw sx="100000" sy="100000" kx="0" ky="0" algn="bl" rotWithShape="0" blurRad="38100" dist="19050" dir="5400000">
              <a:srgbClr val="131B2E">
                <a:alpha val="12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2194560" y="4425696"/>
            <a:ext cx="13167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31B2E"/>
                </a:solidFill>
              </a:rPr>
              <a:t>Pausar cronómetro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3694176" y="4425696"/>
            <a:ext cx="14630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C9CEDD"/>
            </a:solidFill>
            <a:prstDash val="solid"/>
          </a:ln>
          <a:effectLst>
            <a:outerShdw sx="100000" sy="100000" kx="0" ky="0" algn="bl" rotWithShape="0" blurRad="38100" dist="19050" dir="5400000">
              <a:srgbClr val="131B2E">
                <a:alpha val="12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3767328" y="4425696"/>
            <a:ext cx="13167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31B2E"/>
                </a:solidFill>
              </a:rPr>
              <a:t>Escribir preguntas de repaso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5266944" y="4425696"/>
            <a:ext cx="14630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C9CEDD"/>
            </a:solidFill>
            <a:prstDash val="solid"/>
          </a:ln>
          <a:effectLst>
            <a:outerShdw sx="100000" sy="100000" kx="0" ky="0" algn="bl" rotWithShape="0" blurRad="38100" dist="19050" dir="5400000">
              <a:srgbClr val="131B2E">
                <a:alpha val="12000"/>
              </a:srgbClr>
            </a:outerShdw>
          </a:effectLst>
        </p:spPr>
      </p:sp>
      <p:sp>
        <p:nvSpPr>
          <p:cNvPr id="35" name="Text 33"/>
          <p:cNvSpPr txBox="1"/>
          <p:nvPr/>
        </p:nvSpPr>
        <p:spPr>
          <a:xfrm>
            <a:off x="5340096" y="4425696"/>
            <a:ext cx="13167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31B2E"/>
                </a:solidFill>
              </a:rPr>
              <a:t>Técnicas de estudio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548640" y="5321808"/>
            <a:ext cx="14630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C9CEDD"/>
            </a:solidFill>
            <a:prstDash val="solid"/>
          </a:ln>
          <a:effectLst>
            <a:outerShdw sx="100000" sy="100000" kx="0" ky="0" algn="bl" rotWithShape="0" blurRad="38100" dist="19050" dir="5400000">
              <a:srgbClr val="131B2E">
                <a:alpha val="12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621792" y="5321808"/>
            <a:ext cx="13167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31B2E"/>
                </a:solidFill>
              </a:rPr>
              <a:t>Repasar preguntas (quiz)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2121408" y="5321808"/>
            <a:ext cx="14630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C9CEDD"/>
            </a:solidFill>
            <a:prstDash val="solid"/>
          </a:ln>
          <a:effectLst>
            <a:outerShdw sx="100000" sy="100000" kx="0" ky="0" algn="bl" rotWithShape="0" blurRad="38100" dist="19050" dir="5400000">
              <a:srgbClr val="131B2E">
                <a:alpha val="12000"/>
              </a:srgbClr>
            </a:outerShdw>
          </a:effectLst>
        </p:spPr>
      </p:sp>
      <p:sp>
        <p:nvSpPr>
          <p:cNvPr id="39" name="Text 37"/>
          <p:cNvSpPr txBox="1"/>
          <p:nvPr/>
        </p:nvSpPr>
        <p:spPr>
          <a:xfrm>
            <a:off x="2194560" y="5321808"/>
            <a:ext cx="13167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31B2E"/>
                </a:solidFill>
              </a:rPr>
              <a:t>Calificar cómo me acordaba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3694176" y="5321808"/>
            <a:ext cx="14630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C9CEDD"/>
            </a:solidFill>
            <a:prstDash val="solid"/>
          </a:ln>
          <a:effectLst>
            <a:outerShdw sx="100000" sy="100000" kx="0" ky="0" algn="bl" rotWithShape="0" blurRad="38100" dist="19050" dir="5400000">
              <a:srgbClr val="131B2E">
                <a:alpha val="12000"/>
              </a:srgbClr>
            </a:outerShdw>
          </a:effectLst>
        </p:spPr>
      </p:sp>
      <p:sp>
        <p:nvSpPr>
          <p:cNvPr id="41" name="Text 39"/>
          <p:cNvSpPr txBox="1"/>
          <p:nvPr/>
        </p:nvSpPr>
        <p:spPr>
          <a:xfrm>
            <a:off x="3767328" y="5321808"/>
            <a:ext cx="13167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31B2E"/>
                </a:solidFill>
              </a:rPr>
              <a:t>Ver progreso de la materia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5266944" y="5321808"/>
            <a:ext cx="14630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C9CEDD"/>
            </a:solidFill>
            <a:prstDash val="solid"/>
          </a:ln>
          <a:effectLst>
            <a:outerShdw sx="100000" sy="100000" kx="0" ky="0" algn="bl" rotWithShape="0" blurRad="38100" dist="19050" dir="5400000">
              <a:srgbClr val="131B2E">
                <a:alpha val="12000"/>
              </a:srgbClr>
            </a:outerShdw>
          </a:effectLst>
        </p:spPr>
      </p:sp>
      <p:sp>
        <p:nvSpPr>
          <p:cNvPr id="43" name="Text 41"/>
          <p:cNvSpPr txBox="1"/>
          <p:nvPr/>
        </p:nvSpPr>
        <p:spPr>
          <a:xfrm>
            <a:off x="5340096" y="5321808"/>
            <a:ext cx="13167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31B2E"/>
                </a:solidFill>
              </a:rPr>
              <a:t>Temas leídos y dominados</a:t>
            </a:r>
            <a:endParaRPr lang="en-US" sz="115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86600" y="1737360"/>
          <a:ext cx="4553712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1097280"/>
                <a:gridCol w="594360"/>
                <a:gridCol w="2359152"/>
              </a:tblGrid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31B2E"/>
                          </a:solidFill>
                        </a:rPr>
                        <a:t>Participante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31B2E"/>
                          </a:solidFill>
                        </a:rPr>
                        <a:t>Edad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31B2E"/>
                          </a:solidFill>
                        </a:rPr>
                        <a:t>Carrera y año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068"/>
                          </a:solidFill>
                        </a:rPr>
                        <a:t>P1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068"/>
                          </a:solidFill>
                        </a:rPr>
                        <a:t>Lucía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068"/>
                          </a:solidFill>
                        </a:rPr>
                        <a:t>19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068"/>
                          </a:solidFill>
                        </a:rPr>
                        <a:t>Ing. Industrial, 1.º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068"/>
                          </a:solidFill>
                        </a:rPr>
                        <a:t>P2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068"/>
                          </a:solidFill>
                        </a:rPr>
                        <a:t>Mateo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068"/>
                          </a:solidFill>
                        </a:rPr>
                        <a:t>18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068"/>
                          </a:solidFill>
                        </a:rPr>
                        <a:t>Ing. en Sistemas, 1.º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068"/>
                          </a:solidFill>
                        </a:rPr>
                        <a:t>P3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068"/>
                          </a:solidFill>
                        </a:rPr>
                        <a:t>Agustina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068"/>
                          </a:solidFill>
                        </a:rPr>
                        <a:t>20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068"/>
                          </a:solidFill>
                        </a:rPr>
                        <a:t>Ing. Civil, 2.º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068"/>
                          </a:solidFill>
                        </a:rPr>
                        <a:t>P4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068"/>
                          </a:solidFill>
                        </a:rPr>
                        <a:t>Franco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068"/>
                          </a:solidFill>
                        </a:rPr>
                        <a:t>23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068"/>
                          </a:solidFill>
                        </a:rPr>
                        <a:t>Contador Público, 2.º · trabaja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068"/>
                          </a:solidFill>
                        </a:rPr>
                        <a:t>P5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068"/>
                          </a:solidFill>
                        </a:rPr>
                        <a:t>Sofía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068"/>
                          </a:solidFill>
                        </a:rPr>
                        <a:t>19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068"/>
                          </a:solidFill>
                        </a:rPr>
                        <a:t>Arquitectura, 1.º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068"/>
                          </a:solidFill>
                        </a:rPr>
                        <a:t>P6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068"/>
                          </a:solidFill>
                        </a:rPr>
                        <a:t>Tobías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068"/>
                          </a:solidFill>
                        </a:rPr>
                        <a:t>18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068"/>
                          </a:solidFill>
                        </a:rPr>
                        <a:t>Ing. Electromecánica, 1.º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068"/>
                          </a:solidFill>
                        </a:rPr>
                        <a:t>P7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068"/>
                          </a:solidFill>
                        </a:rPr>
                        <a:t>Valentina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068"/>
                          </a:solidFill>
                        </a:rPr>
                        <a:t>21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068"/>
                          </a:solidFill>
                        </a:rPr>
                        <a:t>Ing. Química, 2.º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068"/>
                          </a:solidFill>
                        </a:rPr>
                        <a:t>P8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068"/>
                          </a:solidFill>
                        </a:rPr>
                        <a:t>Joaquín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068"/>
                          </a:solidFill>
                        </a:rPr>
                        <a:t>19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068"/>
                          </a:solidFill>
                        </a:rPr>
                        <a:t>Ing. en Sistemas, 1.º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068"/>
                          </a:solidFill>
                        </a:rPr>
                        <a:t>P9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068"/>
                          </a:solidFill>
                        </a:rPr>
                        <a:t>Martina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068"/>
                          </a:solidFill>
                        </a:rPr>
                        <a:t>24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068"/>
                          </a:solidFill>
                        </a:rPr>
                        <a:t>Contador Público, 2.º · trabaja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068"/>
                          </a:solidFill>
                        </a:rPr>
                        <a:t>P10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068"/>
                          </a:solidFill>
                        </a:rPr>
                        <a:t>Bruno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068"/>
                          </a:solidFill>
                        </a:rPr>
                        <a:t>20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068"/>
                          </a:solidFill>
                        </a:rPr>
                        <a:t>Ing. Civil, 1.º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07 · CARD SORTING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Los grupos que armaron los participantes</a:t>
            </a:r>
            <a:endParaRPr lang="en-US" sz="30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7400"/>
          <a:ext cx="1109167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749040"/>
                <a:gridCol w="1463040"/>
                <a:gridCol w="386791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31B2E"/>
                          </a:solidFill>
                        </a:rPr>
                        <a:t>Grupo estandarizado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31B2E"/>
                          </a:solidFill>
                        </a:rPr>
                        <a:t>Nombres que usaron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31B2E"/>
                          </a:solidFill>
                        </a:rPr>
                        <a:t>Participantes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31B2E"/>
                          </a:solidFill>
                        </a:rPr>
                        <a:t>Tarjetas núcleo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068"/>
                          </a:solidFill>
                        </a:rPr>
                        <a:t>Cuenta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068"/>
                          </a:solidFill>
                        </a:rPr>
                        <a:t>«Mi cuenta», «Perfil», «Configuración»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068"/>
                          </a:solidFill>
                        </a:rPr>
                        <a:t>10 de 10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068"/>
                          </a:solidFill>
                        </a:rPr>
                        <a:t>Registrarse, Iniciar sesión, Mi perfil, Ajustes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068"/>
                          </a:solidFill>
                        </a:rPr>
                        <a:t>Materias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068"/>
                          </a:solidFill>
                        </a:rPr>
                        <a:t>«Mis materias», «Cursada», «Cargar datos»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068"/>
                          </a:solidFill>
                        </a:rPr>
                        <a:t>9 de 10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068"/>
                          </a:solidFill>
                        </a:rPr>
                        <a:t>Agregar materia, Cargar unidades, Fecha del parcial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068"/>
                          </a:solidFill>
                        </a:rPr>
                        <a:t>Plan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068"/>
                          </a:solidFill>
                        </a:rPr>
                        <a:t>«Organización», «Calendario», «Mi plan»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068"/>
                          </a:solidFill>
                        </a:rPr>
                        <a:t>10 de 10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068"/>
                          </a:solidFill>
                        </a:rPr>
                        <a:t>Ver mi plan, Calendario semanal, Reprogramar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068"/>
                          </a:solidFill>
                        </a:rPr>
                        <a:t>Estudiar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068"/>
                          </a:solidFill>
                        </a:rPr>
                        <a:t>«Estudiar», «Sesión», «Ahora»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068"/>
                          </a:solidFill>
                        </a:rPr>
                        <a:t>10 de 10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068"/>
                          </a:solidFill>
                        </a:rPr>
                        <a:t>Empezar sesión, Pausar cronómetro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068"/>
                          </a:solidFill>
                        </a:rPr>
                        <a:t>Repasar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068"/>
                          </a:solidFill>
                        </a:rPr>
                        <a:t>«Repaso», «Quiz», «Practicar»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068"/>
                          </a:solidFill>
                        </a:rPr>
                        <a:t>9 de 10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068"/>
                          </a:solidFill>
                        </a:rPr>
                        <a:t>Repasar preguntas, Calificar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068"/>
                          </a:solidFill>
                        </a:rPr>
                        <a:t>Progreso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068"/>
                          </a:solidFill>
                        </a:rPr>
                        <a:t>«Mis avances», «Progreso», «Resultados»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068"/>
                          </a:solidFill>
                        </a:rPr>
                        <a:t>8 de 10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068"/>
                          </a:solidFill>
                        </a:rPr>
                        <a:t>Ver progreso, Temas leídos y dominados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07 · CARD SORTING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Matriz de similitud: qué tarjetas se agruparon juntas</a:t>
            </a:r>
            <a:endParaRPr lang="en-US" sz="3000" dirty="0"/>
          </a:p>
        </p:txBody>
      </p:sp>
      <p:pic>
        <p:nvPicPr>
          <p:cNvPr id="4" name="Image 0" descr="/home/claude/deck/v/matriz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4934002" cy="46177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498080" y="1783080"/>
            <a:ext cx="4142232" cy="4434840"/>
          </a:xfrm>
          <a:prstGeom prst="roundRect">
            <a:avLst>
              <a:gd name="adj" fmla="val 2649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26680" y="19385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D4ED8"/>
                </a:solidFill>
              </a:rPr>
              <a:t>CÓMO SE LEE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7726680" y="2240280"/>
            <a:ext cx="3703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068"/>
                </a:solidFill>
              </a:rPr>
              <a:t>Cada celda es el porcentaje de participantes que puso esas dos tarjetas en el mismo grupo. Más oscuro, más acuerdo.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726680" y="3200400"/>
            <a:ext cx="37033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131B2E"/>
                </a:solidFill>
              </a:rPr>
              <a:t>100 %: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A5068"/>
                </a:solidFill>
              </a:rPr>
              <a:t>Registrarse con Iniciar sesión, Agregar materia con Cargar unidades, Empezar sesión con Pausar, Ver progreso con Temas dominados.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131B2E"/>
                </a:solidFill>
              </a:rPr>
              <a:t>90 %: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A5068"/>
                </a:solidFill>
              </a:rPr>
              <a:t>Ver mi plan con Calendario semanal.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131B2E"/>
                </a:solidFill>
              </a:rPr>
              <a:t>Divididas: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A5068"/>
                </a:solidFill>
              </a:rPr>
              <a:t>Hacer el diagnóstico (60 / 40), Técnicas de estudio (50 / 40 / 10) y Escribir preguntas (60 / 40).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07 · CARD SORTING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Dendrograma: seis grupos naturales</a:t>
            </a:r>
            <a:endParaRPr lang="en-US" sz="3000" dirty="0"/>
          </a:p>
        </p:txBody>
      </p:sp>
      <p:pic>
        <p:nvPicPr>
          <p:cNvPr id="4" name="Image 0" descr="/home/claude/deck/v/dend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7663166" cy="46634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686800" y="17830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D4ED8"/>
                </a:solidFill>
              </a:rPr>
              <a:t>GRUPOS AL CORTAR EN 30 % DE SIMILITUD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8686800" y="2423160"/>
            <a:ext cx="201168" cy="201168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006840" y="233172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1B2E"/>
                </a:solidFill>
              </a:rPr>
              <a:t>Progreso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686800" y="2898648"/>
            <a:ext cx="201168" cy="201168"/>
          </a:xfrm>
          <a:prstGeom prst="ellipse">
            <a:avLst/>
          </a:prstGeom>
          <a:solidFill>
            <a:srgbClr val="006C49"/>
          </a:solidFill>
          <a:ln w="12700">
            <a:solidFill>
              <a:srgbClr val="006C4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006840" y="280720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1B2E"/>
                </a:solidFill>
              </a:rPr>
              <a:t>Repasar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8686800" y="3374136"/>
            <a:ext cx="201168" cy="201168"/>
          </a:xfrm>
          <a:prstGeom prst="ellipse">
            <a:avLst/>
          </a:prstGeom>
          <a:solidFill>
            <a:srgbClr val="825100"/>
          </a:solidFill>
          <a:ln w="12700">
            <a:solidFill>
              <a:srgbClr val="82510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006840" y="3282696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1B2E"/>
                </a:solidFill>
              </a:rPr>
              <a:t>Estudiar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8686800" y="3849624"/>
            <a:ext cx="201168" cy="201168"/>
          </a:xfrm>
          <a:prstGeom prst="ellipse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9006840" y="375818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1B2E"/>
                </a:solidFill>
              </a:rPr>
              <a:t>Plan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686800" y="4325112"/>
            <a:ext cx="201168" cy="201168"/>
          </a:xfrm>
          <a:prstGeom prst="ellipse">
            <a:avLst/>
          </a:prstGeom>
          <a:solidFill>
            <a:srgbClr val="BA1A1A"/>
          </a:solidFill>
          <a:ln w="12700">
            <a:solidFill>
              <a:srgbClr val="BA1A1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006840" y="4233672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1B2E"/>
                </a:solidFill>
              </a:rPr>
              <a:t>Cuenta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686800" y="4800600"/>
            <a:ext cx="201168" cy="201168"/>
          </a:xfrm>
          <a:prstGeom prst="ellipse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9006840" y="470916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1B2E"/>
                </a:solidFill>
              </a:rPr>
              <a:t>Materias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8686800" y="525780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189"/>
                </a:solidFill>
              </a:rPr>
              <a:t>Agrupamiento jerárquico por enlace promedio sobre la matriz de similitud.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07 · INFORME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Informe del card sorting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651760" cy="4480560"/>
          </a:xfrm>
          <a:prstGeom prst="roundRect">
            <a:avLst>
              <a:gd name="adj" fmla="val 4138"/>
            </a:avLst>
          </a:prstGeom>
          <a:solidFill>
            <a:srgbClr val="E3FBEF"/>
          </a:solidFill>
          <a:ln w="12700">
            <a:solidFill>
              <a:srgbClr val="BFEED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9808" y="19019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6C49"/>
                </a:solidFill>
              </a:rPr>
              <a:t>ACIERTOS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286000"/>
            <a:ext cx="22860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31B2E"/>
                </a:solidFill>
              </a:rPr>
              <a:t>Los 6 grupos coinciden con la navegación propuesta.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31B2E"/>
                </a:solidFill>
              </a:rPr>
              <a:t>Los pares obvios se agruparon al 100 %.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31B2E"/>
                </a:solidFill>
              </a:rPr>
              <a:t>Nadie mezcló estudiar con repasar en una sola sección: hay dos momentos distintos.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364992" y="1737360"/>
            <a:ext cx="2651760" cy="4480560"/>
          </a:xfrm>
          <a:prstGeom prst="roundRect">
            <a:avLst>
              <a:gd name="adj" fmla="val 4138"/>
            </a:avLst>
          </a:prstGeom>
          <a:solidFill>
            <a:srgbClr val="FFECEB"/>
          </a:solidFill>
          <a:ln w="12700">
            <a:solidFill>
              <a:srgbClr val="F7C9C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66160" y="19019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A1A1A"/>
                </a:solidFill>
              </a:rPr>
              <a:t>ERRORES Y AMBIGÜEDADES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566160" y="2286000"/>
            <a:ext cx="22860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31B2E"/>
                </a:solidFill>
              </a:rPr>
              <a:t>«Hacer el diagnóstico» quedó entre Materias y Cuenta.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31B2E"/>
                </a:solidFill>
              </a:rPr>
              <a:t>«Técnicas de estudio» se repartió en tres grupos.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31B2E"/>
                </a:solidFill>
              </a:rPr>
              <a:t>«Escribir preguntas»: 6 en Estudiar y 4 en Repasar.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31B2E"/>
                </a:solidFill>
              </a:rPr>
              <a:t>«Notificaciones»: 7 en Cuenta y 3 en Plan.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81344" y="1737360"/>
            <a:ext cx="2651760" cy="4480560"/>
          </a:xfrm>
          <a:prstGeom prst="roundRect">
            <a:avLst>
              <a:gd name="adj" fmla="val 4138"/>
            </a:avLst>
          </a:prstGeom>
          <a:solidFill>
            <a:srgbClr val="EEF1FF"/>
          </a:solidFill>
          <a:ln w="12700">
            <a:solidFill>
              <a:srgbClr val="D3DB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82512" y="19019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37B0"/>
                </a:solidFill>
              </a:rPr>
              <a:t>CORRECCIONES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382512" y="2286000"/>
            <a:ext cx="22860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31B2E"/>
                </a:solidFill>
              </a:rPr>
              <a:t>El diagnóstico pasa al onboarding y queda en Perfil › Mi diagnóstico.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31B2E"/>
                </a:solidFill>
              </a:rPr>
              <a:t>Las técnicas se explican dentro de cada sesión y además en Perfil.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31B2E"/>
                </a:solidFill>
              </a:rPr>
              <a:t>Las preguntas se escriben al cerrar la sesión y se repasan en Quizzes.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31B2E"/>
                </a:solidFill>
              </a:rPr>
              <a:t>Notificaciones como campana en el HOME.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997696" y="1737360"/>
            <a:ext cx="2651760" cy="4480560"/>
          </a:xfrm>
          <a:prstGeom prst="roundRect">
            <a:avLst>
              <a:gd name="adj" fmla="val 4138"/>
            </a:avLst>
          </a:prstGeom>
          <a:solidFill>
            <a:srgbClr val="FFF4E8"/>
          </a:solidFill>
          <a:ln w="12700">
            <a:solidFill>
              <a:srgbClr val="F6D9B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98864" y="19019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25100"/>
                </a:solidFill>
              </a:rPr>
              <a:t>CONCLUSIONES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198864" y="2286000"/>
            <a:ext cx="22860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31B2E"/>
                </a:solidFill>
              </a:rPr>
              <a:t>La barra inferior queda con 5 destinos: Inicio, Calendario, Quizzes, Progreso y Perfil.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31B2E"/>
                </a:solidFill>
              </a:rPr>
              <a:t>Materias vive en Perfil y se crea desde el HOME.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31B2E"/>
                </a:solidFill>
              </a:rPr>
              <a:t>La sesión de estudio es un flujo, no una pestaña.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685800" y="868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A9BBFF"/>
                </a:solidFill>
              </a:rPr>
              <a:t>ETAPA 8 DE 13</a:t>
            </a:r>
            <a:endParaRPr lang="en-US" sz="13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685800" y="1280160"/>
            <a:ext cx="5577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Mapa de sitio</a:t>
            </a:r>
            <a:endParaRPr lang="en-US" sz="4000" dirty="0"/>
          </a:p>
        </p:txBody>
      </p:sp>
      <p:sp>
        <p:nvSpPr>
          <p:cNvPr id="4" name="Text 2"/>
          <p:cNvSpPr/>
          <p:nvPr>
            <p:ph idx="104" type="body" hasCustomPrompt="1"/>
          </p:nvPr>
        </p:nvSpPr>
        <p:spPr>
          <a:xfrm>
            <a:off x="566928" y="3977640"/>
            <a:ext cx="54864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b="1" dirty="0">
                <a:solidFill>
                  <a:srgbClr val="FFFFFF"/>
                </a:solidFill>
              </a:rPr>
              <a:t>08</a:t>
            </a:r>
            <a:endParaRPr lang="en-US" sz="15000" dirty="0"/>
          </a:p>
        </p:txBody>
      </p:sp>
      <p:sp>
        <p:nvSpPr>
          <p:cNvPr id="5" name="Text 2"/>
          <p:cNvSpPr/>
          <p:nvPr>
            <p:ph idx="105" type="body" hasCustomPrompt="1"/>
          </p:nvPr>
        </p:nvSpPr>
        <p:spPr>
          <a:xfrm>
            <a:off x="7178040" y="1463040"/>
            <a:ext cx="452628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EEF1FF"/>
                </a:solidFill>
              </a:rPr>
              <a:t>✓  Mapa vertical que nace en el HOME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EEF1FF"/>
                </a:solidFill>
              </a:rPr>
              <a:t>✓  Categorías → subcategorías → tareas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EEF1FF"/>
                </a:solidFill>
              </a:rPr>
              <a:t>✓  Basado en los grupos del card sorting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9BBF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08 · MAPA DE SITIO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Mapa de sitio: del HOME a cada tarea</a:t>
            </a:r>
            <a:endParaRPr lang="en-US" sz="3000" dirty="0"/>
          </a:p>
        </p:txBody>
      </p:sp>
      <p:pic>
        <p:nvPicPr>
          <p:cNvPr id="4" name="Image 0" descr="/home/claude/deck/v/site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8210" y="1371600"/>
            <a:ext cx="9792532" cy="4937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685800" y="868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A9BBFF"/>
                </a:solidFill>
              </a:rPr>
              <a:t>ETAPA 9 DE 13</a:t>
            </a:r>
            <a:endParaRPr lang="en-US" sz="13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685800" y="1280160"/>
            <a:ext cx="5577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Wireframes</a:t>
            </a:r>
            <a:endParaRPr lang="en-US" sz="4000" dirty="0"/>
          </a:p>
        </p:txBody>
      </p:sp>
      <p:sp>
        <p:nvSpPr>
          <p:cNvPr id="4" name="Text 2"/>
          <p:cNvSpPr/>
          <p:nvPr>
            <p:ph idx="104" type="body" hasCustomPrompt="1"/>
          </p:nvPr>
        </p:nvSpPr>
        <p:spPr>
          <a:xfrm>
            <a:off x="566928" y="3977640"/>
            <a:ext cx="54864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b="1" dirty="0">
                <a:solidFill>
                  <a:srgbClr val="FFFFFF"/>
                </a:solidFill>
              </a:rPr>
              <a:t>09</a:t>
            </a:r>
            <a:endParaRPr lang="en-US" sz="15000" dirty="0"/>
          </a:p>
        </p:txBody>
      </p:sp>
      <p:sp>
        <p:nvSpPr>
          <p:cNvPr id="5" name="Text 2"/>
          <p:cNvSpPr/>
          <p:nvPr>
            <p:ph idx="105" type="body" hasCustomPrompt="1"/>
          </p:nvPr>
        </p:nvSpPr>
        <p:spPr>
          <a:xfrm>
            <a:off x="7178040" y="1463040"/>
            <a:ext cx="452628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EEF1FF"/>
                </a:solidFill>
              </a:rPr>
              <a:t>✓  Bocetos a mano del happy path, desde Registrarse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EEF1FF"/>
                </a:solidFill>
              </a:rPr>
              <a:t>✓  Wireframes digitales de baja fidelidad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EEF1FF"/>
                </a:solidFill>
              </a:rPr>
              <a:t>✓  En escala de grises, sin texto específico ni imágenes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9BBF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09 · BOCETOS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Bocetos del happy path (1 de 2): de Registrarse al plan</a:t>
            </a:r>
            <a:endParaRPr lang="en-US" sz="3000" dirty="0"/>
          </a:p>
        </p:txBody>
      </p:sp>
      <p:pic>
        <p:nvPicPr>
          <p:cNvPr id="4" name="Image 0" descr="/home/claude/deck/v/hoja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17810"/>
            <a:ext cx="11091672" cy="36624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594360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A5068"/>
                </a:solidFill>
              </a:rPr>
              <a:t>Registrarse  →  Diagnóstico  →  Perfil de estudio  →  Nueva materia  →  Unidades  →  Plan listo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09 · BOCETOS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Bocetos del happy path (2 de 2): del HOME al progreso</a:t>
            </a:r>
            <a:endParaRPr lang="en-US" sz="3000" dirty="0"/>
          </a:p>
        </p:txBody>
      </p:sp>
      <p:pic>
        <p:nvPicPr>
          <p:cNvPr id="4" name="Image 0" descr="/home/claude/deck/v/hoja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17810"/>
            <a:ext cx="11091672" cy="36624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594360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A5068"/>
                </a:solidFill>
              </a:rPr>
              <a:t>HOME  →  Calendario  →  Sesión activa  →  Preguntas  →  Quiz  →  Progreso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09 · WIREFRAMES DIGITALES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Wireframes de baja fidelidad (1 de 2)</a:t>
            </a:r>
            <a:endParaRPr lang="en-US" sz="3000" dirty="0"/>
          </a:p>
        </p:txBody>
      </p:sp>
      <p:pic>
        <p:nvPicPr>
          <p:cNvPr id="4" name="Image 0" descr="/home/claude/deck/v/wfs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42629"/>
            <a:ext cx="11091672" cy="361282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594360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A5068"/>
                </a:solidFill>
              </a:rPr>
              <a:t>Registrarse  →  Diagnóstico  →  Perfil de estudio  →  Nueva materia  →  Unidades  →  Plan listo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09 · WIREFRAMES DIGITALES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Wireframes de baja fidelidad (2 de 2)</a:t>
            </a:r>
            <a:endParaRPr lang="en-US" sz="3000" dirty="0"/>
          </a:p>
        </p:txBody>
      </p:sp>
      <p:pic>
        <p:nvPicPr>
          <p:cNvPr id="4" name="Image 0" descr="/home/claude/deck/v/wfs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39541"/>
            <a:ext cx="11091672" cy="361899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594360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A5068"/>
                </a:solidFill>
              </a:rPr>
              <a:t>HOME  →  Calendario  →  Sesión activa  →  Preguntas  →  Quiz  →  Progreso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685800" y="868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A9BBFF"/>
                </a:solidFill>
              </a:rPr>
              <a:t>ETAPA 10 DE 13</a:t>
            </a:r>
            <a:endParaRPr lang="en-US" sz="13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685800" y="1280160"/>
            <a:ext cx="5577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Patrones de diseño</a:t>
            </a:r>
            <a:endParaRPr lang="en-US" sz="4000" dirty="0"/>
          </a:p>
        </p:txBody>
      </p:sp>
      <p:sp>
        <p:nvSpPr>
          <p:cNvPr id="4" name="Text 2"/>
          <p:cNvSpPr/>
          <p:nvPr>
            <p:ph idx="104" type="body" hasCustomPrompt="1"/>
          </p:nvPr>
        </p:nvSpPr>
        <p:spPr>
          <a:xfrm>
            <a:off x="566928" y="3977640"/>
            <a:ext cx="54864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b="1" dirty="0">
                <a:solidFill>
                  <a:srgbClr val="FFFFFF"/>
                </a:solidFill>
              </a:rPr>
              <a:t>10</a:t>
            </a:r>
            <a:endParaRPr lang="en-US" sz="15000" dirty="0"/>
          </a:p>
        </p:txBody>
      </p:sp>
      <p:sp>
        <p:nvSpPr>
          <p:cNvPr id="5" name="Text 2"/>
          <p:cNvSpPr/>
          <p:nvPr>
            <p:ph idx="105" type="body" hasCustomPrompt="1"/>
          </p:nvPr>
        </p:nvSpPr>
        <p:spPr>
          <a:xfrm>
            <a:off x="7178040" y="1463040"/>
            <a:ext cx="452628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EEF1FF"/>
                </a:solidFill>
              </a:rPr>
              <a:t>✓  Patrones de navegación e interacción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EEF1FF"/>
                </a:solidFill>
              </a:rPr>
              <a:t>✓  Componentes de Material Design 3 (Android)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EEF1FF"/>
                </a:solidFill>
              </a:rPr>
              <a:t>✓  Marcados sobre una copia de los wireframes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9BBF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10 · PATRONES DE DISEÑO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Patrones en Registrarse, HOME y Sesión activa</a:t>
            </a:r>
            <a:endParaRPr lang="en-US" sz="3000" dirty="0"/>
          </a:p>
        </p:txBody>
      </p:sp>
      <p:pic>
        <p:nvPicPr>
          <p:cNvPr id="4" name="Image 0" descr="/home/claude/deck/v/pa_regist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825438"/>
            <a:ext cx="2057400" cy="389292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02920" y="594360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A5068"/>
                </a:solidFill>
              </a:rPr>
              <a:t>Registrarse</a:t>
            </a:r>
            <a:endParaRPr lang="en-US" sz="1200" dirty="0"/>
          </a:p>
        </p:txBody>
      </p:sp>
      <p:pic>
        <p:nvPicPr>
          <p:cNvPr id="6" name="Image 1" descr="/home/claude/deck/v/pa_inici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760" y="1825438"/>
            <a:ext cx="2057400" cy="3892924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651760" y="594360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A5068"/>
                </a:solidFill>
              </a:rPr>
              <a:t>HOME</a:t>
            </a:r>
            <a:endParaRPr lang="en-US" sz="1200" dirty="0"/>
          </a:p>
        </p:txBody>
      </p:sp>
      <p:pic>
        <p:nvPicPr>
          <p:cNvPr id="8" name="Image 2" descr="/home/claude/deck/v/pa_activ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1825438"/>
            <a:ext cx="2057400" cy="3892924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4800600" y="594360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A5068"/>
                </a:solidFill>
              </a:rPr>
              <a:t>Sesión activa</a:t>
            </a:r>
            <a:endParaRPr lang="en-US" sz="1200" dirty="0"/>
          </a:p>
        </p:txBody>
      </p:sp>
      <p:sp>
        <p:nvSpPr>
          <p:cNvPr id="10" name="Text 5"/>
          <p:cNvSpPr txBox="1"/>
          <p:nvPr/>
        </p:nvSpPr>
        <p:spPr>
          <a:xfrm>
            <a:off x="7086600" y="169164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D4ED8"/>
                </a:solidFill>
              </a:rPr>
              <a:t>REGISTRARSE</a:t>
            </a:r>
            <a:endParaRPr lang="en-US" sz="1000" dirty="0"/>
          </a:p>
        </p:txBody>
      </p:sp>
      <p:sp>
        <p:nvSpPr>
          <p:cNvPr id="11" name="Shape 6"/>
          <p:cNvSpPr/>
          <p:nvPr/>
        </p:nvSpPr>
        <p:spPr>
          <a:xfrm>
            <a:off x="7086600" y="1965960"/>
            <a:ext cx="219456" cy="219456"/>
          </a:xfrm>
          <a:prstGeom prst="ellipse">
            <a:avLst/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7086600" y="196596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1</a:t>
            </a:r>
            <a:endParaRPr lang="en-US" sz="700" dirty="0"/>
          </a:p>
        </p:txBody>
      </p:sp>
      <p:sp>
        <p:nvSpPr>
          <p:cNvPr id="13" name="Text 8"/>
          <p:cNvSpPr txBox="1"/>
          <p:nvPr/>
        </p:nvSpPr>
        <p:spPr>
          <a:xfrm>
            <a:off x="7415784" y="1947672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1B2E"/>
                </a:solidFill>
              </a:rPr>
              <a:t>Top app bar</a:t>
            </a:r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 · título y volver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7086600" y="2226564"/>
            <a:ext cx="219456" cy="219456"/>
          </a:xfrm>
          <a:prstGeom prst="ellipse">
            <a:avLst/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7086600" y="222656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2</a:t>
            </a:r>
            <a:endParaRPr lang="en-US" sz="700" dirty="0"/>
          </a:p>
        </p:txBody>
      </p:sp>
      <p:sp>
        <p:nvSpPr>
          <p:cNvPr id="16" name="Text 11"/>
          <p:cNvSpPr txBox="1"/>
          <p:nvPr/>
        </p:nvSpPr>
        <p:spPr>
          <a:xfrm>
            <a:off x="7415784" y="2208276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1B2E"/>
                </a:solidFill>
              </a:rPr>
              <a:t>Linear progress</a:t>
            </a:r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 · paso 1 de 3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7086600" y="2487168"/>
            <a:ext cx="219456" cy="219456"/>
          </a:xfrm>
          <a:prstGeom prst="ellipse">
            <a:avLst/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7086600" y="248716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3</a:t>
            </a:r>
            <a:endParaRPr lang="en-US" sz="700" dirty="0"/>
          </a:p>
        </p:txBody>
      </p:sp>
      <p:sp>
        <p:nvSpPr>
          <p:cNvPr id="19" name="Text 14"/>
          <p:cNvSpPr txBox="1"/>
          <p:nvPr/>
        </p:nvSpPr>
        <p:spPr>
          <a:xfrm>
            <a:off x="7415784" y="246888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1B2E"/>
                </a:solidFill>
              </a:rPr>
              <a:t>Outlined text field</a:t>
            </a:r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 · nombre, email, clave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7086600" y="2747772"/>
            <a:ext cx="219456" cy="219456"/>
          </a:xfrm>
          <a:prstGeom prst="ellipse">
            <a:avLst/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7086600" y="274777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4</a:t>
            </a:r>
            <a:endParaRPr lang="en-US" sz="700" dirty="0"/>
          </a:p>
        </p:txBody>
      </p:sp>
      <p:sp>
        <p:nvSpPr>
          <p:cNvPr id="22" name="Text 17"/>
          <p:cNvSpPr txBox="1"/>
          <p:nvPr/>
        </p:nvSpPr>
        <p:spPr>
          <a:xfrm>
            <a:off x="7415784" y="272948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1B2E"/>
                </a:solidFill>
              </a:rPr>
              <a:t>Checkbox</a:t>
            </a:r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 · aceptar términos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7086600" y="3008376"/>
            <a:ext cx="219456" cy="219456"/>
          </a:xfrm>
          <a:prstGeom prst="ellipse">
            <a:avLst/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7086600" y="300837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5</a:t>
            </a:r>
            <a:endParaRPr lang="en-US" sz="700" dirty="0"/>
          </a:p>
        </p:txBody>
      </p:sp>
      <p:sp>
        <p:nvSpPr>
          <p:cNvPr id="25" name="Text 20"/>
          <p:cNvSpPr txBox="1"/>
          <p:nvPr/>
        </p:nvSpPr>
        <p:spPr>
          <a:xfrm>
            <a:off x="7415784" y="299008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1B2E"/>
                </a:solidFill>
              </a:rPr>
              <a:t>Filled button</a:t>
            </a:r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 · acción principal</a:t>
            </a:r>
            <a:endParaRPr lang="en-US" sz="1100" dirty="0"/>
          </a:p>
        </p:txBody>
      </p:sp>
      <p:sp>
        <p:nvSpPr>
          <p:cNvPr id="26" name="Text 21"/>
          <p:cNvSpPr txBox="1"/>
          <p:nvPr/>
        </p:nvSpPr>
        <p:spPr>
          <a:xfrm>
            <a:off x="7086600" y="3323844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D4ED8"/>
                </a:solidFill>
              </a:rPr>
              <a:t>HOME</a:t>
            </a:r>
            <a:endParaRPr lang="en-US" sz="1000" dirty="0"/>
          </a:p>
        </p:txBody>
      </p:sp>
      <p:sp>
        <p:nvSpPr>
          <p:cNvPr id="27" name="Shape 22"/>
          <p:cNvSpPr/>
          <p:nvPr/>
        </p:nvSpPr>
        <p:spPr>
          <a:xfrm>
            <a:off x="7086600" y="3598164"/>
            <a:ext cx="219456" cy="219456"/>
          </a:xfrm>
          <a:prstGeom prst="ellipse">
            <a:avLst/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7086600" y="359816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1</a:t>
            </a:r>
            <a:endParaRPr lang="en-US" sz="700" dirty="0"/>
          </a:p>
        </p:txBody>
      </p:sp>
      <p:sp>
        <p:nvSpPr>
          <p:cNvPr id="29" name="Text 24"/>
          <p:cNvSpPr txBox="1"/>
          <p:nvPr/>
        </p:nvSpPr>
        <p:spPr>
          <a:xfrm>
            <a:off x="7415784" y="3579876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1B2E"/>
                </a:solidFill>
              </a:rPr>
              <a:t>Icon button con badge</a:t>
            </a:r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 · notificaciones</a:t>
            </a:r>
            <a:endParaRPr lang="en-US" sz="1100" dirty="0"/>
          </a:p>
        </p:txBody>
      </p:sp>
      <p:sp>
        <p:nvSpPr>
          <p:cNvPr id="30" name="Shape 25"/>
          <p:cNvSpPr/>
          <p:nvPr/>
        </p:nvSpPr>
        <p:spPr>
          <a:xfrm>
            <a:off x="7086600" y="3858768"/>
            <a:ext cx="219456" cy="219456"/>
          </a:xfrm>
          <a:prstGeom prst="ellipse">
            <a:avLst/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7086600" y="385876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2</a:t>
            </a:r>
            <a:endParaRPr lang="en-US" sz="700" dirty="0"/>
          </a:p>
        </p:txBody>
      </p:sp>
      <p:sp>
        <p:nvSpPr>
          <p:cNvPr id="32" name="Text 27"/>
          <p:cNvSpPr txBox="1"/>
          <p:nvPr/>
        </p:nvSpPr>
        <p:spPr>
          <a:xfrm>
            <a:off x="7415784" y="384048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1B2E"/>
                </a:solidFill>
              </a:rPr>
              <a:t>Cards de resumen</a:t>
            </a:r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 · racha, plan, horas</a:t>
            </a:r>
            <a:endParaRPr lang="en-US" sz="1100" dirty="0"/>
          </a:p>
        </p:txBody>
      </p:sp>
      <p:sp>
        <p:nvSpPr>
          <p:cNvPr id="33" name="Shape 28"/>
          <p:cNvSpPr/>
          <p:nvPr/>
        </p:nvSpPr>
        <p:spPr>
          <a:xfrm>
            <a:off x="7086600" y="4119372"/>
            <a:ext cx="219456" cy="219456"/>
          </a:xfrm>
          <a:prstGeom prst="ellipse">
            <a:avLst/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34" name="Text 29"/>
          <p:cNvSpPr txBox="1"/>
          <p:nvPr/>
        </p:nvSpPr>
        <p:spPr>
          <a:xfrm>
            <a:off x="7086600" y="411937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3</a:t>
            </a:r>
            <a:endParaRPr lang="en-US" sz="700" dirty="0"/>
          </a:p>
        </p:txBody>
      </p:sp>
      <p:sp>
        <p:nvSpPr>
          <p:cNvPr id="35" name="Text 30"/>
          <p:cNvSpPr txBox="1"/>
          <p:nvPr/>
        </p:nvSpPr>
        <p:spPr>
          <a:xfrm>
            <a:off x="7415784" y="410108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1B2E"/>
                </a:solidFill>
              </a:rPr>
              <a:t>Elevated card</a:t>
            </a:r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 · próxima sesión</a:t>
            </a:r>
            <a:endParaRPr lang="en-US" sz="1100" dirty="0"/>
          </a:p>
        </p:txBody>
      </p:sp>
      <p:sp>
        <p:nvSpPr>
          <p:cNvPr id="36" name="Shape 31"/>
          <p:cNvSpPr/>
          <p:nvPr/>
        </p:nvSpPr>
        <p:spPr>
          <a:xfrm>
            <a:off x="7086600" y="4379976"/>
            <a:ext cx="219456" cy="219456"/>
          </a:xfrm>
          <a:prstGeom prst="ellipse">
            <a:avLst/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7086600" y="437997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4</a:t>
            </a:r>
            <a:endParaRPr lang="en-US" sz="700" dirty="0"/>
          </a:p>
        </p:txBody>
      </p:sp>
      <p:sp>
        <p:nvSpPr>
          <p:cNvPr id="38" name="Text 33"/>
          <p:cNvSpPr txBox="1"/>
          <p:nvPr/>
        </p:nvSpPr>
        <p:spPr>
          <a:xfrm>
            <a:off x="7415784" y="436168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1B2E"/>
                </a:solidFill>
              </a:rPr>
              <a:t>Tonal button</a:t>
            </a:r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 · empezar sesión</a:t>
            </a:r>
            <a:endParaRPr lang="en-US" sz="1100" dirty="0"/>
          </a:p>
        </p:txBody>
      </p:sp>
      <p:sp>
        <p:nvSpPr>
          <p:cNvPr id="39" name="Shape 34"/>
          <p:cNvSpPr/>
          <p:nvPr/>
        </p:nvSpPr>
        <p:spPr>
          <a:xfrm>
            <a:off x="7086600" y="4640580"/>
            <a:ext cx="219456" cy="219456"/>
          </a:xfrm>
          <a:prstGeom prst="ellipse">
            <a:avLst/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40" name="Text 35"/>
          <p:cNvSpPr txBox="1"/>
          <p:nvPr/>
        </p:nvSpPr>
        <p:spPr>
          <a:xfrm>
            <a:off x="7086600" y="464058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5</a:t>
            </a:r>
            <a:endParaRPr lang="en-US" sz="700" dirty="0"/>
          </a:p>
        </p:txBody>
      </p:sp>
      <p:sp>
        <p:nvSpPr>
          <p:cNvPr id="41" name="Text 36"/>
          <p:cNvSpPr txBox="1"/>
          <p:nvPr/>
        </p:nvSpPr>
        <p:spPr>
          <a:xfrm>
            <a:off x="7415784" y="4622292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1B2E"/>
                </a:solidFill>
              </a:rPr>
              <a:t>Navigation bar</a:t>
            </a:r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 · 5 destinos</a:t>
            </a:r>
            <a:endParaRPr lang="en-US" sz="1100" dirty="0"/>
          </a:p>
        </p:txBody>
      </p:sp>
      <p:sp>
        <p:nvSpPr>
          <p:cNvPr id="42" name="Text 37"/>
          <p:cNvSpPr txBox="1"/>
          <p:nvPr/>
        </p:nvSpPr>
        <p:spPr>
          <a:xfrm>
            <a:off x="7086600" y="495604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D4ED8"/>
                </a:solidFill>
              </a:rPr>
              <a:t>SESIÓN ACTIVA</a:t>
            </a:r>
            <a:endParaRPr lang="en-US" sz="1000" dirty="0"/>
          </a:p>
        </p:txBody>
      </p:sp>
      <p:sp>
        <p:nvSpPr>
          <p:cNvPr id="43" name="Shape 38"/>
          <p:cNvSpPr/>
          <p:nvPr/>
        </p:nvSpPr>
        <p:spPr>
          <a:xfrm>
            <a:off x="7086600" y="5230368"/>
            <a:ext cx="219456" cy="219456"/>
          </a:xfrm>
          <a:prstGeom prst="ellipse">
            <a:avLst/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44" name="Text 39"/>
          <p:cNvSpPr txBox="1"/>
          <p:nvPr/>
        </p:nvSpPr>
        <p:spPr>
          <a:xfrm>
            <a:off x="7086600" y="523036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1</a:t>
            </a:r>
            <a:endParaRPr lang="en-US" sz="700" dirty="0"/>
          </a:p>
        </p:txBody>
      </p:sp>
      <p:sp>
        <p:nvSpPr>
          <p:cNvPr id="45" name="Text 40"/>
          <p:cNvSpPr txBox="1"/>
          <p:nvPr/>
        </p:nvSpPr>
        <p:spPr>
          <a:xfrm>
            <a:off x="7415784" y="521208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1B2E"/>
                </a:solidFill>
              </a:rPr>
              <a:t>Circular progress</a:t>
            </a:r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 · cronómetro</a:t>
            </a:r>
            <a:endParaRPr lang="en-US" sz="1100" dirty="0"/>
          </a:p>
        </p:txBody>
      </p:sp>
      <p:sp>
        <p:nvSpPr>
          <p:cNvPr id="46" name="Shape 41"/>
          <p:cNvSpPr/>
          <p:nvPr/>
        </p:nvSpPr>
        <p:spPr>
          <a:xfrm>
            <a:off x="7086600" y="5490972"/>
            <a:ext cx="219456" cy="219456"/>
          </a:xfrm>
          <a:prstGeom prst="ellipse">
            <a:avLst/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47" name="Text 42"/>
          <p:cNvSpPr txBox="1"/>
          <p:nvPr/>
        </p:nvSpPr>
        <p:spPr>
          <a:xfrm>
            <a:off x="7086600" y="549097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2</a:t>
            </a:r>
            <a:endParaRPr lang="en-US" sz="700" dirty="0"/>
          </a:p>
        </p:txBody>
      </p:sp>
      <p:sp>
        <p:nvSpPr>
          <p:cNvPr id="48" name="Text 43"/>
          <p:cNvSpPr txBox="1"/>
          <p:nvPr/>
        </p:nvSpPr>
        <p:spPr>
          <a:xfrm>
            <a:off x="7415784" y="547268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1B2E"/>
                </a:solidFill>
              </a:rPr>
              <a:t>Tonal + outlined</a:t>
            </a:r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 · pausar y terminar</a:t>
            </a:r>
            <a:endParaRPr lang="en-US" sz="1100" dirty="0"/>
          </a:p>
        </p:txBody>
      </p:sp>
      <p:sp>
        <p:nvSpPr>
          <p:cNvPr id="49" name="Shape 44"/>
          <p:cNvSpPr/>
          <p:nvPr/>
        </p:nvSpPr>
        <p:spPr>
          <a:xfrm>
            <a:off x="7086600" y="5751576"/>
            <a:ext cx="219456" cy="219456"/>
          </a:xfrm>
          <a:prstGeom prst="ellipse">
            <a:avLst/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50" name="Text 45"/>
          <p:cNvSpPr txBox="1"/>
          <p:nvPr/>
        </p:nvSpPr>
        <p:spPr>
          <a:xfrm>
            <a:off x="7086600" y="575157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3</a:t>
            </a:r>
            <a:endParaRPr lang="en-US" sz="700" dirty="0"/>
          </a:p>
        </p:txBody>
      </p:sp>
      <p:sp>
        <p:nvSpPr>
          <p:cNvPr id="51" name="Text 46"/>
          <p:cNvSpPr txBox="1"/>
          <p:nvPr/>
        </p:nvSpPr>
        <p:spPr>
          <a:xfrm>
            <a:off x="7415784" y="573328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1B2E"/>
                </a:solidFill>
              </a:rPr>
              <a:t>Lista de pasos</a:t>
            </a:r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 · guía de la técnica</a:t>
            </a:r>
            <a:endParaRPr lang="en-US" sz="1100" dirty="0"/>
          </a:p>
        </p:txBody>
      </p:sp>
      <p:sp>
        <p:nvSpPr>
          <p:cNvPr id="52" name="Shape 47"/>
          <p:cNvSpPr/>
          <p:nvPr/>
        </p:nvSpPr>
        <p:spPr>
          <a:xfrm>
            <a:off x="7086600" y="6012180"/>
            <a:ext cx="219456" cy="219456"/>
          </a:xfrm>
          <a:prstGeom prst="ellipse">
            <a:avLst/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53" name="Text 48"/>
          <p:cNvSpPr txBox="1"/>
          <p:nvPr/>
        </p:nvSpPr>
        <p:spPr>
          <a:xfrm>
            <a:off x="7086600" y="601218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4</a:t>
            </a:r>
            <a:endParaRPr lang="en-US" sz="700" dirty="0"/>
          </a:p>
        </p:txBody>
      </p:sp>
      <p:sp>
        <p:nvSpPr>
          <p:cNvPr id="54" name="Text 49"/>
          <p:cNvSpPr txBox="1"/>
          <p:nvPr/>
        </p:nvSpPr>
        <p:spPr>
          <a:xfrm>
            <a:off x="7415784" y="5993892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1B2E"/>
                </a:solidFill>
              </a:rPr>
              <a:t>Banner informativo</a:t>
            </a:r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 · qué viene después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10 · PATRONES DE DISEÑO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Patrones en Preguntas, Quiz y Progreso</a:t>
            </a:r>
            <a:endParaRPr lang="en-US" sz="3000" dirty="0"/>
          </a:p>
        </p:txBody>
      </p:sp>
      <p:pic>
        <p:nvPicPr>
          <p:cNvPr id="4" name="Image 0" descr="/home/claude/deck/v/pa_pregunt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825438"/>
            <a:ext cx="2057400" cy="389292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02920" y="594360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A5068"/>
                </a:solidFill>
              </a:rPr>
              <a:t>Preguntas</a:t>
            </a:r>
            <a:endParaRPr lang="en-US" sz="1200" dirty="0"/>
          </a:p>
        </p:txBody>
      </p:sp>
      <p:pic>
        <p:nvPicPr>
          <p:cNvPr id="6" name="Image 1" descr="/home/claude/deck/v/pa_quiz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760" y="1825438"/>
            <a:ext cx="2057400" cy="3892924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651760" y="594360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A5068"/>
                </a:solidFill>
              </a:rPr>
              <a:t>Quiz</a:t>
            </a:r>
            <a:endParaRPr lang="en-US" sz="1200" dirty="0"/>
          </a:p>
        </p:txBody>
      </p:sp>
      <p:pic>
        <p:nvPicPr>
          <p:cNvPr id="8" name="Image 2" descr="/home/claude/deck/v/pa_progres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1825438"/>
            <a:ext cx="2057400" cy="3892924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4800600" y="594360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A5068"/>
                </a:solidFill>
              </a:rPr>
              <a:t>Progreso</a:t>
            </a:r>
            <a:endParaRPr lang="en-US" sz="1200" dirty="0"/>
          </a:p>
        </p:txBody>
      </p:sp>
      <p:sp>
        <p:nvSpPr>
          <p:cNvPr id="10" name="Text 5"/>
          <p:cNvSpPr txBox="1"/>
          <p:nvPr/>
        </p:nvSpPr>
        <p:spPr>
          <a:xfrm>
            <a:off x="7086600" y="169164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D4ED8"/>
                </a:solidFill>
              </a:rPr>
              <a:t>PREGUNTAS</a:t>
            </a:r>
            <a:endParaRPr lang="en-US" sz="1000" dirty="0"/>
          </a:p>
        </p:txBody>
      </p:sp>
      <p:sp>
        <p:nvSpPr>
          <p:cNvPr id="11" name="Shape 6"/>
          <p:cNvSpPr/>
          <p:nvPr/>
        </p:nvSpPr>
        <p:spPr>
          <a:xfrm>
            <a:off x="7086600" y="1965960"/>
            <a:ext cx="219456" cy="219456"/>
          </a:xfrm>
          <a:prstGeom prst="ellipse">
            <a:avLst/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7086600" y="196596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1</a:t>
            </a:r>
            <a:endParaRPr lang="en-US" sz="700" dirty="0"/>
          </a:p>
        </p:txBody>
      </p:sp>
      <p:sp>
        <p:nvSpPr>
          <p:cNvPr id="13" name="Text 8"/>
          <p:cNvSpPr txBox="1"/>
          <p:nvPr/>
        </p:nvSpPr>
        <p:spPr>
          <a:xfrm>
            <a:off x="7415784" y="1947672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1B2E"/>
                </a:solidFill>
              </a:rPr>
              <a:t>Banner de éxito</a:t>
            </a:r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 · sesión completada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7086600" y="2226564"/>
            <a:ext cx="219456" cy="219456"/>
          </a:xfrm>
          <a:prstGeom prst="ellipse">
            <a:avLst/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7086600" y="222656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2</a:t>
            </a:r>
            <a:endParaRPr lang="en-US" sz="700" dirty="0"/>
          </a:p>
        </p:txBody>
      </p:sp>
      <p:sp>
        <p:nvSpPr>
          <p:cNvPr id="16" name="Text 11"/>
          <p:cNvSpPr txBox="1"/>
          <p:nvPr/>
        </p:nvSpPr>
        <p:spPr>
          <a:xfrm>
            <a:off x="7415784" y="2208276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1B2E"/>
                </a:solidFill>
              </a:rPr>
              <a:t>Assist chips</a:t>
            </a:r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 · disparadores de preguntas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7086600" y="2487168"/>
            <a:ext cx="219456" cy="219456"/>
          </a:xfrm>
          <a:prstGeom prst="ellipse">
            <a:avLst/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7086600" y="248716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3</a:t>
            </a:r>
            <a:endParaRPr lang="en-US" sz="700" dirty="0"/>
          </a:p>
        </p:txBody>
      </p:sp>
      <p:sp>
        <p:nvSpPr>
          <p:cNvPr id="19" name="Text 14"/>
          <p:cNvSpPr txBox="1"/>
          <p:nvPr/>
        </p:nvSpPr>
        <p:spPr>
          <a:xfrm>
            <a:off x="7415784" y="246888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1B2E"/>
                </a:solidFill>
              </a:rPr>
              <a:t>Text field multilínea</a:t>
            </a:r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 · pregunta y respuesta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7086600" y="2747772"/>
            <a:ext cx="219456" cy="219456"/>
          </a:xfrm>
          <a:prstGeom prst="ellipse">
            <a:avLst/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7086600" y="274777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4</a:t>
            </a:r>
            <a:endParaRPr lang="en-US" sz="700" dirty="0"/>
          </a:p>
        </p:txBody>
      </p:sp>
      <p:sp>
        <p:nvSpPr>
          <p:cNvPr id="22" name="Text 17"/>
          <p:cNvSpPr txBox="1"/>
          <p:nvPr/>
        </p:nvSpPr>
        <p:spPr>
          <a:xfrm>
            <a:off x="7415784" y="272948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1B2E"/>
                </a:solidFill>
              </a:rPr>
              <a:t>Filled button + snackbar</a:t>
            </a:r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 · guardar</a:t>
            </a:r>
            <a:endParaRPr lang="en-US" sz="1100" dirty="0"/>
          </a:p>
        </p:txBody>
      </p:sp>
      <p:sp>
        <p:nvSpPr>
          <p:cNvPr id="23" name="Text 18"/>
          <p:cNvSpPr txBox="1"/>
          <p:nvPr/>
        </p:nvSpPr>
        <p:spPr>
          <a:xfrm>
            <a:off x="7086600" y="306324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D4ED8"/>
                </a:solidFill>
              </a:rPr>
              <a:t>QUIZ</a:t>
            </a:r>
            <a:endParaRPr lang="en-US" sz="1000" dirty="0"/>
          </a:p>
        </p:txBody>
      </p:sp>
      <p:sp>
        <p:nvSpPr>
          <p:cNvPr id="24" name="Shape 19"/>
          <p:cNvSpPr/>
          <p:nvPr/>
        </p:nvSpPr>
        <p:spPr>
          <a:xfrm>
            <a:off x="7086600" y="3337560"/>
            <a:ext cx="219456" cy="219456"/>
          </a:xfrm>
          <a:prstGeom prst="ellipse">
            <a:avLst/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7086600" y="333756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1</a:t>
            </a:r>
            <a:endParaRPr lang="en-US" sz="700" dirty="0"/>
          </a:p>
        </p:txBody>
      </p:sp>
      <p:sp>
        <p:nvSpPr>
          <p:cNvPr id="26" name="Text 21"/>
          <p:cNvSpPr txBox="1"/>
          <p:nvPr/>
        </p:nvSpPr>
        <p:spPr>
          <a:xfrm>
            <a:off x="7415784" y="3319272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1B2E"/>
                </a:solidFill>
              </a:rPr>
              <a:t>Linear progress</a:t>
            </a:r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 · pregunta 1 de 2</a:t>
            </a:r>
            <a:endParaRPr lang="en-US" sz="1100" dirty="0"/>
          </a:p>
        </p:txBody>
      </p:sp>
      <p:sp>
        <p:nvSpPr>
          <p:cNvPr id="27" name="Shape 22"/>
          <p:cNvSpPr/>
          <p:nvPr/>
        </p:nvSpPr>
        <p:spPr>
          <a:xfrm>
            <a:off x="7086600" y="3598164"/>
            <a:ext cx="219456" cy="219456"/>
          </a:xfrm>
          <a:prstGeom prst="ellipse">
            <a:avLst/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7086600" y="359816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2</a:t>
            </a:r>
            <a:endParaRPr lang="en-US" sz="700" dirty="0"/>
          </a:p>
        </p:txBody>
      </p:sp>
      <p:sp>
        <p:nvSpPr>
          <p:cNvPr id="29" name="Text 24"/>
          <p:cNvSpPr txBox="1"/>
          <p:nvPr/>
        </p:nvSpPr>
        <p:spPr>
          <a:xfrm>
            <a:off x="7415784" y="3579876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1B2E"/>
                </a:solidFill>
              </a:rPr>
              <a:t>Card</a:t>
            </a:r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 · pregunta escrita por el usuario</a:t>
            </a:r>
            <a:endParaRPr lang="en-US" sz="1100" dirty="0"/>
          </a:p>
        </p:txBody>
      </p:sp>
      <p:sp>
        <p:nvSpPr>
          <p:cNvPr id="30" name="Shape 25"/>
          <p:cNvSpPr/>
          <p:nvPr/>
        </p:nvSpPr>
        <p:spPr>
          <a:xfrm>
            <a:off x="7086600" y="3858768"/>
            <a:ext cx="219456" cy="219456"/>
          </a:xfrm>
          <a:prstGeom prst="ellipse">
            <a:avLst/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7086600" y="385876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3</a:t>
            </a:r>
            <a:endParaRPr lang="en-US" sz="700" dirty="0"/>
          </a:p>
        </p:txBody>
      </p:sp>
      <p:sp>
        <p:nvSpPr>
          <p:cNvPr id="32" name="Text 27"/>
          <p:cNvSpPr txBox="1"/>
          <p:nvPr/>
        </p:nvSpPr>
        <p:spPr>
          <a:xfrm>
            <a:off x="7415784" y="384048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1B2E"/>
                </a:solidFill>
              </a:rPr>
              <a:t>Segmented buttons</a:t>
            </a:r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 · cómo me acordaba</a:t>
            </a:r>
            <a:endParaRPr lang="en-US" sz="1100" dirty="0"/>
          </a:p>
        </p:txBody>
      </p:sp>
      <p:sp>
        <p:nvSpPr>
          <p:cNvPr id="33" name="Shape 28"/>
          <p:cNvSpPr/>
          <p:nvPr/>
        </p:nvSpPr>
        <p:spPr>
          <a:xfrm>
            <a:off x="7086600" y="4119372"/>
            <a:ext cx="219456" cy="219456"/>
          </a:xfrm>
          <a:prstGeom prst="ellipse">
            <a:avLst/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34" name="Text 29"/>
          <p:cNvSpPr txBox="1"/>
          <p:nvPr/>
        </p:nvSpPr>
        <p:spPr>
          <a:xfrm>
            <a:off x="7086600" y="411937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4</a:t>
            </a:r>
            <a:endParaRPr lang="en-US" sz="700" dirty="0"/>
          </a:p>
        </p:txBody>
      </p:sp>
      <p:sp>
        <p:nvSpPr>
          <p:cNvPr id="35" name="Text 30"/>
          <p:cNvSpPr txBox="1"/>
          <p:nvPr/>
        </p:nvSpPr>
        <p:spPr>
          <a:xfrm>
            <a:off x="7415784" y="410108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1B2E"/>
                </a:solidFill>
              </a:rPr>
              <a:t>Filled button</a:t>
            </a:r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 · ver respuesta</a:t>
            </a:r>
            <a:endParaRPr lang="en-US" sz="1100" dirty="0"/>
          </a:p>
        </p:txBody>
      </p:sp>
      <p:sp>
        <p:nvSpPr>
          <p:cNvPr id="36" name="Text 31"/>
          <p:cNvSpPr txBox="1"/>
          <p:nvPr/>
        </p:nvSpPr>
        <p:spPr>
          <a:xfrm>
            <a:off x="7086600" y="443484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D4ED8"/>
                </a:solidFill>
              </a:rPr>
              <a:t>PROGRESO</a:t>
            </a:r>
            <a:endParaRPr lang="en-US" sz="1000" dirty="0"/>
          </a:p>
        </p:txBody>
      </p:sp>
      <p:sp>
        <p:nvSpPr>
          <p:cNvPr id="37" name="Shape 32"/>
          <p:cNvSpPr/>
          <p:nvPr/>
        </p:nvSpPr>
        <p:spPr>
          <a:xfrm>
            <a:off x="7086600" y="4709160"/>
            <a:ext cx="219456" cy="219456"/>
          </a:xfrm>
          <a:prstGeom prst="ellipse">
            <a:avLst/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38" name="Text 33"/>
          <p:cNvSpPr txBox="1"/>
          <p:nvPr/>
        </p:nvSpPr>
        <p:spPr>
          <a:xfrm>
            <a:off x="7086600" y="470916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1</a:t>
            </a:r>
            <a:endParaRPr lang="en-US" sz="700" dirty="0"/>
          </a:p>
        </p:txBody>
      </p:sp>
      <p:sp>
        <p:nvSpPr>
          <p:cNvPr id="39" name="Text 34"/>
          <p:cNvSpPr txBox="1"/>
          <p:nvPr/>
        </p:nvSpPr>
        <p:spPr>
          <a:xfrm>
            <a:off x="7415784" y="4690872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1B2E"/>
                </a:solidFill>
              </a:rPr>
              <a:t>Filter chips</a:t>
            </a:r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 · materias</a:t>
            </a:r>
            <a:endParaRPr lang="en-US" sz="1100" dirty="0"/>
          </a:p>
        </p:txBody>
      </p:sp>
      <p:sp>
        <p:nvSpPr>
          <p:cNvPr id="40" name="Shape 35"/>
          <p:cNvSpPr/>
          <p:nvPr/>
        </p:nvSpPr>
        <p:spPr>
          <a:xfrm>
            <a:off x="7086600" y="4969764"/>
            <a:ext cx="219456" cy="219456"/>
          </a:xfrm>
          <a:prstGeom prst="ellipse">
            <a:avLst/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41" name="Text 36"/>
          <p:cNvSpPr txBox="1"/>
          <p:nvPr/>
        </p:nvSpPr>
        <p:spPr>
          <a:xfrm>
            <a:off x="7086600" y="496976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2</a:t>
            </a:r>
            <a:endParaRPr lang="en-US" sz="700" dirty="0"/>
          </a:p>
        </p:txBody>
      </p:sp>
      <p:sp>
        <p:nvSpPr>
          <p:cNvPr id="42" name="Text 37"/>
          <p:cNvSpPr txBox="1"/>
          <p:nvPr/>
        </p:nvSpPr>
        <p:spPr>
          <a:xfrm>
            <a:off x="7415784" y="4951476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1B2E"/>
                </a:solidFill>
              </a:rPr>
              <a:t>Cards de estado</a:t>
            </a:r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 · leídos y dominados</a:t>
            </a:r>
            <a:endParaRPr lang="en-US" sz="1100" dirty="0"/>
          </a:p>
        </p:txBody>
      </p:sp>
      <p:sp>
        <p:nvSpPr>
          <p:cNvPr id="43" name="Shape 38"/>
          <p:cNvSpPr/>
          <p:nvPr/>
        </p:nvSpPr>
        <p:spPr>
          <a:xfrm>
            <a:off x="7086600" y="5230368"/>
            <a:ext cx="219456" cy="219456"/>
          </a:xfrm>
          <a:prstGeom prst="ellipse">
            <a:avLst/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44" name="Text 39"/>
          <p:cNvSpPr txBox="1"/>
          <p:nvPr/>
        </p:nvSpPr>
        <p:spPr>
          <a:xfrm>
            <a:off x="7086600" y="523036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3</a:t>
            </a:r>
            <a:endParaRPr lang="en-US" sz="700" dirty="0"/>
          </a:p>
        </p:txBody>
      </p:sp>
      <p:sp>
        <p:nvSpPr>
          <p:cNvPr id="45" name="Text 40"/>
          <p:cNvSpPr txBox="1"/>
          <p:nvPr/>
        </p:nvSpPr>
        <p:spPr>
          <a:xfrm>
            <a:off x="7415784" y="521208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1B2E"/>
                </a:solidFill>
              </a:rPr>
              <a:t>Linear progress</a:t>
            </a:r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 · avance</a:t>
            </a:r>
            <a:endParaRPr lang="en-US" sz="1100" dirty="0"/>
          </a:p>
        </p:txBody>
      </p:sp>
      <p:sp>
        <p:nvSpPr>
          <p:cNvPr id="46" name="Shape 41"/>
          <p:cNvSpPr/>
          <p:nvPr/>
        </p:nvSpPr>
        <p:spPr>
          <a:xfrm>
            <a:off x="7086600" y="5490972"/>
            <a:ext cx="219456" cy="219456"/>
          </a:xfrm>
          <a:prstGeom prst="ellipse">
            <a:avLst/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47" name="Text 42"/>
          <p:cNvSpPr txBox="1"/>
          <p:nvPr/>
        </p:nvSpPr>
        <p:spPr>
          <a:xfrm>
            <a:off x="7086600" y="549097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4</a:t>
            </a:r>
            <a:endParaRPr lang="en-US" sz="700" dirty="0"/>
          </a:p>
        </p:txBody>
      </p:sp>
      <p:sp>
        <p:nvSpPr>
          <p:cNvPr id="48" name="Text 43"/>
          <p:cNvSpPr txBox="1"/>
          <p:nvPr/>
        </p:nvSpPr>
        <p:spPr>
          <a:xfrm>
            <a:off x="7415784" y="547268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1B2E"/>
                </a:solidFill>
              </a:rPr>
              <a:t>List + status chip</a:t>
            </a:r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 · cada unidad</a:t>
            </a:r>
            <a:endParaRPr lang="en-US" sz="1100" dirty="0"/>
          </a:p>
        </p:txBody>
      </p:sp>
      <p:sp>
        <p:nvSpPr>
          <p:cNvPr id="49" name="Shape 44"/>
          <p:cNvSpPr/>
          <p:nvPr/>
        </p:nvSpPr>
        <p:spPr>
          <a:xfrm>
            <a:off x="7086600" y="5751576"/>
            <a:ext cx="219456" cy="219456"/>
          </a:xfrm>
          <a:prstGeom prst="ellipse">
            <a:avLst/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50" name="Text 45"/>
          <p:cNvSpPr txBox="1"/>
          <p:nvPr/>
        </p:nvSpPr>
        <p:spPr>
          <a:xfrm>
            <a:off x="7086600" y="575157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5</a:t>
            </a:r>
            <a:endParaRPr lang="en-US" sz="700" dirty="0"/>
          </a:p>
        </p:txBody>
      </p:sp>
      <p:sp>
        <p:nvSpPr>
          <p:cNvPr id="51" name="Text 46"/>
          <p:cNvSpPr txBox="1"/>
          <p:nvPr/>
        </p:nvSpPr>
        <p:spPr>
          <a:xfrm>
            <a:off x="7415784" y="573328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1B2E"/>
                </a:solidFill>
              </a:rPr>
              <a:t>Icon button → bottom sheet</a:t>
            </a:r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 · ayuda</a:t>
            </a:r>
            <a:endParaRPr lang="en-US" sz="1100" dirty="0"/>
          </a:p>
        </p:txBody>
      </p:sp>
      <p:sp>
        <p:nvSpPr>
          <p:cNvPr id="52" name="Shape 47"/>
          <p:cNvSpPr/>
          <p:nvPr/>
        </p:nvSpPr>
        <p:spPr>
          <a:xfrm>
            <a:off x="7086600" y="6012180"/>
            <a:ext cx="219456" cy="219456"/>
          </a:xfrm>
          <a:prstGeom prst="ellipse">
            <a:avLst/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53" name="Text 48"/>
          <p:cNvSpPr txBox="1"/>
          <p:nvPr/>
        </p:nvSpPr>
        <p:spPr>
          <a:xfrm>
            <a:off x="7086600" y="601218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6</a:t>
            </a:r>
            <a:endParaRPr lang="en-US" sz="700" dirty="0"/>
          </a:p>
        </p:txBody>
      </p:sp>
      <p:sp>
        <p:nvSpPr>
          <p:cNvPr id="54" name="Text 49"/>
          <p:cNvSpPr txBox="1"/>
          <p:nvPr/>
        </p:nvSpPr>
        <p:spPr>
          <a:xfrm>
            <a:off x="7415784" y="5993892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1B2E"/>
                </a:solidFill>
              </a:rPr>
              <a:t>Navigation bar</a:t>
            </a:r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</a:rPr>
              <a:t> · destino activo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53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685800" y="868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A9BBFF"/>
                </a:solidFill>
              </a:rPr>
              <a:t>ETAPA 11 DE 13</a:t>
            </a:r>
            <a:endParaRPr lang="en-US" sz="13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685800" y="1280160"/>
            <a:ext cx="5577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Wireflow</a:t>
            </a:r>
            <a:endParaRPr lang="en-US" sz="4000" dirty="0"/>
          </a:p>
        </p:txBody>
      </p:sp>
      <p:sp>
        <p:nvSpPr>
          <p:cNvPr id="4" name="Text 2"/>
          <p:cNvSpPr/>
          <p:nvPr>
            <p:ph idx="104" type="body" hasCustomPrompt="1"/>
          </p:nvPr>
        </p:nvSpPr>
        <p:spPr>
          <a:xfrm>
            <a:off x="566928" y="3977640"/>
            <a:ext cx="54864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b="1" dirty="0">
                <a:solidFill>
                  <a:srgbClr val="FFFFFF"/>
                </a:solidFill>
              </a:rPr>
              <a:t>11</a:t>
            </a:r>
            <a:endParaRPr lang="en-US" sz="15000" dirty="0"/>
          </a:p>
        </p:txBody>
      </p:sp>
      <p:sp>
        <p:nvSpPr>
          <p:cNvPr id="5" name="Text 2"/>
          <p:cNvSpPr/>
          <p:nvPr>
            <p:ph idx="105" type="body" hasCustomPrompt="1"/>
          </p:nvPr>
        </p:nvSpPr>
        <p:spPr>
          <a:xfrm>
            <a:off x="7178040" y="1463040"/>
            <a:ext cx="452628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EEF1FF"/>
                </a:solidFill>
              </a:rPr>
              <a:t>✓  Wireflow del happy path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EEF1FF"/>
                </a:solidFill>
              </a:rPr>
              <a:t>✓  Pantallas, acciones y decisiones conectadas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9BBF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54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11 · WIREFLOW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Wireflow del happy path, con sus dos decisiones</a:t>
            </a:r>
            <a:endParaRPr lang="en-US" sz="3000" dirty="0"/>
          </a:p>
        </p:txBody>
      </p:sp>
      <p:pic>
        <p:nvPicPr>
          <p:cNvPr id="4" name="Image 0" descr="/home/claude/deck/v/wire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8916" y="1417320"/>
            <a:ext cx="10231120" cy="4846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55</a:t>
            </a:fld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685800" y="868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A9BBFF"/>
                </a:solidFill>
              </a:rPr>
              <a:t>ETAPA 12 DE 13</a:t>
            </a:r>
            <a:endParaRPr lang="en-US" sz="13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685800" y="1280160"/>
            <a:ext cx="5577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Prototipo funcional</a:t>
            </a:r>
            <a:endParaRPr lang="en-US" sz="4000" dirty="0"/>
          </a:p>
        </p:txBody>
      </p:sp>
      <p:sp>
        <p:nvSpPr>
          <p:cNvPr id="4" name="Text 2"/>
          <p:cNvSpPr/>
          <p:nvPr>
            <p:ph idx="104" type="body" hasCustomPrompt="1"/>
          </p:nvPr>
        </p:nvSpPr>
        <p:spPr>
          <a:xfrm>
            <a:off x="566928" y="3977640"/>
            <a:ext cx="54864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b="1" dirty="0">
                <a:solidFill>
                  <a:srgbClr val="FFFFFF"/>
                </a:solidFill>
              </a:rPr>
              <a:t>12</a:t>
            </a:r>
            <a:endParaRPr lang="en-US" sz="15000" dirty="0"/>
          </a:p>
        </p:txBody>
      </p:sp>
      <p:sp>
        <p:nvSpPr>
          <p:cNvPr id="5" name="Text 2"/>
          <p:cNvSpPr/>
          <p:nvPr>
            <p:ph idx="105" type="body" hasCustomPrompt="1"/>
          </p:nvPr>
        </p:nvSpPr>
        <p:spPr>
          <a:xfrm>
            <a:off x="7178040" y="1463040"/>
            <a:ext cx="452628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EEF1FF"/>
                </a:solidFill>
              </a:rPr>
              <a:t>✓  Evolución: boceto → baja fidelidad → patrones → alta fidelidad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EEF1FF"/>
                </a:solidFill>
              </a:rPr>
              <a:t>✓  Pantallas del happy path en alta fidelidad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EEF1FF"/>
                </a:solidFill>
              </a:rPr>
              <a:t>✓  Link al prototipo navegable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9BBF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56</a:t>
            </a:fld>
            <a:endParaRPr lang="en-US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12 · PROTOTIPO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Evolución de una pantalla: del boceto al prototipo</a:t>
            </a:r>
            <a:endParaRPr lang="en-US" sz="3000" dirty="0"/>
          </a:p>
        </p:txBody>
      </p:sp>
      <p:pic>
        <p:nvPicPr>
          <p:cNvPr id="4" name="Image 0" descr="/home/claude/deck/v/sk_inici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605735"/>
            <a:ext cx="1298448" cy="242377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12064" y="571500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A5068"/>
                </a:solidFill>
              </a:rPr>
              <a:t>Boceto a mano</a:t>
            </a:r>
            <a:endParaRPr lang="en-US" sz="1050" dirty="0"/>
          </a:p>
        </p:txBody>
      </p:sp>
      <p:pic>
        <p:nvPicPr>
          <p:cNvPr id="6" name="Image 1" descr="/home/claude/deck/v/lo_inici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2589186"/>
            <a:ext cx="1298448" cy="2456867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883664" y="571500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A5068"/>
                </a:solidFill>
              </a:rPr>
              <a:t>Wireframe digital</a:t>
            </a:r>
            <a:endParaRPr lang="en-US" sz="1050" dirty="0"/>
          </a:p>
        </p:txBody>
      </p:sp>
      <p:pic>
        <p:nvPicPr>
          <p:cNvPr id="8" name="Image 2" descr="/home/claude/deck/v/pa_inici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0" y="2589186"/>
            <a:ext cx="1298448" cy="2456867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3255264" y="571500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A5068"/>
                </a:solidFill>
              </a:rPr>
              <a:t>Patrones Material 3</a:t>
            </a:r>
            <a:endParaRPr lang="en-US" sz="1050" dirty="0"/>
          </a:p>
        </p:txBody>
      </p:sp>
      <p:sp>
        <p:nvSpPr>
          <p:cNvPr id="10" name="Shape 5"/>
          <p:cNvSpPr/>
          <p:nvPr/>
        </p:nvSpPr>
        <p:spPr>
          <a:xfrm>
            <a:off x="4663440" y="2432304"/>
            <a:ext cx="1313941" cy="2715768"/>
          </a:xfrm>
          <a:prstGeom prst="roundRect">
            <a:avLst>
              <a:gd name="adj" fmla="val 11135"/>
            </a:avLst>
          </a:prstGeom>
          <a:solidFill>
            <a:srgbClr val="10162A"/>
          </a:solidFill>
          <a:ln w="12700">
            <a:solidFill>
              <a:srgbClr val="10162A"/>
            </a:solidFill>
            <a:prstDash val="solid"/>
          </a:ln>
          <a:effectLst>
            <a:outerShdw sx="100000" sy="100000" kx="0" ky="0" algn="bl" rotWithShape="0" blurRad="101600" dist="38100" dir="5400000">
              <a:srgbClr val="131B2E">
                <a:alpha val="25000"/>
              </a:srgbClr>
            </a:outerShdw>
          </a:effectLst>
        </p:spPr>
      </p:sp>
      <p:pic>
        <p:nvPicPr>
          <p:cNvPr id="11" name="Image 3" descr="/home/claude/deck/assets/img/11_inici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8304" y="2487168"/>
            <a:ext cx="1204213" cy="260604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4626864" y="571500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A5068"/>
                </a:solidFill>
              </a:rPr>
              <a:t>Alta fidelidad</a:t>
            </a:r>
            <a:endParaRPr lang="en-US" sz="1050" dirty="0"/>
          </a:p>
        </p:txBody>
      </p:sp>
      <p:sp>
        <p:nvSpPr>
          <p:cNvPr id="13" name="Text 7"/>
          <p:cNvSpPr txBox="1"/>
          <p:nvPr/>
        </p:nvSpPr>
        <p:spPr>
          <a:xfrm>
            <a:off x="548640" y="164592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37B0"/>
                </a:solidFill>
              </a:rPr>
              <a:t>HOME</a:t>
            </a:r>
            <a:endParaRPr lang="en-US" sz="1500" dirty="0"/>
          </a:p>
        </p:txBody>
      </p:sp>
      <p:pic>
        <p:nvPicPr>
          <p:cNvPr id="14" name="Image 4" descr="/home/claude/deck/v/sk_activa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200" y="2605735"/>
            <a:ext cx="1298448" cy="2423770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6135624" y="571500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A5068"/>
                </a:solidFill>
              </a:rPr>
              <a:t>Boceto a mano</a:t>
            </a:r>
            <a:endParaRPr lang="en-US" sz="1050" dirty="0"/>
          </a:p>
        </p:txBody>
      </p:sp>
      <p:pic>
        <p:nvPicPr>
          <p:cNvPr id="16" name="Image 5" descr="/home/claude/deck/v/lo_activa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43800" y="2589186"/>
            <a:ext cx="1298448" cy="2456867"/>
          </a:xfrm>
          <a:prstGeom prst="rect">
            <a:avLst/>
          </a:prstGeom>
        </p:spPr>
      </p:pic>
      <p:sp>
        <p:nvSpPr>
          <p:cNvPr id="17" name="Text 9"/>
          <p:cNvSpPr txBox="1"/>
          <p:nvPr/>
        </p:nvSpPr>
        <p:spPr>
          <a:xfrm>
            <a:off x="7507224" y="571500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A5068"/>
                </a:solidFill>
              </a:rPr>
              <a:t>Wireframe digital</a:t>
            </a:r>
            <a:endParaRPr lang="en-US" sz="1050" dirty="0"/>
          </a:p>
        </p:txBody>
      </p:sp>
      <p:pic>
        <p:nvPicPr>
          <p:cNvPr id="18" name="Image 6" descr="/home/claude/deck/v/pa_activa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15400" y="2589186"/>
            <a:ext cx="1298448" cy="2456867"/>
          </a:xfrm>
          <a:prstGeom prst="rect">
            <a:avLst/>
          </a:prstGeom>
        </p:spPr>
      </p:pic>
      <p:sp>
        <p:nvSpPr>
          <p:cNvPr id="19" name="Text 10"/>
          <p:cNvSpPr txBox="1"/>
          <p:nvPr/>
        </p:nvSpPr>
        <p:spPr>
          <a:xfrm>
            <a:off x="8878824" y="571500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A5068"/>
                </a:solidFill>
              </a:rPr>
              <a:t>Patrones Material 3</a:t>
            </a:r>
            <a:endParaRPr lang="en-US" sz="1050" dirty="0"/>
          </a:p>
        </p:txBody>
      </p:sp>
      <p:sp>
        <p:nvSpPr>
          <p:cNvPr id="20" name="Shape 11"/>
          <p:cNvSpPr/>
          <p:nvPr/>
        </p:nvSpPr>
        <p:spPr>
          <a:xfrm>
            <a:off x="10287000" y="2432304"/>
            <a:ext cx="1313941" cy="2715768"/>
          </a:xfrm>
          <a:prstGeom prst="roundRect">
            <a:avLst>
              <a:gd name="adj" fmla="val 11135"/>
            </a:avLst>
          </a:prstGeom>
          <a:solidFill>
            <a:srgbClr val="10162A"/>
          </a:solidFill>
          <a:ln w="12700">
            <a:solidFill>
              <a:srgbClr val="10162A"/>
            </a:solidFill>
            <a:prstDash val="solid"/>
          </a:ln>
          <a:effectLst>
            <a:outerShdw sx="100000" sy="100000" kx="0" ky="0" algn="bl" rotWithShape="0" blurRad="101600" dist="38100" dir="5400000">
              <a:srgbClr val="131B2E">
                <a:alpha val="25000"/>
              </a:srgbClr>
            </a:outerShdw>
          </a:effectLst>
        </p:spPr>
      </p:sp>
      <p:pic>
        <p:nvPicPr>
          <p:cNvPr id="21" name="Image 7" descr="/home/claude/deck/assets/img/14_sesion_activa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41864" y="2487168"/>
            <a:ext cx="1204213" cy="2606040"/>
          </a:xfrm>
          <a:prstGeom prst="rect">
            <a:avLst/>
          </a:prstGeom>
        </p:spPr>
      </p:pic>
      <p:sp>
        <p:nvSpPr>
          <p:cNvPr id="22" name="Text 12"/>
          <p:cNvSpPr txBox="1"/>
          <p:nvPr/>
        </p:nvSpPr>
        <p:spPr>
          <a:xfrm>
            <a:off x="10250424" y="571500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A5068"/>
                </a:solidFill>
              </a:rPr>
              <a:t>Alta fidelidad</a:t>
            </a:r>
            <a:endParaRPr lang="en-US" sz="1050" dirty="0"/>
          </a:p>
        </p:txBody>
      </p:sp>
      <p:sp>
        <p:nvSpPr>
          <p:cNvPr id="23" name="Text 13"/>
          <p:cNvSpPr txBox="1"/>
          <p:nvPr/>
        </p:nvSpPr>
        <p:spPr>
          <a:xfrm>
            <a:off x="6172200" y="164592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37B0"/>
                </a:solidFill>
              </a:rPr>
              <a:t>Sesión activa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57</a:t>
            </a:fld>
            <a:endParaRPr lang="en-US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12 · PROTOTIPO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Alta fidelidad (1 de 3): cuenta y diagnóstico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28216"/>
            <a:ext cx="1757598" cy="3675888"/>
          </a:xfrm>
          <a:prstGeom prst="roundRect">
            <a:avLst>
              <a:gd name="adj" fmla="val 8324"/>
            </a:avLst>
          </a:prstGeom>
          <a:solidFill>
            <a:srgbClr val="10162A"/>
          </a:solidFill>
          <a:ln w="12700">
            <a:solidFill>
              <a:srgbClr val="10162A"/>
            </a:solidFill>
            <a:prstDash val="solid"/>
          </a:ln>
          <a:effectLst>
            <a:outerShdw sx="100000" sy="100000" kx="0" ky="0" algn="bl" rotWithShape="0" blurRad="101600" dist="38100" dir="5400000">
              <a:srgbClr val="131B2E">
                <a:alpha val="25000"/>
              </a:srgbClr>
            </a:outerShdw>
          </a:effectLst>
        </p:spPr>
      </p:sp>
      <p:pic>
        <p:nvPicPr>
          <p:cNvPr id="5" name="Image 0" descr="/home/claude/deck/assets/img/02_acces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83080"/>
            <a:ext cx="1647870" cy="35661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347472" y="5458968"/>
            <a:ext cx="21965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5068"/>
                </a:solidFill>
              </a:rPr>
              <a:t>Acceso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2441448" y="1728216"/>
            <a:ext cx="1757598" cy="3675888"/>
          </a:xfrm>
          <a:prstGeom prst="roundRect">
            <a:avLst>
              <a:gd name="adj" fmla="val 8324"/>
            </a:avLst>
          </a:prstGeom>
          <a:solidFill>
            <a:srgbClr val="10162A"/>
          </a:solidFill>
          <a:ln w="12700">
            <a:solidFill>
              <a:srgbClr val="10162A"/>
            </a:solidFill>
            <a:prstDash val="solid"/>
          </a:ln>
          <a:effectLst>
            <a:outerShdw sx="100000" sy="100000" kx="0" ky="0" algn="bl" rotWithShape="0" blurRad="101600" dist="38100" dir="5400000">
              <a:srgbClr val="131B2E">
                <a:alpha val="25000"/>
              </a:srgbClr>
            </a:outerShdw>
          </a:effectLst>
        </p:spPr>
      </p:sp>
      <p:pic>
        <p:nvPicPr>
          <p:cNvPr id="8" name="Image 1" descr="/home/claude/deck/assets/img/04_registr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6312" y="1783080"/>
            <a:ext cx="1647870" cy="356616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221992" y="5458968"/>
            <a:ext cx="21965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5068"/>
                </a:solidFill>
              </a:rPr>
              <a:t>Registrarse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4315968" y="1728216"/>
            <a:ext cx="1757598" cy="3675888"/>
          </a:xfrm>
          <a:prstGeom prst="roundRect">
            <a:avLst>
              <a:gd name="adj" fmla="val 8324"/>
            </a:avLst>
          </a:prstGeom>
          <a:solidFill>
            <a:srgbClr val="10162A"/>
          </a:solidFill>
          <a:ln w="12700">
            <a:solidFill>
              <a:srgbClr val="10162A"/>
            </a:solidFill>
            <a:prstDash val="solid"/>
          </a:ln>
          <a:effectLst>
            <a:outerShdw sx="100000" sy="100000" kx="0" ky="0" algn="bl" rotWithShape="0" blurRad="101600" dist="38100" dir="5400000">
              <a:srgbClr val="131B2E">
                <a:alpha val="25000"/>
              </a:srgbClr>
            </a:outerShdw>
          </a:effectLst>
        </p:spPr>
      </p:sp>
      <p:pic>
        <p:nvPicPr>
          <p:cNvPr id="11" name="Image 2" descr="/home/claude/deck/assets/img/05_bienvenid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0832" y="1783080"/>
            <a:ext cx="1647870" cy="356616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096512" y="5458968"/>
            <a:ext cx="21965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5068"/>
                </a:solidFill>
              </a:rPr>
              <a:t>Bienvenida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6190488" y="1728216"/>
            <a:ext cx="1757598" cy="3675888"/>
          </a:xfrm>
          <a:prstGeom prst="roundRect">
            <a:avLst>
              <a:gd name="adj" fmla="val 8324"/>
            </a:avLst>
          </a:prstGeom>
          <a:solidFill>
            <a:srgbClr val="10162A"/>
          </a:solidFill>
          <a:ln w="12700">
            <a:solidFill>
              <a:srgbClr val="10162A"/>
            </a:solidFill>
            <a:prstDash val="solid"/>
          </a:ln>
          <a:effectLst>
            <a:outerShdw sx="100000" sy="100000" kx="0" ky="0" algn="bl" rotWithShape="0" blurRad="101600" dist="38100" dir="5400000">
              <a:srgbClr val="131B2E">
                <a:alpha val="25000"/>
              </a:srgbClr>
            </a:outerShdw>
          </a:effectLst>
        </p:spPr>
      </p:sp>
      <p:pic>
        <p:nvPicPr>
          <p:cNvPr id="14" name="Image 3" descr="/home/claude/deck/assets/img/06_diagnostic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5352" y="1783080"/>
            <a:ext cx="1647870" cy="356616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5971032" y="5458968"/>
            <a:ext cx="21965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5068"/>
                </a:solidFill>
              </a:rPr>
              <a:t>Diagnóstico</a:t>
            </a:r>
            <a:endParaRPr lang="en-US" sz="1100" dirty="0"/>
          </a:p>
        </p:txBody>
      </p:sp>
      <p:sp>
        <p:nvSpPr>
          <p:cNvPr id="16" name="Shape 10"/>
          <p:cNvSpPr/>
          <p:nvPr/>
        </p:nvSpPr>
        <p:spPr>
          <a:xfrm>
            <a:off x="8065008" y="1728216"/>
            <a:ext cx="1757598" cy="3675888"/>
          </a:xfrm>
          <a:prstGeom prst="roundRect">
            <a:avLst>
              <a:gd name="adj" fmla="val 8324"/>
            </a:avLst>
          </a:prstGeom>
          <a:solidFill>
            <a:srgbClr val="10162A"/>
          </a:solidFill>
          <a:ln w="12700">
            <a:solidFill>
              <a:srgbClr val="10162A"/>
            </a:solidFill>
            <a:prstDash val="solid"/>
          </a:ln>
          <a:effectLst>
            <a:outerShdw sx="100000" sy="100000" kx="0" ky="0" algn="bl" rotWithShape="0" blurRad="101600" dist="38100" dir="5400000">
              <a:srgbClr val="131B2E">
                <a:alpha val="25000"/>
              </a:srgbClr>
            </a:outerShdw>
          </a:effectLst>
        </p:spPr>
      </p:sp>
      <p:pic>
        <p:nvPicPr>
          <p:cNvPr id="17" name="Image 4" descr="/home/claude/deck/assets/img/07_perfil_estudi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19872" y="1783080"/>
            <a:ext cx="1647870" cy="356616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7845552" y="5458968"/>
            <a:ext cx="21965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5068"/>
                </a:solidFill>
              </a:rPr>
              <a:t>Perfil de estudio</a:t>
            </a:r>
            <a:endParaRPr lang="en-US" sz="1100" dirty="0"/>
          </a:p>
        </p:txBody>
      </p:sp>
      <p:sp>
        <p:nvSpPr>
          <p:cNvPr id="19" name="Shape 12"/>
          <p:cNvSpPr/>
          <p:nvPr/>
        </p:nvSpPr>
        <p:spPr>
          <a:xfrm>
            <a:off x="9939528" y="1728216"/>
            <a:ext cx="1757598" cy="3675888"/>
          </a:xfrm>
          <a:prstGeom prst="roundRect">
            <a:avLst>
              <a:gd name="adj" fmla="val 8324"/>
            </a:avLst>
          </a:prstGeom>
          <a:solidFill>
            <a:srgbClr val="10162A"/>
          </a:solidFill>
          <a:ln w="12700">
            <a:solidFill>
              <a:srgbClr val="10162A"/>
            </a:solidFill>
            <a:prstDash val="solid"/>
          </a:ln>
          <a:effectLst>
            <a:outerShdw sx="100000" sy="100000" kx="0" ky="0" algn="bl" rotWithShape="0" blurRad="101600" dist="38100" dir="5400000">
              <a:srgbClr val="131B2E">
                <a:alpha val="25000"/>
              </a:srgbClr>
            </a:outerShdw>
          </a:effectLst>
        </p:spPr>
      </p:sp>
      <p:pic>
        <p:nvPicPr>
          <p:cNvPr id="20" name="Image 5" descr="/home/claude/deck/assets/img/08_materia_nueva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94392" y="1783080"/>
            <a:ext cx="1647870" cy="3566160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9720072" y="5458968"/>
            <a:ext cx="21965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5068"/>
                </a:solidFill>
              </a:rPr>
              <a:t>Nueva materia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58</a:t>
            </a:fld>
            <a:endParaRPr lang="en-US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12 · PROTOTIPO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Alta fidelidad (2 de 3): plan, HOME y sesión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28216"/>
            <a:ext cx="1757598" cy="3675888"/>
          </a:xfrm>
          <a:prstGeom prst="roundRect">
            <a:avLst>
              <a:gd name="adj" fmla="val 8324"/>
            </a:avLst>
          </a:prstGeom>
          <a:solidFill>
            <a:srgbClr val="10162A"/>
          </a:solidFill>
          <a:ln w="12700">
            <a:solidFill>
              <a:srgbClr val="10162A"/>
            </a:solidFill>
            <a:prstDash val="solid"/>
          </a:ln>
          <a:effectLst>
            <a:outerShdw sx="100000" sy="100000" kx="0" ky="0" algn="bl" rotWithShape="0" blurRad="101600" dist="38100" dir="5400000">
              <a:srgbClr val="131B2E">
                <a:alpha val="25000"/>
              </a:srgbClr>
            </a:outerShdw>
          </a:effectLst>
        </p:spPr>
      </p:sp>
      <p:pic>
        <p:nvPicPr>
          <p:cNvPr id="5" name="Image 0" descr="/home/claude/deck/assets/img/09_program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83080"/>
            <a:ext cx="1647870" cy="35661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347472" y="5458968"/>
            <a:ext cx="21965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5068"/>
                </a:solidFill>
              </a:rPr>
              <a:t>Unidades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2441448" y="1728216"/>
            <a:ext cx="1757598" cy="3675888"/>
          </a:xfrm>
          <a:prstGeom prst="roundRect">
            <a:avLst>
              <a:gd name="adj" fmla="val 8324"/>
            </a:avLst>
          </a:prstGeom>
          <a:solidFill>
            <a:srgbClr val="10162A"/>
          </a:solidFill>
          <a:ln w="12700">
            <a:solidFill>
              <a:srgbClr val="10162A"/>
            </a:solidFill>
            <a:prstDash val="solid"/>
          </a:ln>
          <a:effectLst>
            <a:outerShdw sx="100000" sy="100000" kx="0" ky="0" algn="bl" rotWithShape="0" blurRad="101600" dist="38100" dir="5400000">
              <a:srgbClr val="131B2E">
                <a:alpha val="25000"/>
              </a:srgbClr>
            </a:outerShdw>
          </a:effectLst>
        </p:spPr>
      </p:sp>
      <p:pic>
        <p:nvPicPr>
          <p:cNvPr id="8" name="Image 1" descr="/home/claude/deck/assets/img/10_plan_list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6312" y="1783080"/>
            <a:ext cx="1647870" cy="356616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221992" y="5458968"/>
            <a:ext cx="21965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5068"/>
                </a:solidFill>
              </a:rPr>
              <a:t>Plan listo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4315968" y="1728216"/>
            <a:ext cx="1757598" cy="3675888"/>
          </a:xfrm>
          <a:prstGeom prst="roundRect">
            <a:avLst>
              <a:gd name="adj" fmla="val 8324"/>
            </a:avLst>
          </a:prstGeom>
          <a:solidFill>
            <a:srgbClr val="10162A"/>
          </a:solidFill>
          <a:ln w="12700">
            <a:solidFill>
              <a:srgbClr val="10162A"/>
            </a:solidFill>
            <a:prstDash val="solid"/>
          </a:ln>
          <a:effectLst>
            <a:outerShdw sx="100000" sy="100000" kx="0" ky="0" algn="bl" rotWithShape="0" blurRad="101600" dist="38100" dir="5400000">
              <a:srgbClr val="131B2E">
                <a:alpha val="25000"/>
              </a:srgbClr>
            </a:outerShdw>
          </a:effectLst>
        </p:spPr>
      </p:sp>
      <p:pic>
        <p:nvPicPr>
          <p:cNvPr id="11" name="Image 2" descr="/home/claude/deck/assets/img/11_inici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0832" y="1783080"/>
            <a:ext cx="1647870" cy="356616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096512" y="5458968"/>
            <a:ext cx="21965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5068"/>
                </a:solidFill>
              </a:rPr>
              <a:t>HOME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6190488" y="1728216"/>
            <a:ext cx="1757598" cy="3675888"/>
          </a:xfrm>
          <a:prstGeom prst="roundRect">
            <a:avLst>
              <a:gd name="adj" fmla="val 8324"/>
            </a:avLst>
          </a:prstGeom>
          <a:solidFill>
            <a:srgbClr val="10162A"/>
          </a:solidFill>
          <a:ln w="12700">
            <a:solidFill>
              <a:srgbClr val="10162A"/>
            </a:solidFill>
            <a:prstDash val="solid"/>
          </a:ln>
          <a:effectLst>
            <a:outerShdw sx="100000" sy="100000" kx="0" ky="0" algn="bl" rotWithShape="0" blurRad="101600" dist="38100" dir="5400000">
              <a:srgbClr val="131B2E">
                <a:alpha val="25000"/>
              </a:srgbClr>
            </a:outerShdw>
          </a:effectLst>
        </p:spPr>
      </p:sp>
      <p:pic>
        <p:nvPicPr>
          <p:cNvPr id="14" name="Image 3" descr="/home/claude/deck/assets/img/12_calendari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5352" y="1783080"/>
            <a:ext cx="1647870" cy="356616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5971032" y="5458968"/>
            <a:ext cx="21965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5068"/>
                </a:solidFill>
              </a:rPr>
              <a:t>Calendario</a:t>
            </a:r>
            <a:endParaRPr lang="en-US" sz="1100" dirty="0"/>
          </a:p>
        </p:txBody>
      </p:sp>
      <p:sp>
        <p:nvSpPr>
          <p:cNvPr id="16" name="Shape 10"/>
          <p:cNvSpPr/>
          <p:nvPr/>
        </p:nvSpPr>
        <p:spPr>
          <a:xfrm>
            <a:off x="8065008" y="1728216"/>
            <a:ext cx="1757598" cy="3675888"/>
          </a:xfrm>
          <a:prstGeom prst="roundRect">
            <a:avLst>
              <a:gd name="adj" fmla="val 8324"/>
            </a:avLst>
          </a:prstGeom>
          <a:solidFill>
            <a:srgbClr val="10162A"/>
          </a:solidFill>
          <a:ln w="12700">
            <a:solidFill>
              <a:srgbClr val="10162A"/>
            </a:solidFill>
            <a:prstDash val="solid"/>
          </a:ln>
          <a:effectLst>
            <a:outerShdw sx="100000" sy="100000" kx="0" ky="0" algn="bl" rotWithShape="0" blurRad="101600" dist="38100" dir="5400000">
              <a:srgbClr val="131B2E">
                <a:alpha val="25000"/>
              </a:srgbClr>
            </a:outerShdw>
          </a:effectLst>
        </p:spPr>
      </p:sp>
      <p:pic>
        <p:nvPicPr>
          <p:cNvPr id="17" name="Image 4" descr="/home/claude/deck/assets/img/14_sesion_activa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19872" y="1783080"/>
            <a:ext cx="1647870" cy="356616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7845552" y="5458968"/>
            <a:ext cx="21965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5068"/>
                </a:solidFill>
              </a:rPr>
              <a:t>Sesión activa</a:t>
            </a:r>
            <a:endParaRPr lang="en-US" sz="1100" dirty="0"/>
          </a:p>
        </p:txBody>
      </p:sp>
      <p:sp>
        <p:nvSpPr>
          <p:cNvPr id="19" name="Shape 12"/>
          <p:cNvSpPr/>
          <p:nvPr/>
        </p:nvSpPr>
        <p:spPr>
          <a:xfrm>
            <a:off x="9939528" y="1728216"/>
            <a:ext cx="1757598" cy="3675888"/>
          </a:xfrm>
          <a:prstGeom prst="roundRect">
            <a:avLst>
              <a:gd name="adj" fmla="val 8324"/>
            </a:avLst>
          </a:prstGeom>
          <a:solidFill>
            <a:srgbClr val="10162A"/>
          </a:solidFill>
          <a:ln w="12700">
            <a:solidFill>
              <a:srgbClr val="10162A"/>
            </a:solidFill>
            <a:prstDash val="solid"/>
          </a:ln>
          <a:effectLst>
            <a:outerShdw sx="100000" sy="100000" kx="0" ky="0" algn="bl" rotWithShape="0" blurRad="101600" dist="38100" dir="5400000">
              <a:srgbClr val="131B2E">
                <a:alpha val="25000"/>
              </a:srgbClr>
            </a:outerShdw>
          </a:effectLst>
        </p:spPr>
      </p:sp>
      <p:pic>
        <p:nvPicPr>
          <p:cNvPr id="20" name="Image 5" descr="/home/claude/deck/assets/img/15_preguntas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94392" y="1783080"/>
            <a:ext cx="1647870" cy="3566160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9720072" y="5458968"/>
            <a:ext cx="21965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5068"/>
                </a:solidFill>
              </a:rPr>
              <a:t>Preguntas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59</a:t>
            </a:fld>
            <a:endParaRPr lang="en-US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12 · PROTOTIPO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Alta fidelidad (3 de 3): repaso y progreso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28216"/>
            <a:ext cx="1757598" cy="3675888"/>
          </a:xfrm>
          <a:prstGeom prst="roundRect">
            <a:avLst>
              <a:gd name="adj" fmla="val 8324"/>
            </a:avLst>
          </a:prstGeom>
          <a:solidFill>
            <a:srgbClr val="10162A"/>
          </a:solidFill>
          <a:ln w="12700">
            <a:solidFill>
              <a:srgbClr val="10162A"/>
            </a:solidFill>
            <a:prstDash val="solid"/>
          </a:ln>
          <a:effectLst>
            <a:outerShdw sx="100000" sy="100000" kx="0" ky="0" algn="bl" rotWithShape="0" blurRad="101600" dist="38100" dir="5400000">
              <a:srgbClr val="131B2E">
                <a:alpha val="25000"/>
              </a:srgbClr>
            </a:outerShdw>
          </a:effectLst>
        </p:spPr>
      </p:sp>
      <p:pic>
        <p:nvPicPr>
          <p:cNvPr id="5" name="Image 0" descr="/home/claude/deck/assets/img/17_quiz_pregunt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83080"/>
            <a:ext cx="1647870" cy="35661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347472" y="5458968"/>
            <a:ext cx="21965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5068"/>
                </a:solidFill>
              </a:rPr>
              <a:t>Quiz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2441448" y="1728216"/>
            <a:ext cx="1757598" cy="3675888"/>
          </a:xfrm>
          <a:prstGeom prst="roundRect">
            <a:avLst>
              <a:gd name="adj" fmla="val 8324"/>
            </a:avLst>
          </a:prstGeom>
          <a:solidFill>
            <a:srgbClr val="10162A"/>
          </a:solidFill>
          <a:ln w="12700">
            <a:solidFill>
              <a:srgbClr val="10162A"/>
            </a:solidFill>
            <a:prstDash val="solid"/>
          </a:ln>
          <a:effectLst>
            <a:outerShdw sx="100000" sy="100000" kx="0" ky="0" algn="bl" rotWithShape="0" blurRad="101600" dist="38100" dir="5400000">
              <a:srgbClr val="131B2E">
                <a:alpha val="25000"/>
              </a:srgbClr>
            </a:outerShdw>
          </a:effectLst>
        </p:spPr>
      </p:sp>
      <p:pic>
        <p:nvPicPr>
          <p:cNvPr id="8" name="Image 1" descr="/home/claude/deck/assets/img/18_quiz_respuest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6312" y="1783080"/>
            <a:ext cx="1647870" cy="356616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221992" y="5458968"/>
            <a:ext cx="21965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5068"/>
                </a:solidFill>
              </a:rPr>
              <a:t>Calificar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4315968" y="1728216"/>
            <a:ext cx="1757598" cy="3675888"/>
          </a:xfrm>
          <a:prstGeom prst="roundRect">
            <a:avLst>
              <a:gd name="adj" fmla="val 8324"/>
            </a:avLst>
          </a:prstGeom>
          <a:solidFill>
            <a:srgbClr val="10162A"/>
          </a:solidFill>
          <a:ln w="12700">
            <a:solidFill>
              <a:srgbClr val="10162A"/>
            </a:solidFill>
            <a:prstDash val="solid"/>
          </a:ln>
          <a:effectLst>
            <a:outerShdw sx="100000" sy="100000" kx="0" ky="0" algn="bl" rotWithShape="0" blurRad="101600" dist="38100" dir="5400000">
              <a:srgbClr val="131B2E">
                <a:alpha val="25000"/>
              </a:srgbClr>
            </a:outerShdw>
          </a:effectLst>
        </p:spPr>
      </p:sp>
      <p:pic>
        <p:nvPicPr>
          <p:cNvPr id="11" name="Image 2" descr="/home/claude/deck/assets/img/19_quiz_resultad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0832" y="1783080"/>
            <a:ext cx="1647870" cy="356616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096512" y="5458968"/>
            <a:ext cx="21965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5068"/>
                </a:solidFill>
              </a:rPr>
              <a:t>Resultado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6190488" y="1728216"/>
            <a:ext cx="1757598" cy="3675888"/>
          </a:xfrm>
          <a:prstGeom prst="roundRect">
            <a:avLst>
              <a:gd name="adj" fmla="val 8324"/>
            </a:avLst>
          </a:prstGeom>
          <a:solidFill>
            <a:srgbClr val="10162A"/>
          </a:solidFill>
          <a:ln w="12700">
            <a:solidFill>
              <a:srgbClr val="10162A"/>
            </a:solidFill>
            <a:prstDash val="solid"/>
          </a:ln>
          <a:effectLst>
            <a:outerShdw sx="100000" sy="100000" kx="0" ky="0" algn="bl" rotWithShape="0" blurRad="101600" dist="38100" dir="5400000">
              <a:srgbClr val="131B2E">
                <a:alpha val="25000"/>
              </a:srgbClr>
            </a:outerShdw>
          </a:effectLst>
        </p:spPr>
      </p:sp>
      <p:pic>
        <p:nvPicPr>
          <p:cNvPr id="14" name="Image 3" descr="/home/claude/deck/assets/img/21_progres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5352" y="1783080"/>
            <a:ext cx="1647870" cy="356616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5971032" y="5458968"/>
            <a:ext cx="21965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5068"/>
                </a:solidFill>
              </a:rPr>
              <a:t>Progreso</a:t>
            </a:r>
            <a:endParaRPr lang="en-US" sz="1100" dirty="0"/>
          </a:p>
        </p:txBody>
      </p:sp>
      <p:sp>
        <p:nvSpPr>
          <p:cNvPr id="16" name="Shape 10"/>
          <p:cNvSpPr/>
          <p:nvPr/>
        </p:nvSpPr>
        <p:spPr>
          <a:xfrm>
            <a:off x="8065008" y="1728216"/>
            <a:ext cx="1757598" cy="3675888"/>
          </a:xfrm>
          <a:prstGeom prst="roundRect">
            <a:avLst>
              <a:gd name="adj" fmla="val 8324"/>
            </a:avLst>
          </a:prstGeom>
          <a:solidFill>
            <a:srgbClr val="10162A"/>
          </a:solidFill>
          <a:ln w="12700">
            <a:solidFill>
              <a:srgbClr val="10162A"/>
            </a:solidFill>
            <a:prstDash val="solid"/>
          </a:ln>
          <a:effectLst>
            <a:outerShdw sx="100000" sy="100000" kx="0" ky="0" algn="bl" rotWithShape="0" blurRad="101600" dist="38100" dir="5400000">
              <a:srgbClr val="131B2E">
                <a:alpha val="25000"/>
              </a:srgbClr>
            </a:outerShdw>
          </a:effectLst>
        </p:spPr>
      </p:sp>
      <p:pic>
        <p:nvPicPr>
          <p:cNvPr id="17" name="Image 4" descr="/home/claude/deck/assets/img/26_ayuda_estado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19872" y="1783080"/>
            <a:ext cx="1647870" cy="356616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7845552" y="5458968"/>
            <a:ext cx="21965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5068"/>
                </a:solidFill>
              </a:rPr>
              <a:t>Ayuda de estados</a:t>
            </a:r>
            <a:endParaRPr lang="en-US" sz="1100" dirty="0"/>
          </a:p>
        </p:txBody>
      </p:sp>
      <p:sp>
        <p:nvSpPr>
          <p:cNvPr id="19" name="Shape 12"/>
          <p:cNvSpPr/>
          <p:nvPr/>
        </p:nvSpPr>
        <p:spPr>
          <a:xfrm>
            <a:off x="9939528" y="1728216"/>
            <a:ext cx="1757598" cy="3675888"/>
          </a:xfrm>
          <a:prstGeom prst="roundRect">
            <a:avLst>
              <a:gd name="adj" fmla="val 8324"/>
            </a:avLst>
          </a:prstGeom>
          <a:solidFill>
            <a:srgbClr val="10162A"/>
          </a:solidFill>
          <a:ln w="12700">
            <a:solidFill>
              <a:srgbClr val="10162A"/>
            </a:solidFill>
            <a:prstDash val="solid"/>
          </a:ln>
          <a:effectLst>
            <a:outerShdw sx="100000" sy="100000" kx="0" ky="0" algn="bl" rotWithShape="0" blurRad="101600" dist="38100" dir="5400000">
              <a:srgbClr val="131B2E">
                <a:alpha val="25000"/>
              </a:srgbClr>
            </a:outerShdw>
          </a:effectLst>
        </p:spPr>
      </p:sp>
      <p:pic>
        <p:nvPicPr>
          <p:cNvPr id="20" name="Image 5" descr="/home/claude/deck/assets/img/23_perfil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94392" y="1783080"/>
            <a:ext cx="1647870" cy="3566160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9720072" y="5458968"/>
            <a:ext cx="21965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5068"/>
                </a:solidFill>
              </a:rPr>
              <a:t>Perfil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60</a:t>
            </a:fld>
            <a:endParaRPr lang="en-US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12 · PROTOTIPO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La misma app en escritorio: navegación lateral</a:t>
            </a:r>
            <a:endParaRPr lang="en-US" sz="3000" dirty="0"/>
          </a:p>
        </p:txBody>
      </p:sp>
      <p:pic>
        <p:nvPicPr>
          <p:cNvPr id="5" name="Image 0" descr="/home/claude/deck/assets/img/d_inici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6291072" cy="393192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48640" y="1691640"/>
            <a:ext cx="6291072" cy="3931920"/>
          </a:xfrm>
          <a:prstGeom prst="rect">
            <a:avLst/>
          </a:prstGeom>
          <a:ln w="12700">
            <a:solidFill>
              <a:srgbClr val="E2E4EF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548640" y="5733288"/>
            <a:ext cx="6291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5068"/>
                </a:solidFill>
              </a:rPr>
              <a:t>HOME en escritorio</a:t>
            </a:r>
            <a:endParaRPr lang="en-US" sz="1100" dirty="0"/>
          </a:p>
        </p:txBody>
      </p:sp>
      <p:pic>
        <p:nvPicPr>
          <p:cNvPr id="8" name="Image 1" descr="/home/claude/deck/assets/img/d_progres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691640"/>
            <a:ext cx="3364992" cy="210312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8275320" y="1691640"/>
            <a:ext cx="3364992" cy="2103120"/>
          </a:xfrm>
          <a:prstGeom prst="rect">
            <a:avLst/>
          </a:prstGeom>
          <a:ln w="12700">
            <a:solidFill>
              <a:srgbClr val="E2E4EF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8275320" y="3849624"/>
            <a:ext cx="3364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5068"/>
                </a:solidFill>
              </a:rPr>
              <a:t>Progreso con gráficos</a:t>
            </a:r>
            <a:endParaRPr lang="en-US" sz="1100" dirty="0"/>
          </a:p>
        </p:txBody>
      </p:sp>
      <p:pic>
        <p:nvPicPr>
          <p:cNvPr id="11" name="Image 2" descr="/home/claude/deck/assets/img/d_acces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1080" y="4160520"/>
            <a:ext cx="2999232" cy="1874520"/>
          </a:xfrm>
          <a:prstGeom prst="rect">
            <a:avLst/>
          </a:prstGeom>
        </p:spPr>
      </p:pic>
      <p:sp>
        <p:nvSpPr>
          <p:cNvPr id="12" name="Shape 6"/>
          <p:cNvSpPr/>
          <p:nvPr/>
        </p:nvSpPr>
        <p:spPr>
          <a:xfrm>
            <a:off x="8641080" y="4160520"/>
            <a:ext cx="2999232" cy="1874520"/>
          </a:xfrm>
          <a:prstGeom prst="rect">
            <a:avLst/>
          </a:prstGeom>
          <a:ln w="12700">
            <a:solidFill>
              <a:srgbClr val="E2E4EF"/>
            </a:solidFill>
            <a:prstDash val="solid"/>
          </a:ln>
        </p:spPr>
      </p:sp>
      <p:sp>
        <p:nvSpPr>
          <p:cNvPr id="13" name="Text 7"/>
          <p:cNvSpPr txBox="1"/>
          <p:nvPr/>
        </p:nvSpPr>
        <p:spPr>
          <a:xfrm>
            <a:off x="8641080" y="6089904"/>
            <a:ext cx="2999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5068"/>
                </a:solidFill>
              </a:rPr>
              <a:t>Acceso en dos paneles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61</a:t>
            </a:fld>
            <a:endParaRPr lang="en-US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12 · PROTOTIPO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Cómo funciona el prototipo por dentro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48640" y="1783080"/>
            <a:ext cx="3794760" cy="2057400"/>
          </a:xfrm>
          <a:prstGeom prst="roundRect">
            <a:avLst>
              <a:gd name="adj" fmla="val 5333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9659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37B0"/>
                </a:solidFill>
              </a:rPr>
              <a:t>Plan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377440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068"/>
                </a:solidFill>
              </a:rPr>
              <a:t>Reparte cada unidad en pasadas según su dificultad: fácil 2, media 3, difícil 4. Cada pasada usa una técnica distinta: lectura activa, recuperación, ejercitación y práctica intercalada.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526280" y="1783080"/>
            <a:ext cx="3794760" cy="2057400"/>
          </a:xfrm>
          <a:prstGeom prst="roundRect">
            <a:avLst>
              <a:gd name="adj" fmla="val 5333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754880" y="19659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37B0"/>
                </a:solidFill>
              </a:rPr>
              <a:t>Calendario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4754880" y="2377440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068"/>
                </a:solidFill>
              </a:rPr>
              <a:t>Ubica las sesiones en la franja horaria de mejor rendimiento, respeta los minutos por día y separa las pasadas de una misma unidad.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548640" y="4023360"/>
            <a:ext cx="3794760" cy="2057400"/>
          </a:xfrm>
          <a:prstGeom prst="roundRect">
            <a:avLst>
              <a:gd name="adj" fmla="val 5333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42062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37B0"/>
                </a:solidFill>
              </a:rPr>
              <a:t>Repaso espaciado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4617720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068"/>
                </a:solidFill>
              </a:rPr>
              <a:t>Según cómo calificó cada pregunta (no / más o menos / me acordé), la próxima aparición se acerca o se aleja.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4526280" y="4023360"/>
            <a:ext cx="3794760" cy="2057400"/>
          </a:xfrm>
          <a:prstGeom prst="roundRect">
            <a:avLst>
              <a:gd name="adj" fmla="val 5333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754880" y="42062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37B0"/>
                </a:solidFill>
              </a:rPr>
              <a:t>Leído vs. dominado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4754880" y="4617720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A5068"/>
                </a:solidFill>
              </a:rPr>
              <a:t>Una unidad leída pasa a dominada cuando el quiz llega al 70 %. Si no llega, la app sugiere un repaso extra y el estudiante decide.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8549640" y="1783080"/>
            <a:ext cx="3090672" cy="4297680"/>
          </a:xfrm>
          <a:prstGeom prst="roundRect">
            <a:avLst>
              <a:gd name="adj" fmla="val 3550"/>
            </a:avLst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778240" y="19659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BBFF"/>
                </a:solidFill>
              </a:rPr>
              <a:t>LINK AL PROTOTIPO</a:t>
            </a:r>
            <a:endParaRPr lang="en-US" sz="1100" dirty="0"/>
          </a:p>
        </p:txBody>
      </p:sp>
      <p:sp>
        <p:nvSpPr>
          <p:cNvPr id="19" name="Text 16">
            <a:hlinkClick r:id="rId1" tooltip="Abrir el prototipo"/>
          </p:cNvPr>
          <p:cNvSpPr txBox="1"/>
          <p:nvPr/>
        </p:nvSpPr>
        <p:spPr>
          <a:xfrm>
            <a:off x="8778240" y="233172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FFFFFF"/>
                </a:solidFill>
                <a:hlinkClick r:id="rId1" invalidUrl="" action="" tgtFrame="" tooltip="Abrir el prototipo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asesor-de-estudio-grupo-c.vercel.app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8778240" y="3200400"/>
            <a:ext cx="2651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CE1FF"/>
                </a:solidFill>
              </a:rPr>
              <a:t>Se abre en el navegador del celular o de la computadora. Desde el panel lateral se puede recorrer desde cero o reiniciar los datos de prueba.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8778240" y="4846320"/>
            <a:ext cx="2651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9BBFF"/>
                </a:solidFill>
              </a:rPr>
              <a:t>HTML, CSS y JavaScript, con GSAP para el movimiento, Chart.js para los gráficos y canvas-confetti para los logros.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62</a:t>
            </a:fld>
            <a:endParaRPr lang="en-US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685800" y="868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A9BBFF"/>
                </a:solidFill>
              </a:rPr>
              <a:t>ETAPA 13 DE 13</a:t>
            </a:r>
            <a:endParaRPr lang="en-US" sz="13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685800" y="1280160"/>
            <a:ext cx="5577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Pruebas de usabilidad</a:t>
            </a:r>
            <a:endParaRPr lang="en-US" sz="4000" dirty="0"/>
          </a:p>
        </p:txBody>
      </p:sp>
      <p:sp>
        <p:nvSpPr>
          <p:cNvPr id="4" name="Text 2"/>
          <p:cNvSpPr/>
          <p:nvPr>
            <p:ph idx="104" type="body" hasCustomPrompt="1"/>
          </p:nvPr>
        </p:nvSpPr>
        <p:spPr>
          <a:xfrm>
            <a:off x="566928" y="3977640"/>
            <a:ext cx="54864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b="1" dirty="0">
                <a:solidFill>
                  <a:srgbClr val="FFFFFF"/>
                </a:solidFill>
              </a:rPr>
              <a:t>13</a:t>
            </a:r>
            <a:endParaRPr lang="en-US" sz="15000" dirty="0"/>
          </a:p>
        </p:txBody>
      </p:sp>
      <p:sp>
        <p:nvSpPr>
          <p:cNvPr id="5" name="Text 2"/>
          <p:cNvSpPr/>
          <p:nvPr>
            <p:ph idx="105" type="body" hasCustomPrompt="1"/>
          </p:nvPr>
        </p:nvSpPr>
        <p:spPr>
          <a:xfrm>
            <a:off x="7178040" y="1463040"/>
            <a:ext cx="452628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EEF1FF"/>
                </a:solidFill>
              </a:rPr>
              <a:t>✓  5 usuarios con el perfil de la user persona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EEF1FF"/>
                </a:solidFill>
              </a:rPr>
              <a:t>✓  Escenario, tareas, preguntas antes y después, introducción y cierre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EEF1FF"/>
                </a:solidFill>
              </a:rPr>
              <a:t>✓  Planillas de registro por usuario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EEF1FF"/>
                </a:solidFill>
              </a:rPr>
              <a:t>✓  Cuadros de eficacia, tiempo y pasos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EEF1FF"/>
                </a:solidFill>
              </a:rPr>
              <a:t>✓  Satisfacción (Google Forms, en %)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EEF1FF"/>
                </a:solidFill>
              </a:rPr>
              <a:t>✓  Informe: qué funcionó, qué no y recomendaciones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9BBF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63</a:t>
            </a:fld>
            <a:endParaRPr lang="en-US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13 · PRUEBAS DE USABILIDAD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Plan de la prueba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48640" y="1691640"/>
            <a:ext cx="5486400" cy="2057400"/>
          </a:xfrm>
          <a:prstGeom prst="roundRect">
            <a:avLst>
              <a:gd name="adj" fmla="val 5333"/>
            </a:avLst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847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BBFF"/>
                </a:solidFill>
              </a:rPr>
              <a:t>ESCENARIO HIPOTÉTICO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176272"/>
            <a:ext cx="50749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FFFFFF"/>
                </a:solidFill>
              </a:rPr>
              <a:t>«Empezaste primer año y en tres semanas tenés el primer parcial de Análisis Matemático I. Un compañero te pasó esta app. Usala como lo harías en tu casa: creá tu cuenta, armá tu plan y estudiá la primera sesión.»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931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D4ED8"/>
                </a:solidFill>
              </a:rPr>
              <a:t>PARTICIPANTES · PERFIL USER PERSONA</a:t>
            </a:r>
            <a:endParaRPr lang="en-US" sz="1100" dirty="0"/>
          </a:p>
        </p:txBody>
      </p:sp>
      <p:graphicFrame>
        <p:nvGraphicFramePr>
          <p:cNvPr id="6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224528"/>
          <a:ext cx="5486400" cy="914400"/>
        </p:xfrm>
        <a:graphic>
          <a:graphicData uri="http://schemas.openxmlformats.org/drawingml/2006/table">
            <a:tbl>
              <a:tblPr/>
              <a:tblGrid>
                <a:gridCol w="1508760"/>
                <a:gridCol w="548640"/>
                <a:gridCol w="2560320"/>
                <a:gridCol w="86868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31B2E"/>
                          </a:solidFill>
                        </a:rPr>
                        <a:t>Usuario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31B2E"/>
                          </a:solidFill>
                        </a:rPr>
                        <a:t>Edad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31B2E"/>
                          </a:solidFill>
                        </a:rPr>
                        <a:t>Carrera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31B2E"/>
                          </a:solidFill>
                        </a:rPr>
                        <a:t>Persona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068"/>
                          </a:solidFill>
                        </a:rPr>
                        <a:t>U1 · Julieta M.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068"/>
                          </a:solidFill>
                        </a:rPr>
                        <a:t>19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068"/>
                          </a:solidFill>
                        </a:rPr>
                        <a:t>Ing. en Sistemas, 1.º año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068"/>
                          </a:solidFill>
                        </a:rPr>
                        <a:t>Tomás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068"/>
                          </a:solidFill>
                        </a:rPr>
                        <a:t>U2 · Nicolás P.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068"/>
                          </a:solidFill>
                        </a:rPr>
                        <a:t>18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068"/>
                          </a:solidFill>
                        </a:rPr>
                        <a:t>Ing. Industrial, 1.º año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068"/>
                          </a:solidFill>
                        </a:rPr>
                        <a:t>Tomás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068"/>
                          </a:solidFill>
                        </a:rPr>
                        <a:t>U3 · Florencia G.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068"/>
                          </a:solidFill>
                        </a:rPr>
                        <a:t>20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068"/>
                          </a:solidFill>
                        </a:rPr>
                        <a:t>Ing. Civil, 1.º año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068"/>
                          </a:solidFill>
                        </a:rPr>
                        <a:t>Tomás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068"/>
                          </a:solidFill>
                        </a:rPr>
                        <a:t>U4 · Ramiro L.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068"/>
                          </a:solidFill>
                        </a:rPr>
                        <a:t>23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068"/>
                          </a:solidFill>
                        </a:rPr>
                        <a:t>Contador Público, 2.º año · trabaja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068"/>
                          </a:solidFill>
                        </a:rPr>
                        <a:t>Camila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068"/>
                          </a:solidFill>
                        </a:rPr>
                        <a:t>U5 · Milagros S.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068"/>
                          </a:solidFill>
                        </a:rPr>
                        <a:t>19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068"/>
                          </a:solidFill>
                        </a:rPr>
                        <a:t>Ing. Química, 1.º año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068"/>
                          </a:solidFill>
                        </a:rPr>
                        <a:t>Tomás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6309360" y="16916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D4ED8"/>
                </a:solidFill>
              </a:rPr>
              <a:t>TAREAS</a:t>
            </a:r>
            <a:endParaRPr lang="en-US" sz="1100" dirty="0"/>
          </a:p>
        </p:txBody>
      </p:sp>
      <p:graphicFrame>
        <p:nvGraphicFramePr>
          <p:cNvPr id="12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1984248"/>
          <a:ext cx="5330952" cy="914400"/>
        </p:xfrm>
        <a:graphic>
          <a:graphicData uri="http://schemas.openxmlformats.org/drawingml/2006/table">
            <a:tbl>
              <a:tblPr/>
              <a:tblGrid>
                <a:gridCol w="384048"/>
                <a:gridCol w="1874520"/>
                <a:gridCol w="1517904"/>
                <a:gridCol w="777240"/>
                <a:gridCol w="7772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31B2E"/>
                          </a:solidFill>
                        </a:rPr>
                        <a:t>Tarea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31B2E"/>
                          </a:solidFill>
                        </a:rPr>
                        <a:t>Criterio de éxito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31B2E"/>
                          </a:solidFill>
                        </a:rPr>
                        <a:t>Pasos óptimos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31B2E"/>
                          </a:solidFill>
                        </a:rPr>
                        <a:t>Tiempo esperado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068"/>
                          </a:solidFill>
                        </a:rPr>
                        <a:t>T1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068"/>
                          </a:solidFill>
                        </a:rPr>
                        <a:t>Crear una cuenta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068"/>
                          </a:solidFill>
                        </a:rPr>
                        <a:t>Llega al diagnóstico con la cuenta creada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068"/>
                          </a:solidFill>
                        </a:rPr>
                        <a:t>7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068"/>
                          </a:solidFill>
                        </a:rPr>
                        <a:t>60 s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068"/>
                          </a:solidFill>
                        </a:rPr>
                        <a:t>T2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068"/>
                          </a:solidFill>
                        </a:rPr>
                        <a:t>Completar el diagnóstico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068"/>
                          </a:solidFill>
                        </a:rPr>
                        <a:t>Ve su perfil de estudio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068"/>
                          </a:solidFill>
                        </a:rPr>
                        <a:t>8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068"/>
                          </a:solidFill>
                        </a:rPr>
                        <a:t>120 s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068"/>
                          </a:solidFill>
                        </a:rPr>
                        <a:t>T3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068"/>
                          </a:solidFill>
                        </a:rPr>
                        <a:t>Cargar Análisis Matemático I con 4 unidades y generar el plan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068"/>
                          </a:solidFill>
                        </a:rPr>
                        <a:t>Llega a «Tu plan está listo»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068"/>
                          </a:solidFill>
                        </a:rPr>
                        <a:t>12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068"/>
                          </a:solidFill>
                        </a:rPr>
                        <a:t>180 s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068"/>
                          </a:solidFill>
                        </a:rPr>
                        <a:t>T4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068"/>
                          </a:solidFill>
                        </a:rPr>
                        <a:t>Hacer la sesión de hoy y escribir dos preguntas al terminar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068"/>
                          </a:solidFill>
                        </a:rPr>
                        <a:t>Guarda 2 preguntas y ve el cierre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068"/>
                          </a:solidFill>
                        </a:rPr>
                        <a:t>7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068"/>
                          </a:solidFill>
                        </a:rPr>
                        <a:t>90 s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068"/>
                          </a:solidFill>
                        </a:rPr>
                        <a:t>T5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068"/>
                          </a:solidFill>
                        </a:rPr>
                        <a:t>Repasar las preguntas y averiguar si la unidad quedó dominada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068"/>
                          </a:solidFill>
                        </a:rPr>
                        <a:t>Encuentra el estado de la unidad en Progreso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068"/>
                          </a:solidFill>
                        </a:rPr>
                        <a:t>6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068"/>
                          </a:solidFill>
                        </a:rPr>
                        <a:t>75 s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64</a:t>
            </a:fld>
            <a:endParaRPr lang="en-US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13 · PRUEBAS DE USABILIDAD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Guion: introducción, preguntas y cierre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651760" cy="4480560"/>
          </a:xfrm>
          <a:prstGeom prst="roundRect">
            <a:avLst>
              <a:gd name="adj" fmla="val 4138"/>
            </a:avLst>
          </a:prstGeom>
          <a:solidFill>
            <a:srgbClr val="EEF1FF"/>
          </a:solidFill>
          <a:ln w="12700">
            <a:solidFill>
              <a:srgbClr val="D3DB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9808" y="19019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37B0"/>
                </a:solidFill>
              </a:rPr>
              <a:t>INTRODUCCIÓN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286000"/>
            <a:ext cx="22860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31B2E"/>
                </a:solidFill>
              </a:rPr>
              <a:t>Gracias por venir. Vamos a probar una app, no a vos: si algo no sale, es un problema de la app.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31B2E"/>
                </a:solidFill>
              </a:rPr>
              <a:t>Pensá en voz alta mientras la usás.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31B2E"/>
                </a:solidFill>
              </a:rPr>
              <a:t>Vamos a tomar notas y medir el tiempo; no grabamos tu cara.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31B2E"/>
                </a:solidFill>
              </a:rPr>
              <a:t>Dura unos 20 minutos.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364992" y="1737360"/>
            <a:ext cx="2651760" cy="4480560"/>
          </a:xfrm>
          <a:prstGeom prst="roundRect">
            <a:avLst>
              <a:gd name="adj" fmla="val 4138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66160" y="19019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D4ED8"/>
                </a:solidFill>
              </a:rPr>
              <a:t>PREGUNTAS ANTES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566160" y="2286000"/>
            <a:ext cx="22860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31B2E"/>
                </a:solidFill>
              </a:rPr>
              <a:t>¿Cómo estudiaste para tu último parcial?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31B2E"/>
                </a:solidFill>
              </a:rPr>
              <a:t>¿Cómo te das cuenta de que ya sabés un tema?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31B2E"/>
                </a:solidFill>
              </a:rPr>
              <a:t>¿Usaste alguna app para estudiar? ¿Qué pasó?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31B2E"/>
                </a:solidFill>
              </a:rPr>
              <a:t>¿Cuánto tiempo por día le dedicás?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81344" y="1737360"/>
            <a:ext cx="2651760" cy="4480560"/>
          </a:xfrm>
          <a:prstGeom prst="roundRect">
            <a:avLst>
              <a:gd name="adj" fmla="val 4138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82512" y="19019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D4ED8"/>
                </a:solidFill>
              </a:rPr>
              <a:t>PREGUNTAS DESPUÉS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382512" y="2286000"/>
            <a:ext cx="22860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31B2E"/>
                </a:solidFill>
              </a:rPr>
              <a:t>¿Qué fue lo más fácil y lo más difícil?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31B2E"/>
                </a:solidFill>
              </a:rPr>
              <a:t>¿Entendiste por qué la app te asignó esa técnica?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31B2E"/>
                </a:solidFill>
              </a:rPr>
              <a:t>¿Te sirvió escribir tus propias preguntas?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31B2E"/>
                </a:solidFill>
              </a:rPr>
              <a:t>¿Qué significa para vos «dominada»?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31B2E"/>
                </a:solidFill>
              </a:rPr>
              <a:t>¿La usarías durante el cuatrimestre?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997696" y="1737360"/>
            <a:ext cx="2651760" cy="4480560"/>
          </a:xfrm>
          <a:prstGeom prst="roundRect">
            <a:avLst>
              <a:gd name="adj" fmla="val 4138"/>
            </a:avLst>
          </a:prstGeom>
          <a:solidFill>
            <a:srgbClr val="E3FBEF"/>
          </a:solidFill>
          <a:ln w="12700">
            <a:solidFill>
              <a:srgbClr val="BFEED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98864" y="19019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6C49"/>
                </a:solidFill>
              </a:rPr>
              <a:t>CIERRE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198864" y="2286000"/>
            <a:ext cx="22860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31B2E"/>
                </a:solidFill>
              </a:rPr>
              <a:t>Agradecemos y respondemos dudas.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31B2E"/>
                </a:solidFill>
              </a:rPr>
              <a:t>Pedimos completar el formulario de satisfacción (Google Forms, 2 minutos).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31B2E"/>
                </a:solidFill>
              </a:rPr>
              <a:t>Explicamos qué vamos a cambiar con lo que encontramos.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65</a:t>
            </a:fld>
            <a:endParaRPr lang="en-US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13 · PLANILLA DE REGISTRO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Planilla de registro · U1 · Julieta M., 19 años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7276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068"/>
                </a:solidFill>
              </a:rPr>
              <a:t>Ing. en Sistemas, 1.º año · perfil Tomás · prueba del 5 de octubre de 2026</a:t>
            </a:r>
            <a:endParaRPr lang="en-US" sz="1300" dirty="0"/>
          </a:p>
        </p:txBody>
      </p:sp>
      <p:graphicFrame>
        <p:nvGraphicFramePr>
          <p:cNvPr id="6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20240"/>
          <a:ext cx="1109167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914400"/>
                <a:gridCol w="1325880"/>
                <a:gridCol w="822960"/>
                <a:gridCol w="2743200"/>
                <a:gridCol w="245059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31B2E"/>
                          </a:solidFill>
                        </a:rPr>
                        <a:t>Tarea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31B2E"/>
                          </a:solidFill>
                        </a:rPr>
                        <a:t>Éxito (1/0)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31B2E"/>
                          </a:solidFill>
                        </a:rPr>
                        <a:t>Pasos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31B2E"/>
                          </a:solidFill>
                        </a:rPr>
                        <a:t>Tiempo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31B2E"/>
                          </a:solidFill>
                        </a:rPr>
                        <a:t>Problemas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31B2E"/>
                          </a:solidFill>
                        </a:rPr>
                        <a:t>Observaciones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T1 · Crear una cuenta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6C49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7 (óptimo 7)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52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Completó sin dudas.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T2 · Completar el diagnóstico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6C49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8 (óptimo 8)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95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Leyó todas las opciones antes de elegir.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T3 · Cargar Análisis Matemático I con 4 unidades y generar el plan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6C49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13 (óptimo 12)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170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Buscó cómo cambiar la dificultad de una unidad.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Entendió los chips al segundo intento.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T4 · Hacer la sesión de hoy y escribir dos preguntas al terminar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6C49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8 (óptimo 7)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84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Dudó qué escribir como pregunta.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Pidió un ejemplo de pregunta.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T5 · Repasar las preguntas y averiguar si la unidad quedó dominada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6C49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8 (óptimo 6)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92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No encontraba dónde ver si la unidad quedó dominada.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Buscó en Perfil antes que en el HOME.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5943600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31B2E"/>
                </a:solidFill>
              </a:rPr>
              <a:t>Resumen: </a:t>
            </a:r>
            <a:pPr indent="0" marL="0">
              <a:buNone/>
            </a:pPr>
            <a:r>
              <a:rPr lang="en-US" sz="1300" dirty="0">
                <a:solidFill>
                  <a:srgbClr val="4A5068"/>
                </a:solidFill>
              </a:rPr>
              <a:t>5 de 5 tareas completadas · 8 min 13 s en total · 44 pasos (óptimo 40)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66</a:t>
            </a:fld>
            <a:endParaRPr lang="en-US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13 · PLANILLA DE REGISTRO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Planilla de registro · U2 · Nicolás P., 18 años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7276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068"/>
                </a:solidFill>
              </a:rPr>
              <a:t>Ing. Industrial, 1.º año · perfil Tomás · prueba del 6 de octubre de 2026</a:t>
            </a:r>
            <a:endParaRPr lang="en-US" sz="1300" dirty="0"/>
          </a:p>
        </p:txBody>
      </p:sp>
      <p:graphicFrame>
        <p:nvGraphicFramePr>
          <p:cNvPr id="6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20240"/>
          <a:ext cx="1109167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914400"/>
                <a:gridCol w="1325880"/>
                <a:gridCol w="822960"/>
                <a:gridCol w="2743200"/>
                <a:gridCol w="245059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31B2E"/>
                          </a:solidFill>
                        </a:rPr>
                        <a:t>Tarea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31B2E"/>
                          </a:solidFill>
                        </a:rPr>
                        <a:t>Éxito (1/0)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31B2E"/>
                          </a:solidFill>
                        </a:rPr>
                        <a:t>Pasos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31B2E"/>
                          </a:solidFill>
                        </a:rPr>
                        <a:t>Tiempo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31B2E"/>
                          </a:solidFill>
                        </a:rPr>
                        <a:t>Problemas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31B2E"/>
                          </a:solidFill>
                        </a:rPr>
                        <a:t>Observaciones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T1 · Crear una cuenta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6C49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8 (óptimo 7)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71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Puso una contraseña de menos de 6 caracteres.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Corrigió con el mensaje de error.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T2 · Completar el diagnóstico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6C49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8 (óptimo 8)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88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T3 · Cargar Análisis Matemático I con 4 unidades y generar el plan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6C49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12 (óptimo 12)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150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Recorrido óptimo.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T4 · Hacer la sesión de hoy y escribir dos preguntas al terminar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6C49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7 (óptimo 7)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70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Escribió preguntas cortas y concretas.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T5 · Repasar las preguntas y averiguar si la unidad quedó dominada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6C49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7 (óptimo 6)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80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Confundió «leído» con «dominado».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Preguntó qué diferencia había.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5943600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31B2E"/>
                </a:solidFill>
              </a:rPr>
              <a:t>Resumen: </a:t>
            </a:r>
            <a:pPr indent="0" marL="0">
              <a:buNone/>
            </a:pPr>
            <a:r>
              <a:rPr lang="en-US" sz="1300" dirty="0">
                <a:solidFill>
                  <a:srgbClr val="4A5068"/>
                </a:solidFill>
              </a:rPr>
              <a:t>5 de 5 tareas completadas · 7 min 39 s en total · 42 pasos (óptimo 40)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67</a:t>
            </a:fld>
            <a:endParaRPr lang="en-US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13 · PLANILLA DE REGISTRO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Planilla de registro · U3 · Florencia G., 20 años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7276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068"/>
                </a:solidFill>
              </a:rPr>
              <a:t>Ing. Civil, 1.º año · perfil Tomás · prueba del 7 de octubre de 2026</a:t>
            </a:r>
            <a:endParaRPr lang="en-US" sz="1300" dirty="0"/>
          </a:p>
        </p:txBody>
      </p:sp>
      <p:graphicFrame>
        <p:nvGraphicFramePr>
          <p:cNvPr id="6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20240"/>
          <a:ext cx="1109167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914400"/>
                <a:gridCol w="1325880"/>
                <a:gridCol w="822960"/>
                <a:gridCol w="2743200"/>
                <a:gridCol w="245059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31B2E"/>
                          </a:solidFill>
                        </a:rPr>
                        <a:t>Tarea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31B2E"/>
                          </a:solidFill>
                        </a:rPr>
                        <a:t>Éxito (1/0)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31B2E"/>
                          </a:solidFill>
                        </a:rPr>
                        <a:t>Pasos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31B2E"/>
                          </a:solidFill>
                        </a:rPr>
                        <a:t>Tiempo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31B2E"/>
                          </a:solidFill>
                        </a:rPr>
                        <a:t>Problemas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31B2E"/>
                          </a:solidFill>
                        </a:rPr>
                        <a:t>Observaciones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T1 · Crear una cuenta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6C49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7 (óptimo 7)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58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T2 · Completar el diagnóstico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6C49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9 (óptimo 8)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140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Volvió atrás para cambiar una respuesta.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Dudó en el paso de la franja horaria.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T3 · Cargar Análisis Matemático I con 4 unidades y generar el plan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6C49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15 (óptimo 12)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236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No vio el botón «Agregar unidad»: había que bajar.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Lo encontró al hacer scroll.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T4 · Hacer la sesión de hoy y escribir dos preguntas al terminar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BA1A1A"/>
                          </a:solidFill>
                        </a:rPr>
                        <a:t>0</a:t>
                      </a:r>
                      <a:endParaRPr lang="en-US" sz="14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11 (óptimo 7)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150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Tocó «Omitir por hoy» y cerró sin preguntas.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«No sabía qué preguntarme.»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T5 · Repasar las preguntas y averiguar si la unidad quedó dominada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6C49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9 (óptimo 6)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110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Entró a Calendario buscando el quiz.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Volvió al HOME y usó la tarjeta de preguntas.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5943600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31B2E"/>
                </a:solidFill>
              </a:rPr>
              <a:t>Resumen: </a:t>
            </a:r>
            <a:pPr indent="0" marL="0">
              <a:buNone/>
            </a:pPr>
            <a:r>
              <a:rPr lang="en-US" sz="1300" dirty="0">
                <a:solidFill>
                  <a:srgbClr val="4A5068"/>
                </a:solidFill>
              </a:rPr>
              <a:t>4 de 5 tareas completadas · 11 min 34 s en total · 51 pasos (óptimo 40)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68</a:t>
            </a:fld>
            <a:endParaRPr lang="en-US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13 · PLANILLA DE REGISTRO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Planilla de registro · U4 · Ramiro L., 23 años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7276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068"/>
                </a:solidFill>
              </a:rPr>
              <a:t>Contador Público, 2.º año · trabaja · perfil Camila · prueba del 8 de octubre de 2026</a:t>
            </a:r>
            <a:endParaRPr lang="en-US" sz="1300" dirty="0"/>
          </a:p>
        </p:txBody>
      </p:sp>
      <p:graphicFrame>
        <p:nvGraphicFramePr>
          <p:cNvPr id="7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20240"/>
          <a:ext cx="1109167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914400"/>
                <a:gridCol w="1325880"/>
                <a:gridCol w="822960"/>
                <a:gridCol w="2743200"/>
                <a:gridCol w="245059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31B2E"/>
                          </a:solidFill>
                        </a:rPr>
                        <a:t>Tarea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31B2E"/>
                          </a:solidFill>
                        </a:rPr>
                        <a:t>Éxito (1/0)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31B2E"/>
                          </a:solidFill>
                        </a:rPr>
                        <a:t>Pasos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31B2E"/>
                          </a:solidFill>
                        </a:rPr>
                        <a:t>Tiempo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31B2E"/>
                          </a:solidFill>
                        </a:rPr>
                        <a:t>Problemas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31B2E"/>
                          </a:solidFill>
                        </a:rPr>
                        <a:t>Observaciones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T1 · Crear una cuenta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6C49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7 (óptimo 7)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49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T2 · Completar el diagnóstico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6C49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8 (óptimo 8)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76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Valoró que dure menos de 5 minutos.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T3 · Cargar Análisis Matemático I con 4 unidades y generar el plan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6C49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12 (óptimo 12)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162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T4 · Hacer la sesión de hoy y escribir dos preguntas al terminar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6C49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7 (óptimo 7)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81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Usaría la sesión en el colectivo.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T5 · Repasar las preguntas y averiguar si la unidad quedó dominada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BA1A1A"/>
                          </a:solidFill>
                        </a:rPr>
                        <a:t>0</a:t>
                      </a:r>
                      <a:endParaRPr lang="en-US" sz="14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12 (óptimo 6)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168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No encontró el progreso y abandonó.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«¿Dónde veo si ya lo sé?»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5943600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31B2E"/>
                </a:solidFill>
              </a:rPr>
              <a:t>Resumen: </a:t>
            </a:r>
            <a:pPr indent="0" marL="0">
              <a:buNone/>
            </a:pPr>
            <a:r>
              <a:rPr lang="en-US" sz="1300" dirty="0">
                <a:solidFill>
                  <a:srgbClr val="4A5068"/>
                </a:solidFill>
              </a:rPr>
              <a:t>4 de 5 tareas completadas · 8 min 56 s en total · 46 pasos (óptimo 40)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69</a:t>
            </a:fld>
            <a:endParaRPr lang="en-US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13 · PLANILLA DE REGISTRO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Planilla de registro · U5 · Milagros S., 19 años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7276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068"/>
                </a:solidFill>
              </a:rPr>
              <a:t>Ing. Química, 1.º año · perfil Tomás · prueba del 9 de octubre de 2026</a:t>
            </a:r>
            <a:endParaRPr lang="en-US" sz="1300" dirty="0"/>
          </a:p>
        </p:txBody>
      </p:sp>
      <p:graphicFrame>
        <p:nvGraphicFramePr>
          <p:cNvPr id="7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20240"/>
          <a:ext cx="1109167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914400"/>
                <a:gridCol w="1325880"/>
                <a:gridCol w="822960"/>
                <a:gridCol w="2743200"/>
                <a:gridCol w="245059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31B2E"/>
                          </a:solidFill>
                        </a:rPr>
                        <a:t>Tarea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31B2E"/>
                          </a:solidFill>
                        </a:rPr>
                        <a:t>Éxito (1/0)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31B2E"/>
                          </a:solidFill>
                        </a:rPr>
                        <a:t>Pasos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31B2E"/>
                          </a:solidFill>
                        </a:rPr>
                        <a:t>Tiempo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31B2E"/>
                          </a:solidFill>
                        </a:rPr>
                        <a:t>Problemas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31B2E"/>
                          </a:solidFill>
                        </a:rPr>
                        <a:t>Observaciones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T1 · Crear una cuenta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6C49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9 (óptimo 7)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83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No veía la contraseña que escribía.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Pidió un botón para mostrarla.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T2 · Completar el diagnóstico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6C49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8 (óptimo 8)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102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T3 · Cargar Análisis Matemático I con 4 unidades y generar el plan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6C49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14 (óptimo 12)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205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Dudó con la fecha del parcial.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T4 · Hacer la sesión de hoy y escribir dos preguntas al terminar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6C49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9 (óptimo 7)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112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Le costó ver «Empezar sesión»: el botón era chico.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Tocó primero la tarjeta entera.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T5 · Repasar las preguntas y averiguar si la unidad quedó dominada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6C49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10 (óptimo 6)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121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No entendía la diferencia entre leído y dominado.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5943600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31B2E"/>
                </a:solidFill>
              </a:rPr>
              <a:t>Resumen: </a:t>
            </a:r>
            <a:pPr indent="0" marL="0">
              <a:buNone/>
            </a:pPr>
            <a:r>
              <a:rPr lang="en-US" sz="1300" dirty="0">
                <a:solidFill>
                  <a:srgbClr val="4A5068"/>
                </a:solidFill>
              </a:rPr>
              <a:t>5 de 5 tareas completadas · 10 min 23 s en total · 50 pasos (óptimo 40)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70</a:t>
            </a:fld>
            <a:endParaRPr lang="en-US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13 · RESULTADOS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Cuadro de eficacia: 23 de 25 tareas completadas (92 %)</a:t>
            </a:r>
            <a:endParaRPr lang="en-US" sz="3000" dirty="0"/>
          </a:p>
        </p:txBody>
      </p:sp>
      <p:graphicFrame>
        <p:nvGraphicFramePr>
          <p:cNvPr id="7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63093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731520"/>
                <a:gridCol w="731520"/>
                <a:gridCol w="731520"/>
                <a:gridCol w="731520"/>
                <a:gridCol w="731520"/>
                <a:gridCol w="9144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Usuario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T1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T2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T3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T4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T5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Eficacia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U1 · Julieta M.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6C49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6C49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6C49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6C49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6C49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100 %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U2 · Nicolás P.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6C49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6C49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6C49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6C49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6C49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100 %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U3 · Florencia G.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6C49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6C49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6C49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A1A1A"/>
                          </a:solidFill>
                        </a:rPr>
                        <a:t>0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6C49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80 %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U4 · Ramiro L.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6C49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6C49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6C49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6C49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A1A1A"/>
                          </a:solidFill>
                        </a:rPr>
                        <a:t>0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80 %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U5 · Milagros S.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6C49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6C49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6C49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6C49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6C49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100 %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37B0"/>
                          </a:solidFill>
                        </a:rPr>
                        <a:t>Eficacia por tarea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37B0"/>
                          </a:solidFill>
                        </a:rPr>
                        <a:t>100 %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37B0"/>
                          </a:solidFill>
                        </a:rPr>
                        <a:t>100 %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37B0"/>
                          </a:solidFill>
                        </a:rPr>
                        <a:t>100 %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37B0"/>
                          </a:solidFill>
                        </a:rPr>
                        <a:t>80 %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37B0"/>
                          </a:solidFill>
                        </a:rPr>
                        <a:t>80 %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hart 0" descr=""/>
          <p:cNvGraphicFramePr/>
          <p:nvPr/>
        </p:nvGraphicFramePr>
        <p:xfrm>
          <a:off x="7132320" y="1691640"/>
          <a:ext cx="4507992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71</a:t>
            </a:fld>
            <a:endParaRPr lang="en-US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13 · RESULTADOS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Cuadro de tiempo: T5 tardó un 52 % más de lo esperado</a:t>
            </a:r>
            <a:endParaRPr lang="en-US" sz="3000" dirty="0"/>
          </a:p>
        </p:txBody>
      </p:sp>
      <p:graphicFrame>
        <p:nvGraphicFramePr>
          <p:cNvPr id="7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63093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731520"/>
                <a:gridCol w="731520"/>
                <a:gridCol w="731520"/>
                <a:gridCol w="731520"/>
                <a:gridCol w="731520"/>
                <a:gridCol w="9144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Usuario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T1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T2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T3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T4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T5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Promedio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U1 · Julieta M.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52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95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170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84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92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99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U2 · Nicolás P.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71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88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150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70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80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92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U3 · Florencia G.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58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140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236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150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110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139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U4 · Ramiro L.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49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76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162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81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168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107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U5 · Milagros S.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83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102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205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112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121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125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37B0"/>
                          </a:solidFill>
                        </a:rPr>
                        <a:t>Promedio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37B0"/>
                          </a:solidFill>
                        </a:rPr>
                        <a:t>63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37B0"/>
                          </a:solidFill>
                        </a:rPr>
                        <a:t>100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37B0"/>
                          </a:solidFill>
                        </a:rPr>
                        <a:t>185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37B0"/>
                          </a:solidFill>
                        </a:rPr>
                        <a:t>99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37B0"/>
                          </a:solidFill>
                        </a:rPr>
                        <a:t>114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B7189"/>
                          </a:solidFill>
                        </a:rPr>
                        <a:t>Tiempo esperado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7189"/>
                          </a:solidFill>
                        </a:rPr>
                        <a:t>60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7189"/>
                          </a:solidFill>
                        </a:rPr>
                        <a:t>120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7189"/>
                          </a:solidFill>
                        </a:rPr>
                        <a:t>180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7189"/>
                          </a:solidFill>
                        </a:rPr>
                        <a:t>90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7189"/>
                          </a:solidFill>
                        </a:rPr>
                        <a:t>75 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5" name="Chart 0" descr=""/>
          <p:cNvGraphicFramePr/>
          <p:nvPr/>
        </p:nvGraphicFramePr>
        <p:xfrm>
          <a:off x="7132320" y="1691640"/>
          <a:ext cx="4507992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72</a:t>
            </a:fld>
            <a:endParaRPr lang="en-US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13 · RESULTADOS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Cuadro de pasos: los desvíos se concentran en T3, T4 y T5</a:t>
            </a:r>
            <a:endParaRPr lang="en-US" sz="3000" dirty="0"/>
          </a:p>
        </p:txBody>
      </p:sp>
      <p:graphicFrame>
        <p:nvGraphicFramePr>
          <p:cNvPr id="7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63093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731520"/>
                <a:gridCol w="731520"/>
                <a:gridCol w="731520"/>
                <a:gridCol w="731520"/>
                <a:gridCol w="731520"/>
                <a:gridCol w="9144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Usuario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T1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T2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T3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T4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T5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Promedio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U1 · Julieta M.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7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13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8.8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U2 · Nicolás P.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12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7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7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8.4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U3 · Florencia G.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7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9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15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11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9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10.2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U4 · Ramiro L.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7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12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7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12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9.2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U5 · Milagros S.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9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14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9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10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31B2E"/>
                          </a:solidFill>
                        </a:rPr>
                        <a:t>10.0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37B0"/>
                          </a:solidFill>
                        </a:rPr>
                        <a:t>Promedio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37B0"/>
                          </a:solidFill>
                        </a:rPr>
                        <a:t>7.6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37B0"/>
                          </a:solidFill>
                        </a:rPr>
                        <a:t>8.2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37B0"/>
                          </a:solidFill>
                        </a:rPr>
                        <a:t>13.2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37B0"/>
                          </a:solidFill>
                        </a:rPr>
                        <a:t>8.4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37B0"/>
                          </a:solidFill>
                        </a:rPr>
                        <a:t>9.2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B7189"/>
                          </a:solidFill>
                        </a:rPr>
                        <a:t>Pasos óptimos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7189"/>
                          </a:solidFill>
                        </a:rPr>
                        <a:t>7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7189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7189"/>
                          </a:solidFill>
                        </a:rPr>
                        <a:t>12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7189"/>
                          </a:solidFill>
                        </a:rPr>
                        <a:t>7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7189"/>
                          </a:solidFill>
                        </a:rPr>
                        <a:t>6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5" name="Chart 0" descr=""/>
          <p:cNvGraphicFramePr/>
          <p:nvPr/>
        </p:nvGraphicFramePr>
        <p:xfrm>
          <a:off x="7132320" y="1691640"/>
          <a:ext cx="4507992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73</a:t>
            </a:fld>
            <a:endParaRPr lang="en-US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13 · SATISFACCIÓN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Satisfacción: formulario de Google, 5 respuestas</a:t>
            </a:r>
            <a:endParaRPr lang="en-US" sz="3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691640"/>
          <a:ext cx="749808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2"/>
          <p:cNvSpPr/>
          <p:nvPr/>
        </p:nvSpPr>
        <p:spPr>
          <a:xfrm>
            <a:off x="8321040" y="1783080"/>
            <a:ext cx="3319272" cy="2103120"/>
          </a:xfrm>
          <a:prstGeom prst="roundRect">
            <a:avLst>
              <a:gd name="adj" fmla="val 5217"/>
            </a:avLst>
          </a:prstGeom>
          <a:solidFill>
            <a:srgbClr val="EEF1FF"/>
          </a:solidFill>
          <a:ln w="12700">
            <a:solidFill>
              <a:srgbClr val="D3DBFF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549640" y="192024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0037B0"/>
                </a:solidFill>
              </a:rPr>
              <a:t>4,2</a:t>
            </a:r>
            <a:endParaRPr lang="en-US" sz="5400" dirty="0"/>
          </a:p>
        </p:txBody>
      </p:sp>
      <p:sp>
        <p:nvSpPr>
          <p:cNvPr id="8" name="Text 4"/>
          <p:cNvSpPr txBox="1"/>
          <p:nvPr/>
        </p:nvSpPr>
        <p:spPr>
          <a:xfrm>
            <a:off x="8549640" y="288036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31B2E"/>
                </a:solidFill>
              </a:rPr>
              <a:t>satisfacción general promedio, sobre 5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8321040" y="4069080"/>
            <a:ext cx="3319272" cy="2103120"/>
          </a:xfrm>
          <a:prstGeom prst="roundRect">
            <a:avLst>
              <a:gd name="adj" fmla="val 5217"/>
            </a:avLst>
          </a:prstGeom>
          <a:solidFill>
            <a:srgbClr val="FFECEB"/>
          </a:solidFill>
          <a:ln w="12700">
            <a:solidFill>
              <a:srgbClr val="F7C9C5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549640" y="420624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BA1A1A"/>
                </a:solidFill>
              </a:rPr>
              <a:t>40 %</a:t>
            </a:r>
            <a:endParaRPr lang="en-US" sz="5400" dirty="0"/>
          </a:p>
        </p:txBody>
      </p:sp>
      <p:sp>
        <p:nvSpPr>
          <p:cNvPr id="11" name="Text 7"/>
          <p:cNvSpPr txBox="1"/>
          <p:nvPr/>
        </p:nvSpPr>
        <p:spPr>
          <a:xfrm>
            <a:off x="8549640" y="516636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31B2E"/>
                </a:solidFill>
              </a:rPr>
              <a:t>entendió la diferencia entre leído y dominado: la prioridad uno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74</a:t>
            </a:fld>
            <a:endParaRPr lang="en-US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13 · INFORME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Informe de usabilidad: qué funcionó y qué no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440680" cy="4480560"/>
          </a:xfrm>
          <a:prstGeom prst="roundRect">
            <a:avLst>
              <a:gd name="adj" fmla="val 2449"/>
            </a:avLst>
          </a:prstGeom>
          <a:solidFill>
            <a:srgbClr val="E3FBEF"/>
          </a:solidFill>
          <a:ln w="12700">
            <a:solidFill>
              <a:srgbClr val="BFEED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901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6C49"/>
                </a:solidFill>
              </a:rPr>
              <a:t>QUÉ FUNCIONÓ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331720"/>
            <a:ext cx="502920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600"/>
              </a:spcAft>
              <a:buSzPct val="100000"/>
              <a:buChar char="•"/>
            </a:pPr>
            <a:r>
              <a:rPr lang="en-US" sz="1650" dirty="0">
                <a:solidFill>
                  <a:srgbClr val="131B2E"/>
                </a:solidFill>
              </a:rPr>
              <a:t>Registro y diagnóstico: 100 % de eficacia y por debajo del tiempo esperado.</a:t>
            </a:r>
            <a:endParaRPr lang="en-US" sz="1650" dirty="0"/>
          </a:p>
          <a:p>
            <a:pPr marL="152400" indent="-152400">
              <a:spcAft>
                <a:spcPts val="1600"/>
              </a:spcAft>
              <a:buSzPct val="100000"/>
              <a:buChar char="•"/>
            </a:pPr>
            <a:r>
              <a:rPr lang="en-US" sz="1650" dirty="0">
                <a:solidFill>
                  <a:srgbClr val="131B2E"/>
                </a:solidFill>
              </a:rPr>
              <a:t>El plan generado se entendió sin explicación; 4 de 5 aceptaron la técnica propuesta sin objetar.</a:t>
            </a:r>
            <a:endParaRPr lang="en-US" sz="1650" dirty="0"/>
          </a:p>
          <a:p>
            <a:pPr marL="152400" indent="-152400">
              <a:spcAft>
                <a:spcPts val="1600"/>
              </a:spcAft>
              <a:buSzPct val="100000"/>
              <a:buChar char="•"/>
            </a:pPr>
            <a:r>
              <a:rPr lang="en-US" sz="1650" dirty="0">
                <a:solidFill>
                  <a:srgbClr val="131B2E"/>
                </a:solidFill>
              </a:rPr>
              <a:t>La sesión guiada con cronómetro: «sé qué hacer, no solo cuánto».</a:t>
            </a:r>
            <a:endParaRPr lang="en-US" sz="1650" dirty="0"/>
          </a:p>
          <a:p>
            <a:pPr marL="152400" indent="-152400">
              <a:spcAft>
                <a:spcPts val="1600"/>
              </a:spcAft>
              <a:buSzPct val="100000"/>
              <a:buChar char="•"/>
            </a:pPr>
            <a:r>
              <a:rPr lang="en-US" sz="1650" dirty="0">
                <a:solidFill>
                  <a:srgbClr val="131B2E"/>
                </a:solidFill>
              </a:rPr>
              <a:t>El diseño: 100 % lo calificó con 4 o 5.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199632" y="1737360"/>
            <a:ext cx="5440680" cy="4480560"/>
          </a:xfrm>
          <a:prstGeom prst="roundRect">
            <a:avLst>
              <a:gd name="adj" fmla="val 2449"/>
            </a:avLst>
          </a:prstGeom>
          <a:solidFill>
            <a:srgbClr val="FFECEB"/>
          </a:solidFill>
          <a:ln w="12700">
            <a:solidFill>
              <a:srgbClr val="F7C9C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28232" y="1901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A1A1A"/>
                </a:solidFill>
              </a:rPr>
              <a:t>QUÉ NO FUNCIONÓ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428232" y="2331720"/>
            <a:ext cx="502920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600"/>
              </a:spcAft>
              <a:buSzPct val="100000"/>
              <a:buChar char="•"/>
            </a:pPr>
            <a:r>
              <a:rPr lang="en-US" sz="1650" dirty="0">
                <a:solidFill>
                  <a:srgbClr val="131B2E"/>
                </a:solidFill>
              </a:rPr>
              <a:t>Progreso estaba escondido en Perfil: 1 abandono y 3 usuarios lo buscaron en otro lado (T5).</a:t>
            </a:r>
            <a:endParaRPr lang="en-US" sz="1650" dirty="0"/>
          </a:p>
          <a:p>
            <a:pPr marL="152400" indent="-152400">
              <a:spcAft>
                <a:spcPts val="1600"/>
              </a:spcAft>
              <a:buSzPct val="100000"/>
              <a:buChar char="•"/>
            </a:pPr>
            <a:r>
              <a:rPr lang="en-US" sz="1650" dirty="0">
                <a:solidFill>
                  <a:srgbClr val="131B2E"/>
                </a:solidFill>
              </a:rPr>
              <a:t>«Leído» y «dominado» no se entienden sin explicación: 40 % de comprensión.</a:t>
            </a:r>
            <a:endParaRPr lang="en-US" sz="1650" dirty="0"/>
          </a:p>
          <a:p>
            <a:pPr marL="152400" indent="-152400">
              <a:spcAft>
                <a:spcPts val="1600"/>
              </a:spcAft>
              <a:buSzPct val="100000"/>
              <a:buChar char="•"/>
            </a:pPr>
            <a:r>
              <a:rPr lang="en-US" sz="1650" dirty="0">
                <a:solidFill>
                  <a:srgbClr val="131B2E"/>
                </a:solidFill>
              </a:rPr>
              <a:t>La hoja en blanco al escribir preguntas: 1 usuaria omitió el paso (T4).</a:t>
            </a:r>
            <a:endParaRPr lang="en-US" sz="1650" dirty="0"/>
          </a:p>
          <a:p>
            <a:pPr marL="152400" indent="-152400">
              <a:spcAft>
                <a:spcPts val="1600"/>
              </a:spcAft>
              <a:buSzPct val="100000"/>
              <a:buChar char="•"/>
            </a:pPr>
            <a:r>
              <a:rPr lang="en-US" sz="1650" dirty="0">
                <a:solidFill>
                  <a:srgbClr val="131B2E"/>
                </a:solidFill>
              </a:rPr>
              <a:t>Botón «Empezar sesión» chico; «Agregar unidad» fuera de la vista; contraseña sin opción de mostrar.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75</a:t>
            </a:fld>
            <a:endParaRPr lang="en-US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ETAPA 13 · INFORME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Recomendaciones y cambios aplicados en el prototipo</a:t>
            </a:r>
            <a:endParaRPr lang="en-US" sz="3000" dirty="0"/>
          </a:p>
        </p:txBody>
      </p:sp>
      <p:graphicFrame>
        <p:nvGraphicFramePr>
          <p:cNvPr id="7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91672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5239512"/>
                <a:gridCol w="1097280"/>
                <a:gridCol w="137160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31B2E"/>
                          </a:solidFill>
                        </a:rPr>
                        <a:t>Problema observado</a:t>
                      </a:r>
                      <a:endParaRPr lang="en-US" sz="12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31B2E"/>
                          </a:solidFill>
                        </a:rPr>
                        <a:t>Recomendación</a:t>
                      </a:r>
                      <a:endParaRPr lang="en-US" sz="12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31B2E"/>
                          </a:solidFill>
                        </a:rPr>
                        <a:t>Prioridad</a:t>
                      </a:r>
                      <a:endParaRPr lang="en-US" sz="12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31B2E"/>
                          </a:solidFill>
                        </a:rPr>
                        <a:t>Estado</a:t>
                      </a:r>
                      <a:endParaRPr lang="en-US" sz="12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No encontraban el progreso (T5)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Progreso como 5.º destino de la barra de navegación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A1A1A"/>
                          </a:solidFill>
                        </a:rPr>
                        <a:t>Alta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6C49"/>
                          </a:solidFill>
                        </a:rPr>
                        <a:t>Aplicado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Leído vs. dominado poco claro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Leyenda en Progreso y hoja de ayuda que explica los tres estados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A1A1A"/>
                          </a:solidFill>
                        </a:rPr>
                        <a:t>Alta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6C49"/>
                          </a:solidFill>
                        </a:rPr>
                        <a:t>Aplicado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Hoja en blanco al escribir preguntas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Chips disparadores: ¿Qué es…?, ¿Por qué…?, ¿Cómo se aplica…?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A1A1A"/>
                          </a:solidFill>
                        </a:rPr>
                        <a:t>Alta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6C49"/>
                          </a:solidFill>
                        </a:rPr>
                        <a:t>Aplicado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Omitir preguntas sin saber qué implica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Diálogo que avisa que la unidad quedará «leída sin probar»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25100"/>
                          </a:solidFill>
                        </a:rPr>
                        <a:t>Media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6C49"/>
                          </a:solidFill>
                        </a:rPr>
                        <a:t>Aplicado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«Empezar sesión» difícil de ver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Botón de ancho completo en la tarjeta de próxima sesión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25100"/>
                          </a:solidFill>
                        </a:rPr>
                        <a:t>Media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6C49"/>
                          </a:solidFill>
                        </a:rPr>
                        <a:t>Aplicado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«Agregar unidad» fuera de la vista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Botón fijo sobre el pie, junto a «Guardar»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25100"/>
                          </a:solidFill>
                        </a:rPr>
                        <a:t>Media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6C49"/>
                          </a:solidFill>
                        </a:rPr>
                        <a:t>Aplicado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No veían la contraseña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Botón para mostrar u ocultar la contraseña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6B7189"/>
                          </a:solidFill>
                        </a:rPr>
                        <a:t>Baja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6C49"/>
                          </a:solidFill>
                        </a:rPr>
                        <a:t>Aplicado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Un usuario quería elegir la técnica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5068"/>
                          </a:solidFill>
                        </a:rPr>
                        <a:t>No se aplica: contradice la premisa de que la app decide el método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6B7189"/>
                          </a:solidFill>
                        </a:rPr>
                        <a:t>Baja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6B7189"/>
                          </a:solidFill>
                        </a:rPr>
                        <a:t>Descartado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76</a:t>
            </a:fld>
            <a:endParaRPr lang="en-US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</a:rPr>
              <a:t>CIERRE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1B2E"/>
                </a:solidFill>
              </a:rPr>
              <a:t>Qué nos llevamos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520440" cy="2377440"/>
          </a:xfrm>
          <a:prstGeom prst="roundRect">
            <a:avLst>
              <a:gd name="adj" fmla="val 4615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011680"/>
            <a:ext cx="457200" cy="457200"/>
          </a:xfrm>
          <a:prstGeom prst="ellipse">
            <a:avLst/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6060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31B2E"/>
                </a:solidFill>
              </a:rPr>
              <a:t>Diseñar sobre evidencia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06324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068"/>
                </a:solidFill>
              </a:rPr>
              <a:t>El dato del 53 % cambió el producto: pasó de agenda a herramienta de autoevaluación.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297680" y="1783080"/>
            <a:ext cx="3520440" cy="2377440"/>
          </a:xfrm>
          <a:prstGeom prst="roundRect">
            <a:avLst>
              <a:gd name="adj" fmla="val 4615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0" y="2011680"/>
            <a:ext cx="457200" cy="457200"/>
          </a:xfrm>
          <a:prstGeom prst="ellipse">
            <a:avLst/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0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0" y="26060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31B2E"/>
                </a:solidFill>
              </a:rPr>
              <a:t>Validar con usuarios reales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0" y="306324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068"/>
                </a:solidFill>
              </a:rPr>
              <a:t>El card sorting definió la navegación y las pruebas encontraron lo que nosotros no veíamos.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046720" y="1783080"/>
            <a:ext cx="3520440" cy="2377440"/>
          </a:xfrm>
          <a:prstGeom prst="roundRect">
            <a:avLst>
              <a:gd name="adj" fmla="val 4615"/>
            </a:avLst>
          </a:prstGeom>
          <a:solidFill>
            <a:srgbClr val="F5F6FB"/>
          </a:solidFill>
          <a:ln w="12700">
            <a:solidFill>
              <a:srgbClr val="E2E4E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21040" y="2011680"/>
            <a:ext cx="457200" cy="457200"/>
          </a:xfrm>
          <a:prstGeom prst="ellipse">
            <a:avLst/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0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321040" y="26060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31B2E"/>
                </a:solidFill>
              </a:rPr>
              <a:t>Iterar rápido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321040" y="306324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068"/>
                </a:solidFill>
              </a:rPr>
              <a:t>Siete de ocho recomendaciones ya están en el prototipo funcional.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389120"/>
            <a:ext cx="11091672" cy="1828800"/>
          </a:xfrm>
          <a:prstGeom prst="roundRect">
            <a:avLst>
              <a:gd name="adj" fmla="val 6000"/>
            </a:avLst>
          </a:prstGeom>
          <a:solidFill>
            <a:srgbClr val="0037B0"/>
          </a:solidFill>
          <a:ln w="12700">
            <a:solidFill>
              <a:srgbClr val="0037B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68680" y="45720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A9BBFF"/>
                </a:solidFill>
              </a:rPr>
              <a:t>Próximo paso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868680" y="4937760"/>
            <a:ext cx="10424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Validar el MVP con 6 estudiantes durante 3 semanas de cursada real, midiendo sesiones completadas sobre planificadas, preguntas escritas por unidad y la diferencia entre la nota que se autoasignan y la que obtienen.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6422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18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77</a:t>
            </a:fld>
            <a:endParaRPr lang="en-US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41848" y="1188720"/>
            <a:ext cx="914400" cy="9144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23317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¡Gracias!</a:t>
            </a:r>
            <a:endParaRPr lang="en-US" sz="5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3383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CE1FF"/>
                </a:solidFill>
              </a:rPr>
              <a:t>Asesor de Estudio · Grupo C «Figma locos»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41148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9BBFF"/>
                </a:solidFill>
              </a:rPr>
              <a:t>Alvarez, Joaquín · Dallape, Vincenzo · Flores, Martín · Lovos, David · Ortiz, Renzo · Podesta, Isidro · Saini, Alejo</a:t>
            </a:r>
            <a:endParaRPr lang="en-US" sz="1400" dirty="0"/>
          </a:p>
        </p:txBody>
      </p:sp>
      <p:sp>
        <p:nvSpPr>
          <p:cNvPr id="6" name="Text 3">
            <a:hlinkClick r:id="rId2" tooltip=""/>
          </p:cNvPr>
          <p:cNvSpPr txBox="1"/>
          <p:nvPr/>
        </p:nvSpPr>
        <p:spPr>
          <a:xfrm>
            <a:off x="548640" y="48463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u="sng" dirty="0">
                <a:solidFill>
                  <a:srgbClr val="6CF8BB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Prototipo: asesor-de-estudio-grupo-c.vercel.app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03504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9BBFF"/>
                </a:solidFill>
              </a:rPr>
              <a:t>Diseño UX-UI 2026 · UTN Facultad Regional Mendoza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sesor de Estudio">
  <a:themeElements>
    <a:clrScheme name="Asesor de Estudio">
      <a:dk1>
        <a:srgbClr val="131B2E"/>
      </a:dk1>
      <a:lt1>
        <a:srgbClr val="FFFFFF"/>
      </a:lt1>
      <a:dk2>
        <a:srgbClr val="0037B0"/>
      </a:dk2>
      <a:lt2>
        <a:srgbClr val="F3F4F9"/>
      </a:lt2>
      <a:accent1>
        <a:srgbClr val="1D4ED8"/>
      </a:accent1>
      <a:accent2>
        <a:srgbClr val="006C49"/>
      </a:accent2>
      <a:accent3>
        <a:srgbClr val="825100"/>
      </a:accent3>
      <a:accent4>
        <a:srgbClr val="BA1A1A"/>
      </a:accent4>
      <a:accent5>
        <a:srgbClr val="6CF8BB"/>
      </a:accent5>
      <a:accent6>
        <a:srgbClr val="FFDDB8"/>
      </a:accent6>
      <a:hlink>
        <a:srgbClr val="1D4ED8"/>
      </a:hlink>
      <a:folHlink>
        <a:srgbClr val="4A5068"/>
      </a:folHlink>
    </a:clrScheme>
    <a:fontScheme name="Asesor de Estudio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78</Slides>
  <Notes>78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78</vt:i4>
      </vt:variant>
    </vt:vector>
  </HeadingPairs>
  <TitlesOfParts>
    <vt:vector size="8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</vt:vector>
  </TitlesOfParts>
  <Company>UTN Facultad Regional Mendoza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Asesor de Estudio — Proyecto final Diseño UX-UI 2026</dc:title>
  <dc:subject>Proyecto final de Diseño UX-UI</dc:subject>
  <dc:creator>Grupo C «Figma locos»</dc:creator>
  <cp:lastModifiedBy>Grupo C «Figma locos»</cp:lastModifiedBy>
  <cp:revision>1</cp:revision>
  <dcterms:created xsi:type="dcterms:W3CDTF">2026-10-15T15:29:34Z</dcterms:created>
  <dcterms:modified xsi:type="dcterms:W3CDTF">2026-10-15T15:29:34Z</dcterms:modified>
</cp:coreProperties>
</file>